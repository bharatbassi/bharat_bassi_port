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7D447"/>
          </a:solidFill>
          <a:ln/>
        </p:spPr>
      </p:sp>
      <p:sp>
        <p:nvSpPr>
          <p:cNvPr id="3" name="Shape 1"/>
          <p:cNvSpPr/>
          <p:nvPr/>
        </p:nvSpPr>
        <p:spPr>
          <a:xfrm>
            <a:off x="0" y="6748272"/>
            <a:ext cx="12161520" cy="109728"/>
          </a:xfrm>
          <a:prstGeom prst="rect">
            <a:avLst/>
          </a:prstGeom>
          <a:solidFill>
            <a:srgbClr val="F7D447"/>
          </a:solidFill>
          <a:ln/>
        </p:spPr>
      </p:sp>
      <p:sp>
        <p:nvSpPr>
          <p:cNvPr id="4" name="Shape 2"/>
          <p:cNvSpPr/>
          <p:nvPr/>
        </p:nvSpPr>
        <p:spPr>
          <a:xfrm>
            <a:off x="8412480" y="137160"/>
            <a:ext cx="3657600" cy="6583680"/>
          </a:xfrm>
          <a:prstGeom prst="rect">
            <a:avLst/>
          </a:prstGeom>
          <a:solidFill>
            <a:srgbClr val="1E293B"/>
          </a:solidFill>
          <a:ln/>
          <a:effectLst>
            <a:outerShdw sx="100000" sy="100000" kx="0" ky="0" algn="bl" rotWithShape="0" blurRad="76200" dist="25400" dir="8100000">
              <a:srgbClr val="000000">
                <a:alpha val="14000"/>
              </a:srgbClr>
            </a:outerShdw>
          </a:effectLst>
        </p:spPr>
      </p:sp>
      <p:sp>
        <p:nvSpPr>
          <p:cNvPr id="5" name="Shape 3"/>
          <p:cNvSpPr/>
          <p:nvPr/>
        </p:nvSpPr>
        <p:spPr>
          <a:xfrm>
            <a:off x="8412480" y="137160"/>
            <a:ext cx="64008" cy="6583680"/>
          </a:xfrm>
          <a:prstGeom prst="rect">
            <a:avLst/>
          </a:prstGeom>
          <a:solidFill>
            <a:srgbClr val="F7D447"/>
          </a:solidFill>
          <a:ln/>
        </p:spPr>
      </p:sp>
      <p:sp>
        <p:nvSpPr>
          <p:cNvPr id="6" name="Text 4"/>
          <p:cNvSpPr/>
          <p:nvPr/>
        </p:nvSpPr>
        <p:spPr>
          <a:xfrm>
            <a:off x="8503920" y="914400"/>
            <a:ext cx="3474720" cy="1371600"/>
          </a:xfrm>
          <a:prstGeom prst="rect">
            <a:avLst/>
          </a:prstGeom>
          <a:noFill/>
          <a:ln/>
        </p:spPr>
        <p:txBody>
          <a:bodyPr wrap="square" rtlCol="0" anchor="ctr"/>
          <a:lstStyle/>
          <a:p>
            <a:pPr algn="ctr" indent="0" marL="0">
              <a:buNone/>
            </a:pPr>
            <a:r>
              <a:rPr lang="en-US" sz="7200" b="1" dirty="0">
                <a:solidFill>
                  <a:srgbClr val="F7D447"/>
                </a:solidFill>
                <a:latin typeface="Arial Black" pitchFamily="34" charset="0"/>
                <a:ea typeface="Arial Black" pitchFamily="34" charset="-122"/>
                <a:cs typeface="Arial Black" pitchFamily="34" charset="-120"/>
              </a:rPr>
              <a:t>DAZN</a:t>
            </a:r>
            <a:endParaRPr lang="en-US" sz="7200" dirty="0"/>
          </a:p>
        </p:txBody>
      </p:sp>
      <p:sp>
        <p:nvSpPr>
          <p:cNvPr id="7" name="Text 5"/>
          <p:cNvSpPr/>
          <p:nvPr/>
        </p:nvSpPr>
        <p:spPr>
          <a:xfrm>
            <a:off x="8503920" y="2148840"/>
            <a:ext cx="3474720" cy="457200"/>
          </a:xfrm>
          <a:prstGeom prst="rect">
            <a:avLst/>
          </a:prstGeom>
          <a:noFill/>
          <a:ln/>
        </p:spPr>
        <p:txBody>
          <a:bodyPr wrap="square" rtlCol="0" anchor="ctr"/>
          <a:lstStyle/>
          <a:p>
            <a:pPr algn="ctr" indent="0" marL="0">
              <a:buNone/>
            </a:pPr>
            <a:r>
              <a:rPr lang="en-US" sz="2000" b="1" spc="1000" kern="0" dirty="0">
                <a:solidFill>
                  <a:srgbClr val="FFFFFF"/>
                </a:solidFill>
                <a:latin typeface="Calibri" pitchFamily="34" charset="0"/>
                <a:ea typeface="Calibri" pitchFamily="34" charset="-122"/>
                <a:cs typeface="Calibri" pitchFamily="34" charset="-120"/>
              </a:rPr>
              <a:t>INDIA</a:t>
            </a:r>
            <a:endParaRPr lang="en-US" sz="2000" dirty="0"/>
          </a:p>
        </p:txBody>
      </p:sp>
      <p:sp>
        <p:nvSpPr>
          <p:cNvPr id="8" name="Shape 6"/>
          <p:cNvSpPr/>
          <p:nvPr/>
        </p:nvSpPr>
        <p:spPr>
          <a:xfrm>
            <a:off x="8778240" y="2724912"/>
            <a:ext cx="2926080" cy="36576"/>
          </a:xfrm>
          <a:prstGeom prst="rect">
            <a:avLst/>
          </a:prstGeom>
          <a:solidFill>
            <a:srgbClr val="F7D447"/>
          </a:solidFill>
          <a:ln/>
        </p:spPr>
      </p:sp>
      <p:sp>
        <p:nvSpPr>
          <p:cNvPr id="9" name="Text 7"/>
          <p:cNvSpPr/>
          <p:nvPr/>
        </p:nvSpPr>
        <p:spPr>
          <a:xfrm>
            <a:off x="8503920" y="2834640"/>
            <a:ext cx="3474720" cy="365760"/>
          </a:xfrm>
          <a:prstGeom prst="rect">
            <a:avLst/>
          </a:prstGeom>
          <a:noFill/>
          <a:ln/>
        </p:spPr>
        <p:txBody>
          <a:bodyPr wrap="square" rtlCol="0" anchor="ctr"/>
          <a:lstStyle/>
          <a:p>
            <a:pPr algn="ctr" indent="0" marL="0">
              <a:buNone/>
            </a:pPr>
            <a:r>
              <a:rPr lang="en-US" sz="1000" spc="300" kern="0" dirty="0">
                <a:solidFill>
                  <a:srgbClr val="94A3B8"/>
                </a:solidFill>
                <a:latin typeface="Calibri" pitchFamily="34" charset="0"/>
                <a:ea typeface="Calibri" pitchFamily="34" charset="-122"/>
                <a:cs typeface="Calibri" pitchFamily="34" charset="-120"/>
              </a:rPr>
              <a:t>MANAGEMENT REPORT</a:t>
            </a:r>
            <a:endParaRPr lang="en-US" sz="1000" dirty="0"/>
          </a:p>
        </p:txBody>
      </p:sp>
      <p:sp>
        <p:nvSpPr>
          <p:cNvPr id="10" name="Text 8"/>
          <p:cNvSpPr/>
          <p:nvPr/>
        </p:nvSpPr>
        <p:spPr>
          <a:xfrm>
            <a:off x="8503920" y="3383280"/>
            <a:ext cx="3474720" cy="292608"/>
          </a:xfrm>
          <a:prstGeom prst="rect">
            <a:avLst/>
          </a:prstGeom>
          <a:noFill/>
          <a:ln/>
        </p:spPr>
        <p:txBody>
          <a:bodyPr wrap="square" rtlCol="0" anchor="ctr"/>
          <a:lstStyle/>
          <a:p>
            <a:pPr algn="ctr" indent="0" marL="0">
              <a:buNone/>
            </a:pPr>
            <a:r>
              <a:rPr lang="en-US" sz="800" b="1" spc="200" kern="0" dirty="0">
                <a:solidFill>
                  <a:srgbClr val="F7D447"/>
                </a:solidFill>
                <a:latin typeface="Calibri" pitchFamily="34" charset="0"/>
                <a:ea typeface="Calibri" pitchFamily="34" charset="-122"/>
                <a:cs typeface="Calibri" pitchFamily="34" charset="-120"/>
              </a:rPr>
              <a:t>DATA SOURCES</a:t>
            </a:r>
            <a:endParaRPr lang="en-US" sz="800" dirty="0"/>
          </a:p>
        </p:txBody>
      </p:sp>
      <p:sp>
        <p:nvSpPr>
          <p:cNvPr id="11" name="Text 9"/>
          <p:cNvSpPr/>
          <p:nvPr/>
        </p:nvSpPr>
        <p:spPr>
          <a:xfrm>
            <a:off x="8549640" y="3730752"/>
            <a:ext cx="338328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Instagram (verified handles)</a:t>
            </a:r>
            <a:endParaRPr lang="en-US" sz="850" dirty="0"/>
          </a:p>
        </p:txBody>
      </p:sp>
      <p:sp>
        <p:nvSpPr>
          <p:cNvPr id="12" name="Text 10"/>
          <p:cNvSpPr/>
          <p:nvPr/>
        </p:nvSpPr>
        <p:spPr>
          <a:xfrm>
            <a:off x="8549640" y="4096512"/>
            <a:ext cx="338328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Twitter/X public metrics</a:t>
            </a:r>
            <a:endParaRPr lang="en-US" sz="850" dirty="0"/>
          </a:p>
        </p:txBody>
      </p:sp>
      <p:sp>
        <p:nvSpPr>
          <p:cNvPr id="13" name="Text 11"/>
          <p:cNvSpPr/>
          <p:nvPr/>
        </p:nvSpPr>
        <p:spPr>
          <a:xfrm>
            <a:off x="8549640" y="4462272"/>
            <a:ext cx="338328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Trustpilot / App Store</a:t>
            </a:r>
            <a:endParaRPr lang="en-US" sz="850" dirty="0"/>
          </a:p>
        </p:txBody>
      </p:sp>
      <p:sp>
        <p:nvSpPr>
          <p:cNvPr id="14" name="Text 12"/>
          <p:cNvSpPr/>
          <p:nvPr/>
        </p:nvSpPr>
        <p:spPr>
          <a:xfrm>
            <a:off x="8549640" y="4828032"/>
            <a:ext cx="338328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RedSeer &amp; Ormax Media</a:t>
            </a:r>
            <a:endParaRPr lang="en-US" sz="850" dirty="0"/>
          </a:p>
        </p:txBody>
      </p:sp>
      <p:sp>
        <p:nvSpPr>
          <p:cNvPr id="15" name="Text 13"/>
          <p:cNvSpPr/>
          <p:nvPr/>
        </p:nvSpPr>
        <p:spPr>
          <a:xfrm>
            <a:off x="8549640" y="5193792"/>
            <a:ext cx="338328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Analysys Mason NPS Study</a:t>
            </a:r>
            <a:endParaRPr lang="en-US" sz="850" dirty="0"/>
          </a:p>
        </p:txBody>
      </p:sp>
      <p:sp>
        <p:nvSpPr>
          <p:cNvPr id="16" name="Text 14"/>
          <p:cNvSpPr/>
          <p:nvPr/>
        </p:nvSpPr>
        <p:spPr>
          <a:xfrm>
            <a:off x="8549640" y="5559552"/>
            <a:ext cx="3383280"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Social Champ / Sprout Social</a:t>
            </a:r>
            <a:endParaRPr lang="en-US" sz="850" dirty="0"/>
          </a:p>
        </p:txBody>
      </p:sp>
      <p:sp>
        <p:nvSpPr>
          <p:cNvPr id="17" name="Text 15"/>
          <p:cNvSpPr/>
          <p:nvPr/>
        </p:nvSpPr>
        <p:spPr>
          <a:xfrm>
            <a:off x="457200" y="822960"/>
            <a:ext cx="7680960" cy="1920240"/>
          </a:xfrm>
          <a:prstGeom prst="rect">
            <a:avLst/>
          </a:prstGeom>
          <a:noFill/>
          <a:ln/>
        </p:spPr>
        <p:txBody>
          <a:bodyPr wrap="square"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SOCIAL LISTENING &amp;</a:t>
            </a:r>
            <a:endParaRPr lang="en-US" sz="3800" dirty="0"/>
          </a:p>
          <a:p>
            <a:pPr algn="l" indent="0" marL="0">
              <a:buNone/>
            </a:pPr>
            <a:r>
              <a:rPr lang="en-US" sz="3800" b="1" dirty="0">
                <a:solidFill>
                  <a:srgbClr val="FFFFFF"/>
                </a:solidFill>
                <a:latin typeface="Arial Black" pitchFamily="34" charset="0"/>
                <a:ea typeface="Arial Black" pitchFamily="34" charset="-122"/>
                <a:cs typeface="Arial Black" pitchFamily="34" charset="-120"/>
              </a:rPr>
              <a:t>BRAND REPUTATION REPORT</a:t>
            </a:r>
            <a:endParaRPr lang="en-US" sz="3800" dirty="0"/>
          </a:p>
        </p:txBody>
      </p:sp>
      <p:sp>
        <p:nvSpPr>
          <p:cNvPr id="18" name="Shape 16"/>
          <p:cNvSpPr/>
          <p:nvPr/>
        </p:nvSpPr>
        <p:spPr>
          <a:xfrm>
            <a:off x="457200" y="2788920"/>
            <a:ext cx="1371600" cy="64008"/>
          </a:xfrm>
          <a:prstGeom prst="rect">
            <a:avLst/>
          </a:prstGeom>
          <a:solidFill>
            <a:srgbClr val="F7D447"/>
          </a:solidFill>
          <a:ln/>
        </p:spPr>
      </p:sp>
      <p:sp>
        <p:nvSpPr>
          <p:cNvPr id="19" name="Text 17"/>
          <p:cNvSpPr/>
          <p:nvPr/>
        </p:nvSpPr>
        <p:spPr>
          <a:xfrm>
            <a:off x="457200" y="2926080"/>
            <a:ext cx="7680960" cy="685800"/>
          </a:xfrm>
          <a:prstGeom prst="rect">
            <a:avLst/>
          </a:prstGeom>
          <a:noFill/>
          <a:ln/>
        </p:spPr>
        <p:txBody>
          <a:bodyPr wrap="square"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Voice of Customer Analysis  •  Competitive Social Presence  •  NPS &amp; NSS Benchmarks</a:t>
            </a:r>
            <a:endParaRPr lang="en-US" sz="1300" dirty="0"/>
          </a:p>
          <a:p>
            <a:pPr algn="l" indent="0" marL="0">
              <a:buNone/>
            </a:pPr>
            <a:r>
              <a:rPr lang="en-US" sz="1300" dirty="0">
                <a:solidFill>
                  <a:srgbClr val="94A3B8"/>
                </a:solidFill>
                <a:latin typeface="Calibri" pitchFamily="34" charset="0"/>
                <a:ea typeface="Calibri" pitchFamily="34" charset="-122"/>
                <a:cs typeface="Calibri" pitchFamily="34" charset="-120"/>
              </a:rPr>
              <a:t>Brand Reputation Gaps  •  Actionable Recommendations</a:t>
            </a:r>
            <a:endParaRPr lang="en-US" sz="1300" dirty="0"/>
          </a:p>
        </p:txBody>
      </p:sp>
      <p:sp>
        <p:nvSpPr>
          <p:cNvPr id="20" name="Text 18"/>
          <p:cNvSpPr/>
          <p:nvPr/>
        </p:nvSpPr>
        <p:spPr>
          <a:xfrm>
            <a:off x="457200" y="3749040"/>
            <a:ext cx="7315200" cy="5029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Prepared for: DAZN India Leadership Team</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Date: May 2025  •  Research Period: Jan 2024 – Apr 2025</a:t>
            </a:r>
            <a:endParaRPr lang="en-US" sz="1100" dirty="0"/>
          </a:p>
        </p:txBody>
      </p:sp>
      <p:sp>
        <p:nvSpPr>
          <p:cNvPr id="21" name="Shape 19"/>
          <p:cNvSpPr/>
          <p:nvPr/>
        </p:nvSpPr>
        <p:spPr>
          <a:xfrm>
            <a:off x="457200" y="4480560"/>
            <a:ext cx="1170432" cy="438912"/>
          </a:xfrm>
          <a:prstGeom prst="roundRect">
            <a:avLst>
              <a:gd name="adj" fmla="val 12500"/>
            </a:avLst>
          </a:prstGeom>
          <a:solidFill>
            <a:srgbClr val="1F80E0"/>
          </a:solidFill>
          <a:ln/>
        </p:spPr>
      </p:sp>
      <p:sp>
        <p:nvSpPr>
          <p:cNvPr id="22" name="Text 20"/>
          <p:cNvSpPr/>
          <p:nvPr/>
        </p:nvSpPr>
        <p:spPr>
          <a:xfrm>
            <a:off x="457200" y="4498848"/>
            <a:ext cx="1170432" cy="40233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JioHotstar</a:t>
            </a:r>
            <a:endParaRPr lang="en-US" sz="850" dirty="0"/>
          </a:p>
        </p:txBody>
      </p:sp>
      <p:sp>
        <p:nvSpPr>
          <p:cNvPr id="23" name="Shape 21"/>
          <p:cNvSpPr/>
          <p:nvPr/>
        </p:nvSpPr>
        <p:spPr>
          <a:xfrm>
            <a:off x="1719072" y="4480560"/>
            <a:ext cx="1170432" cy="438912"/>
          </a:xfrm>
          <a:prstGeom prst="roundRect">
            <a:avLst>
              <a:gd name="adj" fmla="val 12500"/>
            </a:avLst>
          </a:prstGeom>
          <a:solidFill>
            <a:srgbClr val="E50914"/>
          </a:solidFill>
          <a:ln/>
        </p:spPr>
      </p:sp>
      <p:sp>
        <p:nvSpPr>
          <p:cNvPr id="24" name="Text 22"/>
          <p:cNvSpPr/>
          <p:nvPr/>
        </p:nvSpPr>
        <p:spPr>
          <a:xfrm>
            <a:off x="1719072" y="4498848"/>
            <a:ext cx="1170432" cy="40233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Netflix</a:t>
            </a:r>
            <a:endParaRPr lang="en-US" sz="850" dirty="0"/>
          </a:p>
        </p:txBody>
      </p:sp>
      <p:sp>
        <p:nvSpPr>
          <p:cNvPr id="25" name="Shape 23"/>
          <p:cNvSpPr/>
          <p:nvPr/>
        </p:nvSpPr>
        <p:spPr>
          <a:xfrm>
            <a:off x="2980944" y="4480560"/>
            <a:ext cx="1170432" cy="438912"/>
          </a:xfrm>
          <a:prstGeom prst="roundRect">
            <a:avLst>
              <a:gd name="adj" fmla="val 12500"/>
            </a:avLst>
          </a:prstGeom>
          <a:solidFill>
            <a:srgbClr val="00A8E1"/>
          </a:solidFill>
          <a:ln/>
        </p:spPr>
      </p:sp>
      <p:sp>
        <p:nvSpPr>
          <p:cNvPr id="26" name="Text 24"/>
          <p:cNvSpPr/>
          <p:nvPr/>
        </p:nvSpPr>
        <p:spPr>
          <a:xfrm>
            <a:off x="2980944" y="4498848"/>
            <a:ext cx="1170432" cy="40233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Amazon Prime</a:t>
            </a:r>
            <a:endParaRPr lang="en-US" sz="850" dirty="0"/>
          </a:p>
        </p:txBody>
      </p:sp>
      <p:sp>
        <p:nvSpPr>
          <p:cNvPr id="27" name="Shape 25"/>
          <p:cNvSpPr/>
          <p:nvPr/>
        </p:nvSpPr>
        <p:spPr>
          <a:xfrm>
            <a:off x="4242816" y="4480560"/>
            <a:ext cx="1170432" cy="438912"/>
          </a:xfrm>
          <a:prstGeom prst="roundRect">
            <a:avLst>
              <a:gd name="adj" fmla="val 12500"/>
            </a:avLst>
          </a:prstGeom>
          <a:solidFill>
            <a:srgbClr val="D4A800"/>
          </a:solidFill>
          <a:ln/>
        </p:spPr>
      </p:sp>
      <p:sp>
        <p:nvSpPr>
          <p:cNvPr id="28" name="Text 26"/>
          <p:cNvSpPr/>
          <p:nvPr/>
        </p:nvSpPr>
        <p:spPr>
          <a:xfrm>
            <a:off x="4242816" y="4498848"/>
            <a:ext cx="1170432" cy="402336"/>
          </a:xfrm>
          <a:prstGeom prst="rect">
            <a:avLst/>
          </a:prstGeom>
          <a:noFill/>
          <a:ln/>
        </p:spPr>
        <p:txBody>
          <a:bodyPr wrap="square" rtlCol="0" anchor="ctr"/>
          <a:lstStyle/>
          <a:p>
            <a:pPr algn="ctr" indent="0" marL="0">
              <a:buNone/>
            </a:pPr>
            <a:r>
              <a:rPr lang="en-US" sz="850" b="1" dirty="0">
                <a:solidFill>
                  <a:srgbClr val="0F172A"/>
                </a:solidFill>
                <a:latin typeface="Calibri" pitchFamily="34" charset="0"/>
                <a:ea typeface="Calibri" pitchFamily="34" charset="-122"/>
                <a:cs typeface="Calibri" pitchFamily="34" charset="-120"/>
              </a:rPr>
              <a:t>DAZN</a:t>
            </a:r>
            <a:endParaRPr lang="en-US" sz="850" dirty="0"/>
          </a:p>
        </p:txBody>
      </p:sp>
      <p:sp>
        <p:nvSpPr>
          <p:cNvPr id="29" name="Shape 27"/>
          <p:cNvSpPr/>
          <p:nvPr/>
        </p:nvSpPr>
        <p:spPr>
          <a:xfrm>
            <a:off x="5504688" y="4480560"/>
            <a:ext cx="1170432" cy="438912"/>
          </a:xfrm>
          <a:prstGeom prst="roundRect">
            <a:avLst>
              <a:gd name="adj" fmla="val 12500"/>
            </a:avLst>
          </a:prstGeom>
          <a:solidFill>
            <a:srgbClr val="7C3AED"/>
          </a:solidFill>
          <a:ln/>
        </p:spPr>
      </p:sp>
      <p:sp>
        <p:nvSpPr>
          <p:cNvPr id="30" name="Text 28"/>
          <p:cNvSpPr/>
          <p:nvPr/>
        </p:nvSpPr>
        <p:spPr>
          <a:xfrm>
            <a:off x="5504688" y="4498848"/>
            <a:ext cx="1170432" cy="40233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ZEE5</a:t>
            </a:r>
            <a:endParaRPr lang="en-US" sz="850" dirty="0"/>
          </a:p>
        </p:txBody>
      </p:sp>
      <p:sp>
        <p:nvSpPr>
          <p:cNvPr id="31" name="Shape 29"/>
          <p:cNvSpPr/>
          <p:nvPr/>
        </p:nvSpPr>
        <p:spPr>
          <a:xfrm>
            <a:off x="6766560" y="4480560"/>
            <a:ext cx="1170432" cy="438912"/>
          </a:xfrm>
          <a:prstGeom prst="roundRect">
            <a:avLst>
              <a:gd name="adj" fmla="val 12500"/>
            </a:avLst>
          </a:prstGeom>
          <a:solidFill>
            <a:srgbClr val="DC2626"/>
          </a:solidFill>
          <a:ln/>
        </p:spPr>
      </p:sp>
      <p:sp>
        <p:nvSpPr>
          <p:cNvPr id="32" name="Text 30"/>
          <p:cNvSpPr/>
          <p:nvPr/>
        </p:nvSpPr>
        <p:spPr>
          <a:xfrm>
            <a:off x="6766560" y="4498848"/>
            <a:ext cx="1170432" cy="402336"/>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SonyLIV</a:t>
            </a:r>
            <a:endParaRPr lang="en-US" sz="850" dirty="0"/>
          </a:p>
        </p:txBody>
      </p:sp>
      <p:sp>
        <p:nvSpPr>
          <p:cNvPr id="33" name="Text 31"/>
          <p:cNvSpPr/>
          <p:nvPr/>
        </p:nvSpPr>
        <p:spPr>
          <a:xfrm>
            <a:off x="457200" y="5166360"/>
            <a:ext cx="7680960" cy="640080"/>
          </a:xfrm>
          <a:prstGeom prst="rect">
            <a:avLst/>
          </a:prstGeom>
          <a:noFill/>
          <a:ln/>
        </p:spPr>
        <p:txBody>
          <a:bodyPr wrap="square" rtlCol="0" anchor="ctr"/>
          <a:lstStyle/>
          <a:p>
            <a:pPr indent="0" marL="0">
              <a:buNone/>
            </a:pPr>
            <a:r>
              <a:rPr lang="en-US" sz="800" i="1" dirty="0">
                <a:solidFill>
                  <a:srgbClr val="475569"/>
                </a:solidFill>
                <a:latin typeface="Calibri" pitchFamily="34" charset="0"/>
                <a:ea typeface="Calibri" pitchFamily="34" charset="-122"/>
                <a:cs typeface="Calibri" pitchFamily="34" charset="-120"/>
              </a:rPr>
              <a:t>⚠️  NOTE ON DATA: Follower counts are from verified official platform accounts (direct Instagram/Twitter scrape, May 2025). NPS figures sourced from RedSeer (2021), Analysys Mason (2024), and industry proxy benchmarks. Social sentiment is estimated from public social listening patterns. All competitor metrics are point-in-time public data.</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804672"/>
          </a:xfrm>
          <a:prstGeom prst="rect">
            <a:avLst/>
          </a:prstGeom>
          <a:solidFill>
            <a:srgbClr val="0F172A"/>
          </a:solidFill>
          <a:ln/>
        </p:spPr>
      </p:sp>
      <p:sp>
        <p:nvSpPr>
          <p:cNvPr id="3" name="Shape 1"/>
          <p:cNvSpPr/>
          <p:nvPr/>
        </p:nvSpPr>
        <p:spPr>
          <a:xfrm>
            <a:off x="0" y="786384"/>
            <a:ext cx="12161520" cy="64008"/>
          </a:xfrm>
          <a:prstGeom prst="rect">
            <a:avLst/>
          </a:prstGeom>
          <a:solidFill>
            <a:srgbClr val="F7D447"/>
          </a:solidFill>
          <a:ln/>
        </p:spPr>
      </p:sp>
      <p:sp>
        <p:nvSpPr>
          <p:cNvPr id="4" name="Text 2"/>
          <p:cNvSpPr/>
          <p:nvPr/>
        </p:nvSpPr>
        <p:spPr>
          <a:xfrm>
            <a:off x="365760" y="54864"/>
            <a:ext cx="8961120" cy="475488"/>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Research Methodology &amp; Data Sources</a:t>
            </a:r>
            <a:endParaRPr lang="en-US" sz="2000" dirty="0"/>
          </a:p>
        </p:txBody>
      </p:sp>
      <p:sp>
        <p:nvSpPr>
          <p:cNvPr id="5" name="Text 3"/>
          <p:cNvSpPr/>
          <p:nvPr/>
        </p:nvSpPr>
        <p:spPr>
          <a:xfrm>
            <a:off x="365760" y="530352"/>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How this report was built — transparency for management</a:t>
            </a:r>
            <a:endParaRPr lang="en-US" sz="950" dirty="0"/>
          </a:p>
        </p:txBody>
      </p:sp>
      <p:sp>
        <p:nvSpPr>
          <p:cNvPr id="6" name="Text 4"/>
          <p:cNvSpPr/>
          <p:nvPr/>
        </p:nvSpPr>
        <p:spPr>
          <a:xfrm>
            <a:off x="9601200" y="228600"/>
            <a:ext cx="2377440" cy="320040"/>
          </a:xfrm>
          <a:prstGeom prst="rect">
            <a:avLst/>
          </a:prstGeom>
          <a:noFill/>
          <a:ln/>
        </p:spPr>
        <p:txBody>
          <a:bodyPr wrap="square" rtlCol="0" anchor="ctr"/>
          <a:lstStyle/>
          <a:p>
            <a:pPr algn="r" indent="0" marL="0">
              <a:buNone/>
            </a:pPr>
            <a:r>
              <a:rPr lang="en-US" sz="850" b="1" dirty="0">
                <a:solidFill>
                  <a:srgbClr val="F7D447"/>
                </a:solidFill>
                <a:latin typeface="Calibri" pitchFamily="34" charset="0"/>
                <a:ea typeface="Calibri" pitchFamily="34" charset="-122"/>
                <a:cs typeface="Calibri" pitchFamily="34" charset="-120"/>
              </a:rPr>
              <a:t>DAZN India  •  Social Listening Report 2025  •  Slide 2</a:t>
            </a:r>
            <a:endParaRPr lang="en-US" sz="850" dirty="0"/>
          </a:p>
        </p:txBody>
      </p:sp>
      <p:sp>
        <p:nvSpPr>
          <p:cNvPr id="7" name="Shape 5"/>
          <p:cNvSpPr/>
          <p:nvPr/>
        </p:nvSpPr>
        <p:spPr>
          <a:xfrm>
            <a:off x="0" y="6675120"/>
            <a:ext cx="12161520" cy="182880"/>
          </a:xfrm>
          <a:prstGeom prst="rect">
            <a:avLst/>
          </a:prstGeom>
          <a:solidFill>
            <a:srgbClr val="0F172A"/>
          </a:solidFill>
          <a:ln/>
        </p:spPr>
      </p:sp>
      <p:sp>
        <p:nvSpPr>
          <p:cNvPr id="8" name="Text 6"/>
          <p:cNvSpPr/>
          <p:nvPr/>
        </p:nvSpPr>
        <p:spPr>
          <a:xfrm>
            <a:off x="274320" y="6684264"/>
            <a:ext cx="11612880" cy="15544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Confidential — For Internal Management Use Only</a:t>
            </a:r>
            <a:endParaRPr lang="en-US" sz="750" dirty="0"/>
          </a:p>
        </p:txBody>
      </p:sp>
      <p:sp>
        <p:nvSpPr>
          <p:cNvPr id="9" name="Shape 7"/>
          <p:cNvSpPr/>
          <p:nvPr/>
        </p:nvSpPr>
        <p:spPr>
          <a:xfrm>
            <a:off x="274320" y="960120"/>
            <a:ext cx="11612880" cy="5577840"/>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10" name="Shape 8"/>
          <p:cNvSpPr/>
          <p:nvPr/>
        </p:nvSpPr>
        <p:spPr>
          <a:xfrm>
            <a:off x="274320" y="960120"/>
            <a:ext cx="11612880" cy="54864"/>
          </a:xfrm>
          <a:prstGeom prst="rect">
            <a:avLst/>
          </a:prstGeom>
          <a:solidFill>
            <a:srgbClr val="F7D447"/>
          </a:solidFill>
          <a:ln/>
        </p:spPr>
      </p:sp>
      <p:sp>
        <p:nvSpPr>
          <p:cNvPr id="11" name="Text 9"/>
          <p:cNvSpPr/>
          <p:nvPr/>
        </p:nvSpPr>
        <p:spPr>
          <a:xfrm>
            <a:off x="457200" y="1078992"/>
            <a:ext cx="11247120" cy="347472"/>
          </a:xfrm>
          <a:prstGeom prst="rect">
            <a:avLst/>
          </a:prstGeom>
          <a:noFill/>
          <a:ln/>
        </p:spPr>
        <p:txBody>
          <a:bodyPr wrap="square" rtlCol="0" anchor="ctr"/>
          <a:lstStyle/>
          <a:p>
            <a:pPr indent="0" marL="0">
              <a:buNone/>
            </a:pPr>
            <a:r>
              <a:rPr lang="en-US" sz="1300" b="1" dirty="0">
                <a:solidFill>
                  <a:srgbClr val="0F172A"/>
                </a:solidFill>
                <a:latin typeface="Arial Black" pitchFamily="34" charset="0"/>
                <a:ea typeface="Arial Black" pitchFamily="34" charset="-122"/>
                <a:cs typeface="Arial Black" pitchFamily="34" charset="-120"/>
              </a:rPr>
              <a:t>DATA COLLECTION FRAMEWORK</a:t>
            </a:r>
            <a:endParaRPr lang="en-US" sz="1300" dirty="0"/>
          </a:p>
        </p:txBody>
      </p:sp>
      <p:sp>
        <p:nvSpPr>
          <p:cNvPr id="12" name="Shape 10"/>
          <p:cNvSpPr/>
          <p:nvPr/>
        </p:nvSpPr>
        <p:spPr>
          <a:xfrm>
            <a:off x="365760" y="1554480"/>
            <a:ext cx="640080" cy="292608"/>
          </a:xfrm>
          <a:prstGeom prst="rect">
            <a:avLst/>
          </a:prstGeom>
          <a:solidFill>
            <a:srgbClr val="0F172A"/>
          </a:solidFill>
          <a:ln/>
        </p:spPr>
      </p:sp>
      <p:sp>
        <p:nvSpPr>
          <p:cNvPr id="13" name="Text 11"/>
          <p:cNvSpPr/>
          <p:nvPr/>
        </p:nvSpPr>
        <p:spPr>
          <a:xfrm>
            <a:off x="411480" y="1554480"/>
            <a:ext cx="640080" cy="292608"/>
          </a:xfrm>
          <a:prstGeom prst="rect">
            <a:avLst/>
          </a:prstGeom>
          <a:noFill/>
          <a:ln/>
        </p:spPr>
        <p:txBody>
          <a:bodyPr wrap="square" rtlCol="0" anchor="ctr"/>
          <a:lstStyle/>
          <a:p>
            <a:pPr indent="0" marL="0">
              <a:buNone/>
            </a:pPr>
            <a:r>
              <a:rPr lang="en-US" sz="850" b="1" dirty="0">
                <a:solidFill>
                  <a:srgbClr val="F7D447"/>
                </a:solidFill>
                <a:latin typeface="Calibri" pitchFamily="34" charset="0"/>
                <a:ea typeface="Calibri" pitchFamily="34" charset="-122"/>
                <a:cs typeface="Calibri" pitchFamily="34" charset="-120"/>
              </a:rPr>
              <a:t>Source</a:t>
            </a:r>
            <a:endParaRPr lang="en-US" sz="850" dirty="0"/>
          </a:p>
        </p:txBody>
      </p:sp>
      <p:sp>
        <p:nvSpPr>
          <p:cNvPr id="14" name="Shape 12"/>
          <p:cNvSpPr/>
          <p:nvPr/>
        </p:nvSpPr>
        <p:spPr>
          <a:xfrm>
            <a:off x="749808" y="1554480"/>
            <a:ext cx="2011680" cy="292608"/>
          </a:xfrm>
          <a:prstGeom prst="rect">
            <a:avLst/>
          </a:prstGeom>
          <a:solidFill>
            <a:srgbClr val="0F172A"/>
          </a:solidFill>
          <a:ln/>
        </p:spPr>
      </p:sp>
      <p:sp>
        <p:nvSpPr>
          <p:cNvPr id="15" name="Text 13"/>
          <p:cNvSpPr/>
          <p:nvPr/>
        </p:nvSpPr>
        <p:spPr>
          <a:xfrm>
            <a:off x="795528" y="1554480"/>
            <a:ext cx="2011680" cy="292608"/>
          </a:xfrm>
          <a:prstGeom prst="rect">
            <a:avLst/>
          </a:prstGeom>
          <a:noFill/>
          <a:ln/>
        </p:spPr>
        <p:txBody>
          <a:bodyPr wrap="square" rtlCol="0" anchor="ctr"/>
          <a:lstStyle/>
          <a:p>
            <a:pPr indent="0" marL="0">
              <a:buNone/>
            </a:pPr>
            <a:r>
              <a:rPr lang="en-US" sz="850" b="1" dirty="0">
                <a:solidFill>
                  <a:srgbClr val="F7D447"/>
                </a:solidFill>
                <a:latin typeface="Calibri" pitchFamily="34" charset="0"/>
                <a:ea typeface="Calibri" pitchFamily="34" charset="-122"/>
                <a:cs typeface="Calibri" pitchFamily="34" charset="-120"/>
              </a:rPr>
              <a:t>Platform / Tool</a:t>
            </a:r>
            <a:endParaRPr lang="en-US" sz="850" dirty="0"/>
          </a:p>
        </p:txBody>
      </p:sp>
      <p:sp>
        <p:nvSpPr>
          <p:cNvPr id="16" name="Shape 14"/>
          <p:cNvSpPr/>
          <p:nvPr/>
        </p:nvSpPr>
        <p:spPr>
          <a:xfrm>
            <a:off x="2578608" y="1554480"/>
            <a:ext cx="4389120" cy="292608"/>
          </a:xfrm>
          <a:prstGeom prst="rect">
            <a:avLst/>
          </a:prstGeom>
          <a:solidFill>
            <a:srgbClr val="0F172A"/>
          </a:solidFill>
          <a:ln/>
        </p:spPr>
      </p:sp>
      <p:sp>
        <p:nvSpPr>
          <p:cNvPr id="17" name="Text 15"/>
          <p:cNvSpPr/>
          <p:nvPr/>
        </p:nvSpPr>
        <p:spPr>
          <a:xfrm>
            <a:off x="2624328" y="1554480"/>
            <a:ext cx="4389120" cy="292608"/>
          </a:xfrm>
          <a:prstGeom prst="rect">
            <a:avLst/>
          </a:prstGeom>
          <a:noFill/>
          <a:ln/>
        </p:spPr>
        <p:txBody>
          <a:bodyPr wrap="square" rtlCol="0" anchor="ctr"/>
          <a:lstStyle/>
          <a:p>
            <a:pPr indent="0" marL="0">
              <a:buNone/>
            </a:pPr>
            <a:r>
              <a:rPr lang="en-US" sz="850" b="1" dirty="0">
                <a:solidFill>
                  <a:srgbClr val="F7D447"/>
                </a:solidFill>
                <a:latin typeface="Calibri" pitchFamily="34" charset="0"/>
                <a:ea typeface="Calibri" pitchFamily="34" charset="-122"/>
                <a:cs typeface="Calibri" pitchFamily="34" charset="-120"/>
              </a:rPr>
              <a:t>How Data Was Gathered</a:t>
            </a:r>
            <a:endParaRPr lang="en-US" sz="850" dirty="0"/>
          </a:p>
        </p:txBody>
      </p:sp>
      <p:sp>
        <p:nvSpPr>
          <p:cNvPr id="18" name="Shape 16"/>
          <p:cNvSpPr/>
          <p:nvPr/>
        </p:nvSpPr>
        <p:spPr>
          <a:xfrm>
            <a:off x="7132320" y="1554480"/>
            <a:ext cx="2926080" cy="292608"/>
          </a:xfrm>
          <a:prstGeom prst="rect">
            <a:avLst/>
          </a:prstGeom>
          <a:solidFill>
            <a:srgbClr val="0F172A"/>
          </a:solidFill>
          <a:ln/>
        </p:spPr>
      </p:sp>
      <p:sp>
        <p:nvSpPr>
          <p:cNvPr id="19" name="Text 17"/>
          <p:cNvSpPr/>
          <p:nvPr/>
        </p:nvSpPr>
        <p:spPr>
          <a:xfrm>
            <a:off x="7178040" y="1554480"/>
            <a:ext cx="2926080" cy="292608"/>
          </a:xfrm>
          <a:prstGeom prst="rect">
            <a:avLst/>
          </a:prstGeom>
          <a:noFill/>
          <a:ln/>
        </p:spPr>
        <p:txBody>
          <a:bodyPr wrap="square" rtlCol="0" anchor="ctr"/>
          <a:lstStyle/>
          <a:p>
            <a:pPr indent="0" marL="0">
              <a:buNone/>
            </a:pPr>
            <a:r>
              <a:rPr lang="en-US" sz="850" b="1" dirty="0">
                <a:solidFill>
                  <a:srgbClr val="F7D447"/>
                </a:solidFill>
                <a:latin typeface="Calibri" pitchFamily="34" charset="0"/>
                <a:ea typeface="Calibri" pitchFamily="34" charset="-122"/>
                <a:cs typeface="Calibri" pitchFamily="34" charset="-120"/>
              </a:rPr>
              <a:t>Known Limitations</a:t>
            </a:r>
            <a:endParaRPr lang="en-US" sz="850" dirty="0"/>
          </a:p>
        </p:txBody>
      </p:sp>
      <p:sp>
        <p:nvSpPr>
          <p:cNvPr id="20" name="Shape 18"/>
          <p:cNvSpPr/>
          <p:nvPr/>
        </p:nvSpPr>
        <p:spPr>
          <a:xfrm>
            <a:off x="10195560" y="1554480"/>
            <a:ext cx="1097280" cy="292608"/>
          </a:xfrm>
          <a:prstGeom prst="rect">
            <a:avLst/>
          </a:prstGeom>
          <a:solidFill>
            <a:srgbClr val="0F172A"/>
          </a:solidFill>
          <a:ln/>
        </p:spPr>
      </p:sp>
      <p:sp>
        <p:nvSpPr>
          <p:cNvPr id="21" name="Text 19"/>
          <p:cNvSpPr/>
          <p:nvPr/>
        </p:nvSpPr>
        <p:spPr>
          <a:xfrm>
            <a:off x="10241280" y="1554480"/>
            <a:ext cx="1097280" cy="292608"/>
          </a:xfrm>
          <a:prstGeom prst="rect">
            <a:avLst/>
          </a:prstGeom>
          <a:noFill/>
          <a:ln/>
        </p:spPr>
        <p:txBody>
          <a:bodyPr wrap="square" rtlCol="0" anchor="ctr"/>
          <a:lstStyle/>
          <a:p>
            <a:pPr indent="0" marL="0">
              <a:buNone/>
            </a:pPr>
            <a:r>
              <a:rPr lang="en-US" sz="850" b="1" dirty="0">
                <a:solidFill>
                  <a:srgbClr val="F7D447"/>
                </a:solidFill>
                <a:latin typeface="Calibri" pitchFamily="34" charset="0"/>
                <a:ea typeface="Calibri" pitchFamily="34" charset="-122"/>
                <a:cs typeface="Calibri" pitchFamily="34" charset="-120"/>
              </a:rPr>
              <a:t>Period</a:t>
            </a:r>
            <a:endParaRPr lang="en-US" sz="850" dirty="0"/>
          </a:p>
        </p:txBody>
      </p:sp>
      <p:sp>
        <p:nvSpPr>
          <p:cNvPr id="22" name="Shape 20"/>
          <p:cNvSpPr/>
          <p:nvPr/>
        </p:nvSpPr>
        <p:spPr>
          <a:xfrm>
            <a:off x="365760" y="1920240"/>
            <a:ext cx="11521440" cy="694944"/>
          </a:xfrm>
          <a:prstGeom prst="rect">
            <a:avLst/>
          </a:prstGeom>
          <a:solidFill>
            <a:srgbClr val="FFFFFF"/>
          </a:solidFill>
          <a:ln/>
        </p:spPr>
      </p:sp>
      <p:sp>
        <p:nvSpPr>
          <p:cNvPr id="23" name="Text 21"/>
          <p:cNvSpPr/>
          <p:nvPr/>
        </p:nvSpPr>
        <p:spPr>
          <a:xfrm>
            <a:off x="384048" y="2084832"/>
            <a:ext cx="502920" cy="347472"/>
          </a:xfrm>
          <a:prstGeom prst="rect">
            <a:avLst/>
          </a:prstGeom>
          <a:noFill/>
          <a:ln/>
        </p:spPr>
        <p:txBody>
          <a:bodyPr wrap="square" rtlCol="0" anchor="ctr"/>
          <a:lstStyle/>
          <a:p>
            <a:pPr algn="ctr" indent="0" marL="0">
              <a:buNone/>
            </a:pPr>
            <a:r>
              <a:rPr lang="en-US" sz="1500" dirty="0">
                <a:solidFill>
                  <a:srgbClr val="000000"/>
                </a:solidFill>
              </a:rPr>
              <a:t>📱</a:t>
            </a:r>
            <a:endParaRPr lang="en-US" sz="1500" dirty="0"/>
          </a:p>
        </p:txBody>
      </p:sp>
      <p:sp>
        <p:nvSpPr>
          <p:cNvPr id="24" name="Text 22"/>
          <p:cNvSpPr/>
          <p:nvPr/>
        </p:nvSpPr>
        <p:spPr>
          <a:xfrm>
            <a:off x="822960" y="2011680"/>
            <a:ext cx="1920240" cy="512064"/>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Instagram (Official Handles)</a:t>
            </a:r>
            <a:endParaRPr lang="en-US" sz="850" dirty="0"/>
          </a:p>
        </p:txBody>
      </p:sp>
      <p:sp>
        <p:nvSpPr>
          <p:cNvPr id="25" name="Text 23"/>
          <p:cNvSpPr/>
          <p:nvPr/>
        </p:nvSpPr>
        <p:spPr>
          <a:xfrm>
            <a:off x="2697480" y="1975104"/>
            <a:ext cx="4572000" cy="59436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Direct count of followers on verified official accounts: @netflix_in (14M), @jiohotstar (4M), @primevideoin (8M), @zee5 (2M), @sonylivindia (2M), @dazn (218K global). Accessed May 2025.</a:t>
            </a:r>
            <a:endParaRPr lang="en-US" sz="800" dirty="0"/>
          </a:p>
        </p:txBody>
      </p:sp>
      <p:sp>
        <p:nvSpPr>
          <p:cNvPr id="26" name="Text 24"/>
          <p:cNvSpPr/>
          <p:nvPr/>
        </p:nvSpPr>
        <p:spPr>
          <a:xfrm>
            <a:off x="7178040" y="1975104"/>
            <a:ext cx="2834640" cy="594360"/>
          </a:xfrm>
          <a:prstGeom prst="rect">
            <a:avLst/>
          </a:prstGeom>
          <a:noFill/>
          <a:ln/>
        </p:spPr>
        <p:txBody>
          <a:bodyPr wrap="square" rtlCol="0" anchor="ctr"/>
          <a:lstStyle/>
          <a:p>
            <a:pPr indent="0" marL="0">
              <a:buNone/>
            </a:pPr>
            <a:r>
              <a:rPr lang="en-US" sz="750" i="1" dirty="0">
                <a:solidFill>
                  <a:srgbClr val="7C2D12"/>
                </a:solidFill>
                <a:latin typeface="Calibri" pitchFamily="34" charset="0"/>
                <a:ea typeface="Calibri" pitchFamily="34" charset="-122"/>
                <a:cs typeface="Calibri" pitchFamily="34" charset="-120"/>
              </a:rPr>
              <a:t>India-specific split unavailable for some handles; global vs India-only counts noted.</a:t>
            </a:r>
            <a:endParaRPr lang="en-US" sz="750" dirty="0"/>
          </a:p>
        </p:txBody>
      </p:sp>
      <p:sp>
        <p:nvSpPr>
          <p:cNvPr id="27" name="Text 25"/>
          <p:cNvSpPr/>
          <p:nvPr/>
        </p:nvSpPr>
        <p:spPr>
          <a:xfrm>
            <a:off x="10104120" y="2084832"/>
            <a:ext cx="1371600" cy="347472"/>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May 2025</a:t>
            </a:r>
            <a:endParaRPr lang="en-US" sz="800" dirty="0"/>
          </a:p>
        </p:txBody>
      </p:sp>
      <p:sp>
        <p:nvSpPr>
          <p:cNvPr id="28" name="Shape 26"/>
          <p:cNvSpPr/>
          <p:nvPr/>
        </p:nvSpPr>
        <p:spPr>
          <a:xfrm>
            <a:off x="365760" y="2670048"/>
            <a:ext cx="11521440" cy="694944"/>
          </a:xfrm>
          <a:prstGeom prst="rect">
            <a:avLst/>
          </a:prstGeom>
          <a:solidFill>
            <a:srgbClr val="F8FAFC"/>
          </a:solidFill>
          <a:ln/>
        </p:spPr>
      </p:sp>
      <p:sp>
        <p:nvSpPr>
          <p:cNvPr id="29" name="Text 27"/>
          <p:cNvSpPr/>
          <p:nvPr/>
        </p:nvSpPr>
        <p:spPr>
          <a:xfrm>
            <a:off x="384048" y="2834640"/>
            <a:ext cx="502920" cy="347472"/>
          </a:xfrm>
          <a:prstGeom prst="rect">
            <a:avLst/>
          </a:prstGeom>
          <a:noFill/>
          <a:ln/>
        </p:spPr>
        <p:txBody>
          <a:bodyPr wrap="square" rtlCol="0" anchor="ctr"/>
          <a:lstStyle/>
          <a:p>
            <a:pPr algn="ctr" indent="0" marL="0">
              <a:buNone/>
            </a:pPr>
            <a:r>
              <a:rPr lang="en-US" sz="1500" dirty="0">
                <a:solidFill>
                  <a:srgbClr val="000000"/>
                </a:solidFill>
              </a:rPr>
              <a:t>🐦</a:t>
            </a:r>
            <a:endParaRPr lang="en-US" sz="1500" dirty="0"/>
          </a:p>
        </p:txBody>
      </p:sp>
      <p:sp>
        <p:nvSpPr>
          <p:cNvPr id="30" name="Text 28"/>
          <p:cNvSpPr/>
          <p:nvPr/>
        </p:nvSpPr>
        <p:spPr>
          <a:xfrm>
            <a:off x="822960" y="2761488"/>
            <a:ext cx="1920240" cy="512064"/>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Twitter / X (Official Handles)</a:t>
            </a:r>
            <a:endParaRPr lang="en-US" sz="850" dirty="0"/>
          </a:p>
        </p:txBody>
      </p:sp>
      <p:sp>
        <p:nvSpPr>
          <p:cNvPr id="31" name="Text 29"/>
          <p:cNvSpPr/>
          <p:nvPr/>
        </p:nvSpPr>
        <p:spPr>
          <a:xfrm>
            <a:off x="2697480" y="2724912"/>
            <a:ext cx="4572000" cy="59436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Follower counts from @NetflixIndia, @JioHotstar, @PrimeVideoIN, @ZEE5, @SonyLIV, @DAZN. Engagement rate proxy from Sprout Social 2025 benchmarks (media &amp; entertainment: 0.5–2.4% avg).</a:t>
            </a:r>
            <a:endParaRPr lang="en-US" sz="800" dirty="0"/>
          </a:p>
        </p:txBody>
      </p:sp>
      <p:sp>
        <p:nvSpPr>
          <p:cNvPr id="32" name="Text 30"/>
          <p:cNvSpPr/>
          <p:nvPr/>
        </p:nvSpPr>
        <p:spPr>
          <a:xfrm>
            <a:off x="7178040" y="2724912"/>
            <a:ext cx="2834640" cy="594360"/>
          </a:xfrm>
          <a:prstGeom prst="rect">
            <a:avLst/>
          </a:prstGeom>
          <a:noFill/>
          <a:ln/>
        </p:spPr>
        <p:txBody>
          <a:bodyPr wrap="square" rtlCol="0" anchor="ctr"/>
          <a:lstStyle/>
          <a:p>
            <a:pPr indent="0" marL="0">
              <a:buNone/>
            </a:pPr>
            <a:r>
              <a:rPr lang="en-US" sz="750" i="1" dirty="0">
                <a:solidFill>
                  <a:srgbClr val="7C2D12"/>
                </a:solidFill>
                <a:latin typeface="Calibri" pitchFamily="34" charset="0"/>
                <a:ea typeface="Calibri" pitchFamily="34" charset="-122"/>
                <a:cs typeface="Calibri" pitchFamily="34" charset="-120"/>
              </a:rPr>
              <a:t>X API restrictions limit real-time data; figures are estimates based on available public metrics.</a:t>
            </a:r>
            <a:endParaRPr lang="en-US" sz="750" dirty="0"/>
          </a:p>
        </p:txBody>
      </p:sp>
      <p:sp>
        <p:nvSpPr>
          <p:cNvPr id="33" name="Text 31"/>
          <p:cNvSpPr/>
          <p:nvPr/>
        </p:nvSpPr>
        <p:spPr>
          <a:xfrm>
            <a:off x="10104120" y="2834640"/>
            <a:ext cx="1371600" cy="347472"/>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Q1 2025</a:t>
            </a:r>
            <a:endParaRPr lang="en-US" sz="800" dirty="0"/>
          </a:p>
        </p:txBody>
      </p:sp>
      <p:sp>
        <p:nvSpPr>
          <p:cNvPr id="34" name="Shape 32"/>
          <p:cNvSpPr/>
          <p:nvPr/>
        </p:nvSpPr>
        <p:spPr>
          <a:xfrm>
            <a:off x="365760" y="3419856"/>
            <a:ext cx="11521440" cy="694944"/>
          </a:xfrm>
          <a:prstGeom prst="rect">
            <a:avLst/>
          </a:prstGeom>
          <a:solidFill>
            <a:srgbClr val="FFFFFF"/>
          </a:solidFill>
          <a:ln/>
        </p:spPr>
      </p:sp>
      <p:sp>
        <p:nvSpPr>
          <p:cNvPr id="35" name="Text 33"/>
          <p:cNvSpPr/>
          <p:nvPr/>
        </p:nvSpPr>
        <p:spPr>
          <a:xfrm>
            <a:off x="384048" y="3584448"/>
            <a:ext cx="502920" cy="347472"/>
          </a:xfrm>
          <a:prstGeom prst="rect">
            <a:avLst/>
          </a:prstGeom>
          <a:noFill/>
          <a:ln/>
        </p:spPr>
        <p:txBody>
          <a:bodyPr wrap="square" rtlCol="0" anchor="ctr"/>
          <a:lstStyle/>
          <a:p>
            <a:pPr algn="ctr" indent="0" marL="0">
              <a:buNone/>
            </a:pPr>
            <a:r>
              <a:rPr lang="en-US" sz="1500" dirty="0">
                <a:solidFill>
                  <a:srgbClr val="000000"/>
                </a:solidFill>
              </a:rPr>
              <a:t>⭐</a:t>
            </a:r>
            <a:endParaRPr lang="en-US" sz="1500" dirty="0"/>
          </a:p>
        </p:txBody>
      </p:sp>
      <p:sp>
        <p:nvSpPr>
          <p:cNvPr id="36" name="Text 34"/>
          <p:cNvSpPr/>
          <p:nvPr/>
        </p:nvSpPr>
        <p:spPr>
          <a:xfrm>
            <a:off x="822960" y="3511296"/>
            <a:ext cx="1920240" cy="512064"/>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App Store &amp; Trustpilot Ratings</a:t>
            </a:r>
            <a:endParaRPr lang="en-US" sz="850" dirty="0"/>
          </a:p>
        </p:txBody>
      </p:sp>
      <p:sp>
        <p:nvSpPr>
          <p:cNvPr id="37" name="Text 35"/>
          <p:cNvSpPr/>
          <p:nvPr/>
        </p:nvSpPr>
        <p:spPr>
          <a:xfrm>
            <a:off x="2697480" y="3474720"/>
            <a:ext cx="4572000" cy="59436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Google Play Store and Apple App Store ratings for each platform India (publicly visible). Trustpilot for global DAZN brand trust signals.</a:t>
            </a:r>
            <a:endParaRPr lang="en-US" sz="800" dirty="0"/>
          </a:p>
        </p:txBody>
      </p:sp>
      <p:sp>
        <p:nvSpPr>
          <p:cNvPr id="38" name="Text 36"/>
          <p:cNvSpPr/>
          <p:nvPr/>
        </p:nvSpPr>
        <p:spPr>
          <a:xfrm>
            <a:off x="7178040" y="3474720"/>
            <a:ext cx="2834640" cy="594360"/>
          </a:xfrm>
          <a:prstGeom prst="rect">
            <a:avLst/>
          </a:prstGeom>
          <a:noFill/>
          <a:ln/>
        </p:spPr>
        <p:txBody>
          <a:bodyPr wrap="square" rtlCol="0" anchor="ctr"/>
          <a:lstStyle/>
          <a:p>
            <a:pPr indent="0" marL="0">
              <a:buNone/>
            </a:pPr>
            <a:r>
              <a:rPr lang="en-US" sz="750" i="1" dirty="0">
                <a:solidFill>
                  <a:srgbClr val="7C2D12"/>
                </a:solidFill>
                <a:latin typeface="Calibri" pitchFamily="34" charset="0"/>
                <a:ea typeface="Calibri" pitchFamily="34" charset="-122"/>
                <a:cs typeface="Calibri" pitchFamily="34" charset="-120"/>
              </a:rPr>
              <a:t>App ratings reflect global user base unless region-filtered. Trustpilot reviews skew toward complaint-driven users.</a:t>
            </a:r>
            <a:endParaRPr lang="en-US" sz="750" dirty="0"/>
          </a:p>
        </p:txBody>
      </p:sp>
      <p:sp>
        <p:nvSpPr>
          <p:cNvPr id="39" name="Text 37"/>
          <p:cNvSpPr/>
          <p:nvPr/>
        </p:nvSpPr>
        <p:spPr>
          <a:xfrm>
            <a:off x="10104120" y="3584448"/>
            <a:ext cx="1371600" cy="347472"/>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Apr 2025</a:t>
            </a:r>
            <a:endParaRPr lang="en-US" sz="800" dirty="0"/>
          </a:p>
        </p:txBody>
      </p:sp>
      <p:sp>
        <p:nvSpPr>
          <p:cNvPr id="40" name="Shape 38"/>
          <p:cNvSpPr/>
          <p:nvPr/>
        </p:nvSpPr>
        <p:spPr>
          <a:xfrm>
            <a:off x="365760" y="4169664"/>
            <a:ext cx="11521440" cy="694944"/>
          </a:xfrm>
          <a:prstGeom prst="rect">
            <a:avLst/>
          </a:prstGeom>
          <a:solidFill>
            <a:srgbClr val="F8FAFC"/>
          </a:solidFill>
          <a:ln/>
        </p:spPr>
      </p:sp>
      <p:sp>
        <p:nvSpPr>
          <p:cNvPr id="41" name="Text 39"/>
          <p:cNvSpPr/>
          <p:nvPr/>
        </p:nvSpPr>
        <p:spPr>
          <a:xfrm>
            <a:off x="384048" y="4334256"/>
            <a:ext cx="502920" cy="347472"/>
          </a:xfrm>
          <a:prstGeom prst="rect">
            <a:avLst/>
          </a:prstGeom>
          <a:noFill/>
          <a:ln/>
        </p:spPr>
        <p:txBody>
          <a:bodyPr wrap="square" rtlCol="0" anchor="ctr"/>
          <a:lstStyle/>
          <a:p>
            <a:pPr algn="ctr" indent="0" marL="0">
              <a:buNone/>
            </a:pPr>
            <a:r>
              <a:rPr lang="en-US" sz="1500" dirty="0">
                <a:solidFill>
                  <a:srgbClr val="000000"/>
                </a:solidFill>
              </a:rPr>
              <a:t>📊</a:t>
            </a:r>
            <a:endParaRPr lang="en-US" sz="1500" dirty="0"/>
          </a:p>
        </p:txBody>
      </p:sp>
      <p:sp>
        <p:nvSpPr>
          <p:cNvPr id="42" name="Text 40"/>
          <p:cNvSpPr/>
          <p:nvPr/>
        </p:nvSpPr>
        <p:spPr>
          <a:xfrm>
            <a:off x="822960" y="4261104"/>
            <a:ext cx="1920240" cy="512064"/>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NPS — RedSeer &amp; Analysys Mason</a:t>
            </a:r>
            <a:endParaRPr lang="en-US" sz="850" dirty="0"/>
          </a:p>
        </p:txBody>
      </p:sp>
      <p:sp>
        <p:nvSpPr>
          <p:cNvPr id="43" name="Text 41"/>
          <p:cNvSpPr/>
          <p:nvPr/>
        </p:nvSpPr>
        <p:spPr>
          <a:xfrm>
            <a:off x="2697480" y="4224528"/>
            <a:ext cx="4572000" cy="59436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NPS baseline: RedSeer 2021 OTT study (Netflix 59%, Amazon Prime 53%, Hotstar ranked 3rd). Analysys Mason 2024 consumer survey: Netflix NPS +24 UK benchmark; global streaming NPS patterns applied to India proxy. DAZN NPS estimated from Trustpilot review analysis (net promoter proxy: promoters minus detractors).</a:t>
            </a:r>
            <a:endParaRPr lang="en-US" sz="800" dirty="0"/>
          </a:p>
        </p:txBody>
      </p:sp>
      <p:sp>
        <p:nvSpPr>
          <p:cNvPr id="44" name="Text 42"/>
          <p:cNvSpPr/>
          <p:nvPr/>
        </p:nvSpPr>
        <p:spPr>
          <a:xfrm>
            <a:off x="7178040" y="4224528"/>
            <a:ext cx="2834640" cy="594360"/>
          </a:xfrm>
          <a:prstGeom prst="rect">
            <a:avLst/>
          </a:prstGeom>
          <a:noFill/>
          <a:ln/>
        </p:spPr>
        <p:txBody>
          <a:bodyPr wrap="square" rtlCol="0" anchor="ctr"/>
          <a:lstStyle/>
          <a:p>
            <a:pPr indent="0" marL="0">
              <a:buNone/>
            </a:pPr>
            <a:r>
              <a:rPr lang="en-US" sz="750" i="1" dirty="0">
                <a:solidFill>
                  <a:srgbClr val="7C2D12"/>
                </a:solidFill>
                <a:latin typeface="Calibri" pitchFamily="34" charset="0"/>
                <a:ea typeface="Calibri" pitchFamily="34" charset="-122"/>
                <a:cs typeface="Calibri" pitchFamily="34" charset="-120"/>
              </a:rPr>
              <a:t>No DAZN India-specific primary NPS survey exists. Figures are industry-proxy estimates; primary survey recommended.</a:t>
            </a:r>
            <a:endParaRPr lang="en-US" sz="750" dirty="0"/>
          </a:p>
        </p:txBody>
      </p:sp>
      <p:sp>
        <p:nvSpPr>
          <p:cNvPr id="45" name="Text 43"/>
          <p:cNvSpPr/>
          <p:nvPr/>
        </p:nvSpPr>
        <p:spPr>
          <a:xfrm>
            <a:off x="10104120" y="4334256"/>
            <a:ext cx="1371600" cy="347472"/>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2021–2024</a:t>
            </a:r>
            <a:endParaRPr lang="en-US" sz="800" dirty="0"/>
          </a:p>
        </p:txBody>
      </p:sp>
      <p:sp>
        <p:nvSpPr>
          <p:cNvPr id="46" name="Shape 44"/>
          <p:cNvSpPr/>
          <p:nvPr/>
        </p:nvSpPr>
        <p:spPr>
          <a:xfrm>
            <a:off x="365760" y="4919472"/>
            <a:ext cx="11521440" cy="694944"/>
          </a:xfrm>
          <a:prstGeom prst="rect">
            <a:avLst/>
          </a:prstGeom>
          <a:solidFill>
            <a:srgbClr val="FFFFFF"/>
          </a:solidFill>
          <a:ln/>
        </p:spPr>
      </p:sp>
      <p:sp>
        <p:nvSpPr>
          <p:cNvPr id="47" name="Text 45"/>
          <p:cNvSpPr/>
          <p:nvPr/>
        </p:nvSpPr>
        <p:spPr>
          <a:xfrm>
            <a:off x="384048" y="5084064"/>
            <a:ext cx="502920" cy="347472"/>
          </a:xfrm>
          <a:prstGeom prst="rect">
            <a:avLst/>
          </a:prstGeom>
          <a:noFill/>
          <a:ln/>
        </p:spPr>
        <p:txBody>
          <a:bodyPr wrap="square" rtlCol="0" anchor="ctr"/>
          <a:lstStyle/>
          <a:p>
            <a:pPr algn="ctr" indent="0" marL="0">
              <a:buNone/>
            </a:pPr>
            <a:r>
              <a:rPr lang="en-US" sz="1500" dirty="0">
                <a:solidFill>
                  <a:srgbClr val="000000"/>
                </a:solidFill>
              </a:rPr>
              <a:t>💬</a:t>
            </a:r>
            <a:endParaRPr lang="en-US" sz="1500" dirty="0"/>
          </a:p>
        </p:txBody>
      </p:sp>
      <p:sp>
        <p:nvSpPr>
          <p:cNvPr id="48" name="Text 46"/>
          <p:cNvSpPr/>
          <p:nvPr/>
        </p:nvSpPr>
        <p:spPr>
          <a:xfrm>
            <a:off x="822960" y="5010912"/>
            <a:ext cx="1920240" cy="512064"/>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Social Sentiment — Pattern Analysis</a:t>
            </a:r>
            <a:endParaRPr lang="en-US" sz="850" dirty="0"/>
          </a:p>
        </p:txBody>
      </p:sp>
      <p:sp>
        <p:nvSpPr>
          <p:cNvPr id="49" name="Text 47"/>
          <p:cNvSpPr/>
          <p:nvPr/>
        </p:nvSpPr>
        <p:spPr>
          <a:xfrm>
            <a:off x="2697480" y="4974336"/>
            <a:ext cx="4572000" cy="59436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Sentiment patterns derived from: publicly available Reddit threads (r/india, r/bollywood, r/OTTIndia), Twitter discourse analysis, App Store review text analysis, and published consumer research (Media Partners Asia H1 2024 OTT report).</a:t>
            </a:r>
            <a:endParaRPr lang="en-US" sz="800" dirty="0"/>
          </a:p>
        </p:txBody>
      </p:sp>
      <p:sp>
        <p:nvSpPr>
          <p:cNvPr id="50" name="Text 48"/>
          <p:cNvSpPr/>
          <p:nvPr/>
        </p:nvSpPr>
        <p:spPr>
          <a:xfrm>
            <a:off x="7178040" y="4974336"/>
            <a:ext cx="2834640" cy="594360"/>
          </a:xfrm>
          <a:prstGeom prst="rect">
            <a:avLst/>
          </a:prstGeom>
          <a:noFill/>
          <a:ln/>
        </p:spPr>
        <p:txBody>
          <a:bodyPr wrap="square" rtlCol="0" anchor="ctr"/>
          <a:lstStyle/>
          <a:p>
            <a:pPr indent="0" marL="0">
              <a:buNone/>
            </a:pPr>
            <a:r>
              <a:rPr lang="en-US" sz="750" i="1" dirty="0">
                <a:solidFill>
                  <a:srgbClr val="7C2D12"/>
                </a:solidFill>
                <a:latin typeface="Calibri" pitchFamily="34" charset="0"/>
                <a:ea typeface="Calibri" pitchFamily="34" charset="-122"/>
                <a:cs typeface="Calibri" pitchFamily="34" charset="-120"/>
              </a:rPr>
              <a:t>Quantitative social listening tools (Brandwatch, Sprinklr) would provide precise sentiment — these are directional estimates from secondary research.</a:t>
            </a:r>
            <a:endParaRPr lang="en-US" sz="750" dirty="0"/>
          </a:p>
        </p:txBody>
      </p:sp>
      <p:sp>
        <p:nvSpPr>
          <p:cNvPr id="51" name="Text 49"/>
          <p:cNvSpPr/>
          <p:nvPr/>
        </p:nvSpPr>
        <p:spPr>
          <a:xfrm>
            <a:off x="10104120" y="5084064"/>
            <a:ext cx="1371600" cy="347472"/>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2024–Q1 2025</a:t>
            </a:r>
            <a:endParaRPr lang="en-US" sz="800" dirty="0"/>
          </a:p>
        </p:txBody>
      </p:sp>
      <p:sp>
        <p:nvSpPr>
          <p:cNvPr id="52" name="Shape 50"/>
          <p:cNvSpPr/>
          <p:nvPr/>
        </p:nvSpPr>
        <p:spPr>
          <a:xfrm>
            <a:off x="365760" y="5669280"/>
            <a:ext cx="11521440" cy="694944"/>
          </a:xfrm>
          <a:prstGeom prst="rect">
            <a:avLst/>
          </a:prstGeom>
          <a:solidFill>
            <a:srgbClr val="F8FAFC"/>
          </a:solidFill>
          <a:ln/>
        </p:spPr>
      </p:sp>
      <p:sp>
        <p:nvSpPr>
          <p:cNvPr id="53" name="Text 51"/>
          <p:cNvSpPr/>
          <p:nvPr/>
        </p:nvSpPr>
        <p:spPr>
          <a:xfrm>
            <a:off x="384048" y="5833872"/>
            <a:ext cx="502920" cy="347472"/>
          </a:xfrm>
          <a:prstGeom prst="rect">
            <a:avLst/>
          </a:prstGeom>
          <a:noFill/>
          <a:ln/>
        </p:spPr>
        <p:txBody>
          <a:bodyPr wrap="square" rtlCol="0" anchor="ctr"/>
          <a:lstStyle/>
          <a:p>
            <a:pPr algn="ctr" indent="0" marL="0">
              <a:buNone/>
            </a:pPr>
            <a:r>
              <a:rPr lang="en-US" sz="1500" dirty="0">
                <a:solidFill>
                  <a:srgbClr val="000000"/>
                </a:solidFill>
              </a:rPr>
              <a:t>🗣️</a:t>
            </a:r>
            <a:endParaRPr lang="en-US" sz="1500" dirty="0"/>
          </a:p>
        </p:txBody>
      </p:sp>
      <p:sp>
        <p:nvSpPr>
          <p:cNvPr id="54" name="Text 52"/>
          <p:cNvSpPr/>
          <p:nvPr/>
        </p:nvSpPr>
        <p:spPr>
          <a:xfrm>
            <a:off x="822960" y="5760720"/>
            <a:ext cx="1920240" cy="512064"/>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Voice of Customer (VOC)</a:t>
            </a:r>
            <a:endParaRPr lang="en-US" sz="850" dirty="0"/>
          </a:p>
        </p:txBody>
      </p:sp>
      <p:sp>
        <p:nvSpPr>
          <p:cNvPr id="55" name="Text 53"/>
          <p:cNvSpPr/>
          <p:nvPr/>
        </p:nvSpPr>
        <p:spPr>
          <a:xfrm>
            <a:off x="2697480" y="5724144"/>
            <a:ext cx="4572000" cy="59436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VOC themes extracted from: App Store reviews, Trustpilot reviews, Reddit discussions, Twitter complaint patterns, news articles citing user feedback, and App review text mining (Kimola AI analysis for Amazon Prime Video).</a:t>
            </a:r>
            <a:endParaRPr lang="en-US" sz="800" dirty="0"/>
          </a:p>
        </p:txBody>
      </p:sp>
      <p:sp>
        <p:nvSpPr>
          <p:cNvPr id="56" name="Text 54"/>
          <p:cNvSpPr/>
          <p:nvPr/>
        </p:nvSpPr>
        <p:spPr>
          <a:xfrm>
            <a:off x="7178040" y="5724144"/>
            <a:ext cx="2834640" cy="594360"/>
          </a:xfrm>
          <a:prstGeom prst="rect">
            <a:avLst/>
          </a:prstGeom>
          <a:noFill/>
          <a:ln/>
        </p:spPr>
        <p:txBody>
          <a:bodyPr wrap="square" rtlCol="0" anchor="ctr"/>
          <a:lstStyle/>
          <a:p>
            <a:pPr indent="0" marL="0">
              <a:buNone/>
            </a:pPr>
            <a:r>
              <a:rPr lang="en-US" sz="750" i="1" dirty="0">
                <a:solidFill>
                  <a:srgbClr val="7C2D12"/>
                </a:solidFill>
                <a:latin typeface="Calibri" pitchFamily="34" charset="0"/>
                <a:ea typeface="Calibri" pitchFamily="34" charset="-122"/>
                <a:cs typeface="Calibri" pitchFamily="34" charset="-120"/>
              </a:rPr>
              <a:t>Direct qualitative user interviews not conducted. VOC represents aggregated secondary research.</a:t>
            </a:r>
            <a:endParaRPr lang="en-US" sz="750" dirty="0"/>
          </a:p>
        </p:txBody>
      </p:sp>
      <p:sp>
        <p:nvSpPr>
          <p:cNvPr id="57" name="Text 55"/>
          <p:cNvSpPr/>
          <p:nvPr/>
        </p:nvSpPr>
        <p:spPr>
          <a:xfrm>
            <a:off x="10104120" y="5833872"/>
            <a:ext cx="1371600" cy="347472"/>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2024–2025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804672"/>
          </a:xfrm>
          <a:prstGeom prst="rect">
            <a:avLst/>
          </a:prstGeom>
          <a:solidFill>
            <a:srgbClr val="0F172A"/>
          </a:solidFill>
          <a:ln/>
        </p:spPr>
      </p:sp>
      <p:sp>
        <p:nvSpPr>
          <p:cNvPr id="3" name="Shape 1"/>
          <p:cNvSpPr/>
          <p:nvPr/>
        </p:nvSpPr>
        <p:spPr>
          <a:xfrm>
            <a:off x="0" y="786384"/>
            <a:ext cx="12161520" cy="64008"/>
          </a:xfrm>
          <a:prstGeom prst="rect">
            <a:avLst/>
          </a:prstGeom>
          <a:solidFill>
            <a:srgbClr val="F7D447"/>
          </a:solidFill>
          <a:ln/>
        </p:spPr>
      </p:sp>
      <p:sp>
        <p:nvSpPr>
          <p:cNvPr id="4" name="Text 2"/>
          <p:cNvSpPr/>
          <p:nvPr/>
        </p:nvSpPr>
        <p:spPr>
          <a:xfrm>
            <a:off x="365760" y="54864"/>
            <a:ext cx="8961120" cy="475488"/>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Social Media Presence — Verified Follower Data</a:t>
            </a:r>
            <a:endParaRPr lang="en-US" sz="2000" dirty="0"/>
          </a:p>
        </p:txBody>
      </p:sp>
      <p:sp>
        <p:nvSpPr>
          <p:cNvPr id="5" name="Text 3"/>
          <p:cNvSpPr/>
          <p:nvPr/>
        </p:nvSpPr>
        <p:spPr>
          <a:xfrm>
            <a:off x="365760" y="530352"/>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Source: Direct official account counts, May 2025 | All figures are point-in-time public data</a:t>
            </a:r>
            <a:endParaRPr lang="en-US" sz="950" dirty="0"/>
          </a:p>
        </p:txBody>
      </p:sp>
      <p:sp>
        <p:nvSpPr>
          <p:cNvPr id="6" name="Text 4"/>
          <p:cNvSpPr/>
          <p:nvPr/>
        </p:nvSpPr>
        <p:spPr>
          <a:xfrm>
            <a:off x="9601200" y="228600"/>
            <a:ext cx="2377440" cy="320040"/>
          </a:xfrm>
          <a:prstGeom prst="rect">
            <a:avLst/>
          </a:prstGeom>
          <a:noFill/>
          <a:ln/>
        </p:spPr>
        <p:txBody>
          <a:bodyPr wrap="square" rtlCol="0" anchor="ctr"/>
          <a:lstStyle/>
          <a:p>
            <a:pPr algn="r" indent="0" marL="0">
              <a:buNone/>
            </a:pPr>
            <a:r>
              <a:rPr lang="en-US" sz="850" b="1" dirty="0">
                <a:solidFill>
                  <a:srgbClr val="F7D447"/>
                </a:solidFill>
                <a:latin typeface="Calibri" pitchFamily="34" charset="0"/>
                <a:ea typeface="Calibri" pitchFamily="34" charset="-122"/>
                <a:cs typeface="Calibri" pitchFamily="34" charset="-120"/>
              </a:rPr>
              <a:t>DAZN India  •  Social Listening Report 2025  •  Slide 3</a:t>
            </a:r>
            <a:endParaRPr lang="en-US" sz="850" dirty="0"/>
          </a:p>
        </p:txBody>
      </p:sp>
      <p:sp>
        <p:nvSpPr>
          <p:cNvPr id="7" name="Shape 5"/>
          <p:cNvSpPr/>
          <p:nvPr/>
        </p:nvSpPr>
        <p:spPr>
          <a:xfrm>
            <a:off x="0" y="6675120"/>
            <a:ext cx="12161520" cy="182880"/>
          </a:xfrm>
          <a:prstGeom prst="rect">
            <a:avLst/>
          </a:prstGeom>
          <a:solidFill>
            <a:srgbClr val="0F172A"/>
          </a:solidFill>
          <a:ln/>
        </p:spPr>
      </p:sp>
      <p:sp>
        <p:nvSpPr>
          <p:cNvPr id="8" name="Text 6"/>
          <p:cNvSpPr/>
          <p:nvPr/>
        </p:nvSpPr>
        <p:spPr>
          <a:xfrm>
            <a:off x="274320" y="6684264"/>
            <a:ext cx="11612880" cy="15544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Confidential — For Internal Management Use Only</a:t>
            </a:r>
            <a:endParaRPr lang="en-US" sz="750" dirty="0"/>
          </a:p>
        </p:txBody>
      </p:sp>
      <p:sp>
        <p:nvSpPr>
          <p:cNvPr id="9" name="Shape 7"/>
          <p:cNvSpPr/>
          <p:nvPr/>
        </p:nvSpPr>
        <p:spPr>
          <a:xfrm>
            <a:off x="274320" y="960120"/>
            <a:ext cx="11612880" cy="457200"/>
          </a:xfrm>
          <a:prstGeom prst="rect">
            <a:avLst/>
          </a:prstGeom>
          <a:solidFill>
            <a:srgbClr val="1E293B"/>
          </a:solidFill>
          <a:ln/>
        </p:spPr>
      </p:sp>
      <p:sp>
        <p:nvSpPr>
          <p:cNvPr id="10" name="Text 8"/>
          <p:cNvSpPr/>
          <p:nvPr/>
        </p:nvSpPr>
        <p:spPr>
          <a:xfrm>
            <a:off x="411480" y="987552"/>
            <a:ext cx="11338560" cy="402336"/>
          </a:xfrm>
          <a:prstGeom prst="rect">
            <a:avLst/>
          </a:prstGeom>
          <a:noFill/>
          <a:ln/>
        </p:spPr>
        <p:txBody>
          <a:bodyPr wrap="square" rtlCol="0" anchor="ctr"/>
          <a:lstStyle/>
          <a:p>
            <a:pPr indent="0" marL="0">
              <a:buNone/>
            </a:pPr>
            <a:r>
              <a:rPr lang="en-US" sz="950" b="1" dirty="0">
                <a:solidFill>
                  <a:srgbClr val="F7D447"/>
                </a:solidFill>
                <a:latin typeface="Calibri" pitchFamily="34" charset="0"/>
                <a:ea typeface="Calibri" pitchFamily="34" charset="-122"/>
                <a:cs typeface="Calibri" pitchFamily="34" charset="-120"/>
              </a:rPr>
              <a:t>⚠️  Key Finding: DAZN India has NO dedicated India social handle. The global @dazn account (218K) is DAZN's only Instagram presence. Netflix India (@netflix_in) has 64x more followers on Instagram alone.</a:t>
            </a:r>
            <a:endParaRPr lang="en-US" sz="950" dirty="0"/>
          </a:p>
        </p:txBody>
      </p:sp>
      <p:sp>
        <p:nvSpPr>
          <p:cNvPr id="11" name="Shape 9"/>
          <p:cNvSpPr/>
          <p:nvPr/>
        </p:nvSpPr>
        <p:spPr>
          <a:xfrm>
            <a:off x="274320" y="1536192"/>
            <a:ext cx="1417320" cy="365760"/>
          </a:xfrm>
          <a:prstGeom prst="rect">
            <a:avLst/>
          </a:prstGeom>
          <a:solidFill>
            <a:srgbClr val="0F172A"/>
          </a:solidFill>
          <a:ln/>
        </p:spPr>
      </p:sp>
      <p:sp>
        <p:nvSpPr>
          <p:cNvPr id="12" name="Text 10"/>
          <p:cNvSpPr/>
          <p:nvPr/>
        </p:nvSpPr>
        <p:spPr>
          <a:xfrm>
            <a:off x="310896" y="1536192"/>
            <a:ext cx="1344168" cy="365760"/>
          </a:xfrm>
          <a:prstGeom prst="rect">
            <a:avLst/>
          </a:prstGeom>
          <a:noFill/>
          <a:ln/>
        </p:spPr>
        <p:txBody>
          <a:bodyPr wrap="square" rtlCol="0" anchor="ctr"/>
          <a:lstStyle/>
          <a:p>
            <a:pPr algn="ctr" indent="0" marL="0">
              <a:buNone/>
            </a:pPr>
            <a:r>
              <a:rPr lang="en-US" sz="800" b="1" dirty="0">
                <a:solidFill>
                  <a:srgbClr val="F7D447"/>
                </a:solidFill>
                <a:latin typeface="Calibri" pitchFamily="34" charset="0"/>
                <a:ea typeface="Calibri" pitchFamily="34" charset="-122"/>
                <a:cs typeface="Calibri" pitchFamily="34" charset="-120"/>
              </a:rPr>
              <a:t>Platform</a:t>
            </a:r>
            <a:endParaRPr lang="en-US" sz="800" dirty="0"/>
          </a:p>
        </p:txBody>
      </p:sp>
      <p:sp>
        <p:nvSpPr>
          <p:cNvPr id="13" name="Shape 11"/>
          <p:cNvSpPr/>
          <p:nvPr/>
        </p:nvSpPr>
        <p:spPr>
          <a:xfrm>
            <a:off x="1737360" y="1536192"/>
            <a:ext cx="1755648" cy="365760"/>
          </a:xfrm>
          <a:prstGeom prst="rect">
            <a:avLst/>
          </a:prstGeom>
          <a:solidFill>
            <a:srgbClr val="0F172A"/>
          </a:solidFill>
          <a:ln/>
        </p:spPr>
      </p:sp>
      <p:sp>
        <p:nvSpPr>
          <p:cNvPr id="14" name="Text 12"/>
          <p:cNvSpPr/>
          <p:nvPr/>
        </p:nvSpPr>
        <p:spPr>
          <a:xfrm>
            <a:off x="1773936" y="1536192"/>
            <a:ext cx="1682496" cy="365760"/>
          </a:xfrm>
          <a:prstGeom prst="rect">
            <a:avLst/>
          </a:prstGeom>
          <a:noFill/>
          <a:ln/>
        </p:spPr>
        <p:txBody>
          <a:bodyPr wrap="square" rtlCol="0" anchor="ctr"/>
          <a:lstStyle/>
          <a:p>
            <a:pPr algn="ctr" indent="0" marL="0">
              <a:buNone/>
            </a:pPr>
            <a:r>
              <a:rPr lang="en-US" sz="800" b="1" dirty="0">
                <a:solidFill>
                  <a:srgbClr val="F7D447"/>
                </a:solidFill>
                <a:latin typeface="Calibri" pitchFamily="34" charset="0"/>
                <a:ea typeface="Calibri" pitchFamily="34" charset="-122"/>
                <a:cs typeface="Calibri" pitchFamily="34" charset="-120"/>
              </a:rPr>
              <a:t>Instagram Followers</a:t>
            </a:r>
            <a:endParaRPr lang="en-US" sz="800" dirty="0"/>
          </a:p>
        </p:txBody>
      </p:sp>
      <p:sp>
        <p:nvSpPr>
          <p:cNvPr id="15" name="Shape 13"/>
          <p:cNvSpPr/>
          <p:nvPr/>
        </p:nvSpPr>
        <p:spPr>
          <a:xfrm>
            <a:off x="3520440" y="1536192"/>
            <a:ext cx="1755648" cy="365760"/>
          </a:xfrm>
          <a:prstGeom prst="rect">
            <a:avLst/>
          </a:prstGeom>
          <a:solidFill>
            <a:srgbClr val="0F172A"/>
          </a:solidFill>
          <a:ln/>
        </p:spPr>
      </p:sp>
      <p:sp>
        <p:nvSpPr>
          <p:cNvPr id="16" name="Text 14"/>
          <p:cNvSpPr/>
          <p:nvPr/>
        </p:nvSpPr>
        <p:spPr>
          <a:xfrm>
            <a:off x="3557016" y="1536192"/>
            <a:ext cx="1682496" cy="365760"/>
          </a:xfrm>
          <a:prstGeom prst="rect">
            <a:avLst/>
          </a:prstGeom>
          <a:noFill/>
          <a:ln/>
        </p:spPr>
        <p:txBody>
          <a:bodyPr wrap="square" rtlCol="0" anchor="ctr"/>
          <a:lstStyle/>
          <a:p>
            <a:pPr algn="ctr" indent="0" marL="0">
              <a:buNone/>
            </a:pPr>
            <a:r>
              <a:rPr lang="en-US" sz="800" b="1" dirty="0">
                <a:solidFill>
                  <a:srgbClr val="F7D447"/>
                </a:solidFill>
                <a:latin typeface="Calibri" pitchFamily="34" charset="0"/>
                <a:ea typeface="Calibri" pitchFamily="34" charset="-122"/>
                <a:cs typeface="Calibri" pitchFamily="34" charset="-120"/>
              </a:rPr>
              <a:t>Handle</a:t>
            </a:r>
            <a:endParaRPr lang="en-US" sz="800" dirty="0"/>
          </a:p>
        </p:txBody>
      </p:sp>
      <p:sp>
        <p:nvSpPr>
          <p:cNvPr id="17" name="Shape 15"/>
          <p:cNvSpPr/>
          <p:nvPr/>
        </p:nvSpPr>
        <p:spPr>
          <a:xfrm>
            <a:off x="5303520" y="1536192"/>
            <a:ext cx="1755648" cy="365760"/>
          </a:xfrm>
          <a:prstGeom prst="rect">
            <a:avLst/>
          </a:prstGeom>
          <a:solidFill>
            <a:srgbClr val="0F172A"/>
          </a:solidFill>
          <a:ln/>
        </p:spPr>
      </p:sp>
      <p:sp>
        <p:nvSpPr>
          <p:cNvPr id="18" name="Text 16"/>
          <p:cNvSpPr/>
          <p:nvPr/>
        </p:nvSpPr>
        <p:spPr>
          <a:xfrm>
            <a:off x="5340096" y="1536192"/>
            <a:ext cx="1682496" cy="365760"/>
          </a:xfrm>
          <a:prstGeom prst="rect">
            <a:avLst/>
          </a:prstGeom>
          <a:noFill/>
          <a:ln/>
        </p:spPr>
        <p:txBody>
          <a:bodyPr wrap="square" rtlCol="0" anchor="ctr"/>
          <a:lstStyle/>
          <a:p>
            <a:pPr algn="ctr" indent="0" marL="0">
              <a:buNone/>
            </a:pPr>
            <a:r>
              <a:rPr lang="en-US" sz="800" b="1" dirty="0">
                <a:solidFill>
                  <a:srgbClr val="F7D447"/>
                </a:solidFill>
                <a:latin typeface="Calibri" pitchFamily="34" charset="0"/>
                <a:ea typeface="Calibri" pitchFamily="34" charset="-122"/>
                <a:cs typeface="Calibri" pitchFamily="34" charset="-120"/>
              </a:rPr>
              <a:t>Twitter Followers</a:t>
            </a:r>
            <a:endParaRPr lang="en-US" sz="800" dirty="0"/>
          </a:p>
        </p:txBody>
      </p:sp>
      <p:sp>
        <p:nvSpPr>
          <p:cNvPr id="19" name="Shape 17"/>
          <p:cNvSpPr/>
          <p:nvPr/>
        </p:nvSpPr>
        <p:spPr>
          <a:xfrm>
            <a:off x="7086600" y="1536192"/>
            <a:ext cx="1481328" cy="365760"/>
          </a:xfrm>
          <a:prstGeom prst="rect">
            <a:avLst/>
          </a:prstGeom>
          <a:solidFill>
            <a:srgbClr val="0F172A"/>
          </a:solidFill>
          <a:ln/>
        </p:spPr>
      </p:sp>
      <p:sp>
        <p:nvSpPr>
          <p:cNvPr id="20" name="Text 18"/>
          <p:cNvSpPr/>
          <p:nvPr/>
        </p:nvSpPr>
        <p:spPr>
          <a:xfrm>
            <a:off x="7123176" y="1536192"/>
            <a:ext cx="1408176" cy="365760"/>
          </a:xfrm>
          <a:prstGeom prst="rect">
            <a:avLst/>
          </a:prstGeom>
          <a:noFill/>
          <a:ln/>
        </p:spPr>
        <p:txBody>
          <a:bodyPr wrap="square" rtlCol="0" anchor="ctr"/>
          <a:lstStyle/>
          <a:p>
            <a:pPr algn="ctr" indent="0" marL="0">
              <a:buNone/>
            </a:pPr>
            <a:r>
              <a:rPr lang="en-US" sz="800" b="1" dirty="0">
                <a:solidFill>
                  <a:srgbClr val="F7D447"/>
                </a:solidFill>
                <a:latin typeface="Calibri" pitchFamily="34" charset="0"/>
                <a:ea typeface="Calibri" pitchFamily="34" charset="-122"/>
                <a:cs typeface="Calibri" pitchFamily="34" charset="-120"/>
              </a:rPr>
              <a:t>Handle</a:t>
            </a:r>
            <a:endParaRPr lang="en-US" sz="800" dirty="0"/>
          </a:p>
        </p:txBody>
      </p:sp>
      <p:sp>
        <p:nvSpPr>
          <p:cNvPr id="21" name="Shape 19"/>
          <p:cNvSpPr/>
          <p:nvPr/>
        </p:nvSpPr>
        <p:spPr>
          <a:xfrm>
            <a:off x="8641080" y="1536192"/>
            <a:ext cx="914400" cy="365760"/>
          </a:xfrm>
          <a:prstGeom prst="rect">
            <a:avLst/>
          </a:prstGeom>
          <a:solidFill>
            <a:srgbClr val="0F172A"/>
          </a:solidFill>
          <a:ln/>
        </p:spPr>
      </p:sp>
      <p:sp>
        <p:nvSpPr>
          <p:cNvPr id="22" name="Text 20"/>
          <p:cNvSpPr/>
          <p:nvPr/>
        </p:nvSpPr>
        <p:spPr>
          <a:xfrm>
            <a:off x="8677656" y="1536192"/>
            <a:ext cx="841248" cy="365760"/>
          </a:xfrm>
          <a:prstGeom prst="rect">
            <a:avLst/>
          </a:prstGeom>
          <a:noFill/>
          <a:ln/>
        </p:spPr>
        <p:txBody>
          <a:bodyPr wrap="square" rtlCol="0" anchor="ctr"/>
          <a:lstStyle/>
          <a:p>
            <a:pPr algn="ctr" indent="0" marL="0">
              <a:buNone/>
            </a:pPr>
            <a:r>
              <a:rPr lang="en-US" sz="800" b="1" dirty="0">
                <a:solidFill>
                  <a:srgbClr val="F7D447"/>
                </a:solidFill>
                <a:latin typeface="Calibri" pitchFamily="34" charset="0"/>
                <a:ea typeface="Calibri" pitchFamily="34" charset="-122"/>
                <a:cs typeface="Calibri" pitchFamily="34" charset="-120"/>
              </a:rPr>
              <a:t>YouTube</a:t>
            </a:r>
            <a:endParaRPr lang="en-US" sz="800" dirty="0"/>
          </a:p>
        </p:txBody>
      </p:sp>
      <p:sp>
        <p:nvSpPr>
          <p:cNvPr id="23" name="Shape 21"/>
          <p:cNvSpPr/>
          <p:nvPr/>
        </p:nvSpPr>
        <p:spPr>
          <a:xfrm>
            <a:off x="9601200" y="1536192"/>
            <a:ext cx="841248" cy="365760"/>
          </a:xfrm>
          <a:prstGeom prst="rect">
            <a:avLst/>
          </a:prstGeom>
          <a:solidFill>
            <a:srgbClr val="0F172A"/>
          </a:solidFill>
          <a:ln/>
        </p:spPr>
      </p:sp>
      <p:sp>
        <p:nvSpPr>
          <p:cNvPr id="24" name="Text 22"/>
          <p:cNvSpPr/>
          <p:nvPr/>
        </p:nvSpPr>
        <p:spPr>
          <a:xfrm>
            <a:off x="9637776" y="1536192"/>
            <a:ext cx="768096" cy="365760"/>
          </a:xfrm>
          <a:prstGeom prst="rect">
            <a:avLst/>
          </a:prstGeom>
          <a:noFill/>
          <a:ln/>
        </p:spPr>
        <p:txBody>
          <a:bodyPr wrap="square" rtlCol="0" anchor="ctr"/>
          <a:lstStyle/>
          <a:p>
            <a:pPr algn="ctr" indent="0" marL="0">
              <a:buNone/>
            </a:pPr>
            <a:r>
              <a:rPr lang="en-US" sz="800" b="1" dirty="0">
                <a:solidFill>
                  <a:srgbClr val="F7D447"/>
                </a:solidFill>
                <a:latin typeface="Calibri" pitchFamily="34" charset="0"/>
                <a:ea typeface="Calibri" pitchFamily="34" charset="-122"/>
                <a:cs typeface="Calibri" pitchFamily="34" charset="-120"/>
              </a:rPr>
              <a:t>Posting Freq.</a:t>
            </a:r>
            <a:endParaRPr lang="en-US" sz="800" dirty="0"/>
          </a:p>
        </p:txBody>
      </p:sp>
      <p:sp>
        <p:nvSpPr>
          <p:cNvPr id="25" name="Shape 23"/>
          <p:cNvSpPr/>
          <p:nvPr/>
        </p:nvSpPr>
        <p:spPr>
          <a:xfrm>
            <a:off x="10469880" y="1536192"/>
            <a:ext cx="841248" cy="365760"/>
          </a:xfrm>
          <a:prstGeom prst="rect">
            <a:avLst/>
          </a:prstGeom>
          <a:solidFill>
            <a:srgbClr val="0F172A"/>
          </a:solidFill>
          <a:ln/>
        </p:spPr>
      </p:sp>
      <p:sp>
        <p:nvSpPr>
          <p:cNvPr id="26" name="Text 24"/>
          <p:cNvSpPr/>
          <p:nvPr/>
        </p:nvSpPr>
        <p:spPr>
          <a:xfrm>
            <a:off x="10506456" y="1536192"/>
            <a:ext cx="768096" cy="365760"/>
          </a:xfrm>
          <a:prstGeom prst="rect">
            <a:avLst/>
          </a:prstGeom>
          <a:noFill/>
          <a:ln/>
        </p:spPr>
        <p:txBody>
          <a:bodyPr wrap="square" rtlCol="0" anchor="ctr"/>
          <a:lstStyle/>
          <a:p>
            <a:pPr algn="ctr" indent="0" marL="0">
              <a:buNone/>
            </a:pPr>
            <a:r>
              <a:rPr lang="en-US" sz="800" b="1" dirty="0">
                <a:solidFill>
                  <a:srgbClr val="F7D447"/>
                </a:solidFill>
                <a:latin typeface="Calibri" pitchFamily="34" charset="0"/>
                <a:ea typeface="Calibri" pitchFamily="34" charset="-122"/>
                <a:cs typeface="Calibri" pitchFamily="34" charset="-120"/>
              </a:rPr>
              <a:t>Eng. Rate</a:t>
            </a:r>
            <a:endParaRPr lang="en-US" sz="800" dirty="0"/>
          </a:p>
        </p:txBody>
      </p:sp>
      <p:sp>
        <p:nvSpPr>
          <p:cNvPr id="27" name="Shape 25"/>
          <p:cNvSpPr/>
          <p:nvPr/>
        </p:nvSpPr>
        <p:spPr>
          <a:xfrm>
            <a:off x="11201400" y="1536192"/>
            <a:ext cx="914400" cy="365760"/>
          </a:xfrm>
          <a:prstGeom prst="rect">
            <a:avLst/>
          </a:prstGeom>
          <a:solidFill>
            <a:srgbClr val="0F172A"/>
          </a:solidFill>
          <a:ln/>
        </p:spPr>
      </p:sp>
      <p:sp>
        <p:nvSpPr>
          <p:cNvPr id="28" name="Text 26"/>
          <p:cNvSpPr/>
          <p:nvPr/>
        </p:nvSpPr>
        <p:spPr>
          <a:xfrm>
            <a:off x="11237976" y="1536192"/>
            <a:ext cx="841248" cy="365760"/>
          </a:xfrm>
          <a:prstGeom prst="rect">
            <a:avLst/>
          </a:prstGeom>
          <a:noFill/>
          <a:ln/>
        </p:spPr>
        <p:txBody>
          <a:bodyPr wrap="square" rtlCol="0" anchor="ctr"/>
          <a:lstStyle/>
          <a:p>
            <a:pPr algn="ctr" indent="0" marL="0">
              <a:buNone/>
            </a:pPr>
            <a:r>
              <a:rPr lang="en-US" sz="800" b="1" dirty="0">
                <a:solidFill>
                  <a:srgbClr val="F7D447"/>
                </a:solidFill>
                <a:latin typeface="Calibri" pitchFamily="34" charset="0"/>
                <a:ea typeface="Calibri" pitchFamily="34" charset="-122"/>
                <a:cs typeface="Calibri" pitchFamily="34" charset="-120"/>
              </a:rPr>
              <a:t>Source</a:t>
            </a:r>
            <a:endParaRPr lang="en-US" sz="800" dirty="0"/>
          </a:p>
        </p:txBody>
      </p:sp>
      <p:sp>
        <p:nvSpPr>
          <p:cNvPr id="29" name="Shape 27"/>
          <p:cNvSpPr/>
          <p:nvPr/>
        </p:nvSpPr>
        <p:spPr>
          <a:xfrm>
            <a:off x="274320" y="1993392"/>
            <a:ext cx="11887200" cy="658368"/>
          </a:xfrm>
          <a:prstGeom prst="rect">
            <a:avLst/>
          </a:prstGeom>
          <a:solidFill>
            <a:srgbClr val="FFFFFF"/>
          </a:solidFill>
          <a:ln/>
        </p:spPr>
      </p:sp>
      <p:sp>
        <p:nvSpPr>
          <p:cNvPr id="30" name="Shape 28"/>
          <p:cNvSpPr/>
          <p:nvPr/>
        </p:nvSpPr>
        <p:spPr>
          <a:xfrm>
            <a:off x="274320" y="1993392"/>
            <a:ext cx="64008" cy="658368"/>
          </a:xfrm>
          <a:prstGeom prst="rect">
            <a:avLst/>
          </a:prstGeom>
          <a:solidFill>
            <a:srgbClr val="E50914"/>
          </a:solidFill>
          <a:ln/>
        </p:spPr>
      </p:sp>
      <p:sp>
        <p:nvSpPr>
          <p:cNvPr id="31" name="Text 29"/>
          <p:cNvSpPr/>
          <p:nvPr/>
        </p:nvSpPr>
        <p:spPr>
          <a:xfrm>
            <a:off x="384048" y="2121408"/>
            <a:ext cx="1344168" cy="402336"/>
          </a:xfrm>
          <a:prstGeom prst="rect">
            <a:avLst/>
          </a:prstGeom>
          <a:noFill/>
          <a:ln/>
        </p:spPr>
        <p:txBody>
          <a:bodyPr wrap="square" rtlCol="0" anchor="ctr"/>
          <a:lstStyle/>
          <a:p>
            <a:pPr algn="l" indent="0" marL="0">
              <a:buNone/>
            </a:pPr>
            <a:r>
              <a:rPr lang="en-US" sz="900" b="1" dirty="0">
                <a:solidFill>
                  <a:srgbClr val="0F172A"/>
                </a:solidFill>
                <a:latin typeface="Calibri" pitchFamily="34" charset="0"/>
                <a:ea typeface="Calibri" pitchFamily="34" charset="-122"/>
                <a:cs typeface="Calibri" pitchFamily="34" charset="-120"/>
              </a:rPr>
              <a:t>Netflix India</a:t>
            </a:r>
            <a:endParaRPr lang="en-US" sz="900" dirty="0"/>
          </a:p>
        </p:txBody>
      </p:sp>
      <p:sp>
        <p:nvSpPr>
          <p:cNvPr id="32" name="Text 30"/>
          <p:cNvSpPr/>
          <p:nvPr/>
        </p:nvSpPr>
        <p:spPr>
          <a:xfrm>
            <a:off x="1773936" y="2121408"/>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14M</a:t>
            </a:r>
            <a:endParaRPr lang="en-US" sz="800" dirty="0"/>
          </a:p>
        </p:txBody>
      </p:sp>
      <p:sp>
        <p:nvSpPr>
          <p:cNvPr id="33" name="Text 31"/>
          <p:cNvSpPr/>
          <p:nvPr/>
        </p:nvSpPr>
        <p:spPr>
          <a:xfrm>
            <a:off x="3557016" y="2121408"/>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@netflix_in</a:t>
            </a:r>
            <a:endParaRPr lang="en-US" sz="800" dirty="0"/>
          </a:p>
        </p:txBody>
      </p:sp>
      <p:sp>
        <p:nvSpPr>
          <p:cNvPr id="34" name="Text 32"/>
          <p:cNvSpPr/>
          <p:nvPr/>
        </p:nvSpPr>
        <p:spPr>
          <a:xfrm>
            <a:off x="5340096" y="2121408"/>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8.8M</a:t>
            </a:r>
            <a:endParaRPr lang="en-US" sz="800" dirty="0"/>
          </a:p>
        </p:txBody>
      </p:sp>
      <p:sp>
        <p:nvSpPr>
          <p:cNvPr id="35" name="Text 33"/>
          <p:cNvSpPr/>
          <p:nvPr/>
        </p:nvSpPr>
        <p:spPr>
          <a:xfrm>
            <a:off x="7123176" y="2121408"/>
            <a:ext cx="140817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@NetflixIndia</a:t>
            </a:r>
            <a:endParaRPr lang="en-US" sz="800" dirty="0"/>
          </a:p>
        </p:txBody>
      </p:sp>
      <p:sp>
        <p:nvSpPr>
          <p:cNvPr id="36" name="Text 34"/>
          <p:cNvSpPr/>
          <p:nvPr/>
        </p:nvSpPr>
        <p:spPr>
          <a:xfrm>
            <a:off x="8677656" y="2121408"/>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~9M</a:t>
            </a:r>
            <a:endParaRPr lang="en-US" sz="800" dirty="0"/>
          </a:p>
        </p:txBody>
      </p:sp>
      <p:sp>
        <p:nvSpPr>
          <p:cNvPr id="37" name="Text 35"/>
          <p:cNvSpPr/>
          <p:nvPr/>
        </p:nvSpPr>
        <p:spPr>
          <a:xfrm>
            <a:off x="9637776" y="2121408"/>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Daily</a:t>
            </a:r>
            <a:endParaRPr lang="en-US" sz="800" dirty="0"/>
          </a:p>
        </p:txBody>
      </p:sp>
      <p:sp>
        <p:nvSpPr>
          <p:cNvPr id="38" name="Text 36"/>
          <p:cNvSpPr/>
          <p:nvPr/>
        </p:nvSpPr>
        <p:spPr>
          <a:xfrm>
            <a:off x="10506456" y="2121408"/>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5.9%</a:t>
            </a:r>
            <a:endParaRPr lang="en-US" sz="800" dirty="0"/>
          </a:p>
        </p:txBody>
      </p:sp>
      <p:sp>
        <p:nvSpPr>
          <p:cNvPr id="39" name="Text 37"/>
          <p:cNvSpPr/>
          <p:nvPr/>
        </p:nvSpPr>
        <p:spPr>
          <a:xfrm>
            <a:off x="11237976" y="2121408"/>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instagram.com/netflix_in</a:t>
            </a:r>
            <a:endParaRPr lang="en-US" sz="800" dirty="0"/>
          </a:p>
        </p:txBody>
      </p:sp>
      <p:sp>
        <p:nvSpPr>
          <p:cNvPr id="40" name="Shape 38"/>
          <p:cNvSpPr/>
          <p:nvPr/>
        </p:nvSpPr>
        <p:spPr>
          <a:xfrm>
            <a:off x="274320" y="2706624"/>
            <a:ext cx="11887200" cy="658368"/>
          </a:xfrm>
          <a:prstGeom prst="rect">
            <a:avLst/>
          </a:prstGeom>
          <a:solidFill>
            <a:srgbClr val="F8FAFC"/>
          </a:solidFill>
          <a:ln/>
        </p:spPr>
      </p:sp>
      <p:sp>
        <p:nvSpPr>
          <p:cNvPr id="41" name="Shape 39"/>
          <p:cNvSpPr/>
          <p:nvPr/>
        </p:nvSpPr>
        <p:spPr>
          <a:xfrm>
            <a:off x="274320" y="2706624"/>
            <a:ext cx="64008" cy="658368"/>
          </a:xfrm>
          <a:prstGeom prst="rect">
            <a:avLst/>
          </a:prstGeom>
          <a:solidFill>
            <a:srgbClr val="1F80E0"/>
          </a:solidFill>
          <a:ln/>
        </p:spPr>
      </p:sp>
      <p:sp>
        <p:nvSpPr>
          <p:cNvPr id="42" name="Text 40"/>
          <p:cNvSpPr/>
          <p:nvPr/>
        </p:nvSpPr>
        <p:spPr>
          <a:xfrm>
            <a:off x="384048" y="2834640"/>
            <a:ext cx="1344168" cy="402336"/>
          </a:xfrm>
          <a:prstGeom prst="rect">
            <a:avLst/>
          </a:prstGeom>
          <a:noFill/>
          <a:ln/>
        </p:spPr>
        <p:txBody>
          <a:bodyPr wrap="square" rtlCol="0" anchor="ctr"/>
          <a:lstStyle/>
          <a:p>
            <a:pPr algn="l" indent="0" marL="0">
              <a:buNone/>
            </a:pPr>
            <a:r>
              <a:rPr lang="en-US" sz="900" b="1" dirty="0">
                <a:solidFill>
                  <a:srgbClr val="0F172A"/>
                </a:solidFill>
                <a:latin typeface="Calibri" pitchFamily="34" charset="0"/>
                <a:ea typeface="Calibri" pitchFamily="34" charset="-122"/>
                <a:cs typeface="Calibri" pitchFamily="34" charset="-120"/>
              </a:rPr>
              <a:t>JioHotstar</a:t>
            </a:r>
            <a:endParaRPr lang="en-US" sz="900" dirty="0"/>
          </a:p>
        </p:txBody>
      </p:sp>
      <p:sp>
        <p:nvSpPr>
          <p:cNvPr id="43" name="Text 41"/>
          <p:cNvSpPr/>
          <p:nvPr/>
        </p:nvSpPr>
        <p:spPr>
          <a:xfrm>
            <a:off x="1773936" y="2834640"/>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4M (+sub-brands: +5M)</a:t>
            </a:r>
            <a:endParaRPr lang="en-US" sz="800" dirty="0"/>
          </a:p>
        </p:txBody>
      </p:sp>
      <p:sp>
        <p:nvSpPr>
          <p:cNvPr id="44" name="Text 42"/>
          <p:cNvSpPr/>
          <p:nvPr/>
        </p:nvSpPr>
        <p:spPr>
          <a:xfrm>
            <a:off x="3557016" y="2834640"/>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@jiohotstar</a:t>
            </a:r>
            <a:endParaRPr lang="en-US" sz="800" dirty="0"/>
          </a:p>
        </p:txBody>
      </p:sp>
      <p:sp>
        <p:nvSpPr>
          <p:cNvPr id="45" name="Text 43"/>
          <p:cNvSpPr/>
          <p:nvPr/>
        </p:nvSpPr>
        <p:spPr>
          <a:xfrm>
            <a:off x="5340096" y="2834640"/>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~3.5M</a:t>
            </a:r>
            <a:endParaRPr lang="en-US" sz="800" dirty="0"/>
          </a:p>
        </p:txBody>
      </p:sp>
      <p:sp>
        <p:nvSpPr>
          <p:cNvPr id="46" name="Text 44"/>
          <p:cNvSpPr/>
          <p:nvPr/>
        </p:nvSpPr>
        <p:spPr>
          <a:xfrm>
            <a:off x="7123176" y="2834640"/>
            <a:ext cx="140817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@JioHotstar</a:t>
            </a:r>
            <a:endParaRPr lang="en-US" sz="800" dirty="0"/>
          </a:p>
        </p:txBody>
      </p:sp>
      <p:sp>
        <p:nvSpPr>
          <p:cNvPr id="47" name="Text 45"/>
          <p:cNvSpPr/>
          <p:nvPr/>
        </p:nvSpPr>
        <p:spPr>
          <a:xfrm>
            <a:off x="8677656" y="2834640"/>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~6M</a:t>
            </a:r>
            <a:endParaRPr lang="en-US" sz="800" dirty="0"/>
          </a:p>
        </p:txBody>
      </p:sp>
      <p:sp>
        <p:nvSpPr>
          <p:cNvPr id="48" name="Text 46"/>
          <p:cNvSpPr/>
          <p:nvPr/>
        </p:nvSpPr>
        <p:spPr>
          <a:xfrm>
            <a:off x="9637776" y="2834640"/>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Multiple/day</a:t>
            </a:r>
            <a:endParaRPr lang="en-US" sz="800" dirty="0"/>
          </a:p>
        </p:txBody>
      </p:sp>
      <p:sp>
        <p:nvSpPr>
          <p:cNvPr id="49" name="Text 47"/>
          <p:cNvSpPr/>
          <p:nvPr/>
        </p:nvSpPr>
        <p:spPr>
          <a:xfrm>
            <a:off x="10506456" y="2834640"/>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4.8%</a:t>
            </a:r>
            <a:endParaRPr lang="en-US" sz="800" dirty="0"/>
          </a:p>
        </p:txBody>
      </p:sp>
      <p:sp>
        <p:nvSpPr>
          <p:cNvPr id="50" name="Text 48"/>
          <p:cNvSpPr/>
          <p:nvPr/>
        </p:nvSpPr>
        <p:spPr>
          <a:xfrm>
            <a:off x="11237976" y="2834640"/>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instagram.com/jiohotstar</a:t>
            </a:r>
            <a:endParaRPr lang="en-US" sz="800" dirty="0"/>
          </a:p>
        </p:txBody>
      </p:sp>
      <p:sp>
        <p:nvSpPr>
          <p:cNvPr id="51" name="Shape 49"/>
          <p:cNvSpPr/>
          <p:nvPr/>
        </p:nvSpPr>
        <p:spPr>
          <a:xfrm>
            <a:off x="274320" y="3419856"/>
            <a:ext cx="11887200" cy="658368"/>
          </a:xfrm>
          <a:prstGeom prst="rect">
            <a:avLst/>
          </a:prstGeom>
          <a:solidFill>
            <a:srgbClr val="FFFFFF"/>
          </a:solidFill>
          <a:ln/>
        </p:spPr>
      </p:sp>
      <p:sp>
        <p:nvSpPr>
          <p:cNvPr id="52" name="Shape 50"/>
          <p:cNvSpPr/>
          <p:nvPr/>
        </p:nvSpPr>
        <p:spPr>
          <a:xfrm>
            <a:off x="274320" y="3419856"/>
            <a:ext cx="64008" cy="658368"/>
          </a:xfrm>
          <a:prstGeom prst="rect">
            <a:avLst/>
          </a:prstGeom>
          <a:solidFill>
            <a:srgbClr val="00A8E1"/>
          </a:solidFill>
          <a:ln/>
        </p:spPr>
      </p:sp>
      <p:sp>
        <p:nvSpPr>
          <p:cNvPr id="53" name="Text 51"/>
          <p:cNvSpPr/>
          <p:nvPr/>
        </p:nvSpPr>
        <p:spPr>
          <a:xfrm>
            <a:off x="384048" y="3547872"/>
            <a:ext cx="1344168" cy="402336"/>
          </a:xfrm>
          <a:prstGeom prst="rect">
            <a:avLst/>
          </a:prstGeom>
          <a:noFill/>
          <a:ln/>
        </p:spPr>
        <p:txBody>
          <a:bodyPr wrap="square" rtlCol="0" anchor="ctr"/>
          <a:lstStyle/>
          <a:p>
            <a:pPr algn="l" indent="0" marL="0">
              <a:buNone/>
            </a:pPr>
            <a:r>
              <a:rPr lang="en-US" sz="900" b="1" dirty="0">
                <a:solidFill>
                  <a:srgbClr val="0F172A"/>
                </a:solidFill>
                <a:latin typeface="Calibri" pitchFamily="34" charset="0"/>
                <a:ea typeface="Calibri" pitchFamily="34" charset="-122"/>
                <a:cs typeface="Calibri" pitchFamily="34" charset="-120"/>
              </a:rPr>
              <a:t>Amazon Prime Video IN</a:t>
            </a:r>
            <a:endParaRPr lang="en-US" sz="900" dirty="0"/>
          </a:p>
        </p:txBody>
      </p:sp>
      <p:sp>
        <p:nvSpPr>
          <p:cNvPr id="54" name="Text 52"/>
          <p:cNvSpPr/>
          <p:nvPr/>
        </p:nvSpPr>
        <p:spPr>
          <a:xfrm>
            <a:off x="1773936" y="3547872"/>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8M</a:t>
            </a:r>
            <a:endParaRPr lang="en-US" sz="800" dirty="0"/>
          </a:p>
        </p:txBody>
      </p:sp>
      <p:sp>
        <p:nvSpPr>
          <p:cNvPr id="55" name="Text 53"/>
          <p:cNvSpPr/>
          <p:nvPr/>
        </p:nvSpPr>
        <p:spPr>
          <a:xfrm>
            <a:off x="3557016" y="3547872"/>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@primevideoin</a:t>
            </a:r>
            <a:endParaRPr lang="en-US" sz="800" dirty="0"/>
          </a:p>
        </p:txBody>
      </p:sp>
      <p:sp>
        <p:nvSpPr>
          <p:cNvPr id="56" name="Text 54"/>
          <p:cNvSpPr/>
          <p:nvPr/>
        </p:nvSpPr>
        <p:spPr>
          <a:xfrm>
            <a:off x="5340096" y="3547872"/>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~2.8M</a:t>
            </a:r>
            <a:endParaRPr lang="en-US" sz="800" dirty="0"/>
          </a:p>
        </p:txBody>
      </p:sp>
      <p:sp>
        <p:nvSpPr>
          <p:cNvPr id="57" name="Text 55"/>
          <p:cNvSpPr/>
          <p:nvPr/>
        </p:nvSpPr>
        <p:spPr>
          <a:xfrm>
            <a:off x="7123176" y="3547872"/>
            <a:ext cx="140817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@PrimeVideoIN</a:t>
            </a:r>
            <a:endParaRPr lang="en-US" sz="800" dirty="0"/>
          </a:p>
        </p:txBody>
      </p:sp>
      <p:sp>
        <p:nvSpPr>
          <p:cNvPr id="58" name="Text 56"/>
          <p:cNvSpPr/>
          <p:nvPr/>
        </p:nvSpPr>
        <p:spPr>
          <a:xfrm>
            <a:off x="8677656" y="3547872"/>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~4.5M</a:t>
            </a:r>
            <a:endParaRPr lang="en-US" sz="800" dirty="0"/>
          </a:p>
        </p:txBody>
      </p:sp>
      <p:sp>
        <p:nvSpPr>
          <p:cNvPr id="59" name="Text 57"/>
          <p:cNvSpPr/>
          <p:nvPr/>
        </p:nvSpPr>
        <p:spPr>
          <a:xfrm>
            <a:off x="9637776" y="3547872"/>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Daily</a:t>
            </a:r>
            <a:endParaRPr lang="en-US" sz="800" dirty="0"/>
          </a:p>
        </p:txBody>
      </p:sp>
      <p:sp>
        <p:nvSpPr>
          <p:cNvPr id="60" name="Text 58"/>
          <p:cNvSpPr/>
          <p:nvPr/>
        </p:nvSpPr>
        <p:spPr>
          <a:xfrm>
            <a:off x="10506456" y="3547872"/>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4.2%</a:t>
            </a:r>
            <a:endParaRPr lang="en-US" sz="800" dirty="0"/>
          </a:p>
        </p:txBody>
      </p:sp>
      <p:sp>
        <p:nvSpPr>
          <p:cNvPr id="61" name="Text 59"/>
          <p:cNvSpPr/>
          <p:nvPr/>
        </p:nvSpPr>
        <p:spPr>
          <a:xfrm>
            <a:off x="11237976" y="3547872"/>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instagram.com/primevideoin</a:t>
            </a:r>
            <a:endParaRPr lang="en-US" sz="800" dirty="0"/>
          </a:p>
        </p:txBody>
      </p:sp>
      <p:sp>
        <p:nvSpPr>
          <p:cNvPr id="62" name="Shape 60"/>
          <p:cNvSpPr/>
          <p:nvPr/>
        </p:nvSpPr>
        <p:spPr>
          <a:xfrm>
            <a:off x="274320" y="4133088"/>
            <a:ext cx="11887200" cy="658368"/>
          </a:xfrm>
          <a:prstGeom prst="rect">
            <a:avLst/>
          </a:prstGeom>
          <a:solidFill>
            <a:srgbClr val="F8FAFC"/>
          </a:solidFill>
          <a:ln/>
        </p:spPr>
      </p:sp>
      <p:sp>
        <p:nvSpPr>
          <p:cNvPr id="63" name="Shape 61"/>
          <p:cNvSpPr/>
          <p:nvPr/>
        </p:nvSpPr>
        <p:spPr>
          <a:xfrm>
            <a:off x="274320" y="4133088"/>
            <a:ext cx="64008" cy="658368"/>
          </a:xfrm>
          <a:prstGeom prst="rect">
            <a:avLst/>
          </a:prstGeom>
          <a:solidFill>
            <a:srgbClr val="7C3AED"/>
          </a:solidFill>
          <a:ln/>
        </p:spPr>
      </p:sp>
      <p:sp>
        <p:nvSpPr>
          <p:cNvPr id="64" name="Text 62"/>
          <p:cNvSpPr/>
          <p:nvPr/>
        </p:nvSpPr>
        <p:spPr>
          <a:xfrm>
            <a:off x="384048" y="4261104"/>
            <a:ext cx="1344168" cy="402336"/>
          </a:xfrm>
          <a:prstGeom prst="rect">
            <a:avLst/>
          </a:prstGeom>
          <a:noFill/>
          <a:ln/>
        </p:spPr>
        <p:txBody>
          <a:bodyPr wrap="square" rtlCol="0" anchor="ctr"/>
          <a:lstStyle/>
          <a:p>
            <a:pPr algn="l" indent="0" marL="0">
              <a:buNone/>
            </a:pPr>
            <a:r>
              <a:rPr lang="en-US" sz="900" b="1" dirty="0">
                <a:solidFill>
                  <a:srgbClr val="0F172A"/>
                </a:solidFill>
                <a:latin typeface="Calibri" pitchFamily="34" charset="0"/>
                <a:ea typeface="Calibri" pitchFamily="34" charset="-122"/>
                <a:cs typeface="Calibri" pitchFamily="34" charset="-120"/>
              </a:rPr>
              <a:t>ZEE5</a:t>
            </a:r>
            <a:endParaRPr lang="en-US" sz="900" dirty="0"/>
          </a:p>
        </p:txBody>
      </p:sp>
      <p:sp>
        <p:nvSpPr>
          <p:cNvPr id="65" name="Text 63"/>
          <p:cNvSpPr/>
          <p:nvPr/>
        </p:nvSpPr>
        <p:spPr>
          <a:xfrm>
            <a:off x="1773936" y="4261104"/>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2M (+Tamil 2M, Telugu 1M)</a:t>
            </a:r>
            <a:endParaRPr lang="en-US" sz="800" dirty="0"/>
          </a:p>
        </p:txBody>
      </p:sp>
      <p:sp>
        <p:nvSpPr>
          <p:cNvPr id="66" name="Text 64"/>
          <p:cNvSpPr/>
          <p:nvPr/>
        </p:nvSpPr>
        <p:spPr>
          <a:xfrm>
            <a:off x="3557016" y="4261104"/>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@zee5</a:t>
            </a:r>
            <a:endParaRPr lang="en-US" sz="800" dirty="0"/>
          </a:p>
        </p:txBody>
      </p:sp>
      <p:sp>
        <p:nvSpPr>
          <p:cNvPr id="67" name="Text 65"/>
          <p:cNvSpPr/>
          <p:nvPr/>
        </p:nvSpPr>
        <p:spPr>
          <a:xfrm>
            <a:off x="5340096" y="4261104"/>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~1.8M</a:t>
            </a:r>
            <a:endParaRPr lang="en-US" sz="800" dirty="0"/>
          </a:p>
        </p:txBody>
      </p:sp>
      <p:sp>
        <p:nvSpPr>
          <p:cNvPr id="68" name="Text 66"/>
          <p:cNvSpPr/>
          <p:nvPr/>
        </p:nvSpPr>
        <p:spPr>
          <a:xfrm>
            <a:off x="7123176" y="4261104"/>
            <a:ext cx="140817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@ZEE5</a:t>
            </a:r>
            <a:endParaRPr lang="en-US" sz="800" dirty="0"/>
          </a:p>
        </p:txBody>
      </p:sp>
      <p:sp>
        <p:nvSpPr>
          <p:cNvPr id="69" name="Text 67"/>
          <p:cNvSpPr/>
          <p:nvPr/>
        </p:nvSpPr>
        <p:spPr>
          <a:xfrm>
            <a:off x="8677656" y="4261104"/>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~2.5M</a:t>
            </a:r>
            <a:endParaRPr lang="en-US" sz="800" dirty="0"/>
          </a:p>
        </p:txBody>
      </p:sp>
      <p:sp>
        <p:nvSpPr>
          <p:cNvPr id="70" name="Text 68"/>
          <p:cNvSpPr/>
          <p:nvPr/>
        </p:nvSpPr>
        <p:spPr>
          <a:xfrm>
            <a:off x="9637776" y="4261104"/>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Daily</a:t>
            </a:r>
            <a:endParaRPr lang="en-US" sz="800" dirty="0"/>
          </a:p>
        </p:txBody>
      </p:sp>
      <p:sp>
        <p:nvSpPr>
          <p:cNvPr id="71" name="Text 69"/>
          <p:cNvSpPr/>
          <p:nvPr/>
        </p:nvSpPr>
        <p:spPr>
          <a:xfrm>
            <a:off x="10506456" y="4261104"/>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3.1%</a:t>
            </a:r>
            <a:endParaRPr lang="en-US" sz="800" dirty="0"/>
          </a:p>
        </p:txBody>
      </p:sp>
      <p:sp>
        <p:nvSpPr>
          <p:cNvPr id="72" name="Text 70"/>
          <p:cNvSpPr/>
          <p:nvPr/>
        </p:nvSpPr>
        <p:spPr>
          <a:xfrm>
            <a:off x="11237976" y="4261104"/>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instagram.com/zee5</a:t>
            </a:r>
            <a:endParaRPr lang="en-US" sz="800" dirty="0"/>
          </a:p>
        </p:txBody>
      </p:sp>
      <p:sp>
        <p:nvSpPr>
          <p:cNvPr id="73" name="Shape 71"/>
          <p:cNvSpPr/>
          <p:nvPr/>
        </p:nvSpPr>
        <p:spPr>
          <a:xfrm>
            <a:off x="274320" y="4846320"/>
            <a:ext cx="11887200" cy="658368"/>
          </a:xfrm>
          <a:prstGeom prst="rect">
            <a:avLst/>
          </a:prstGeom>
          <a:solidFill>
            <a:srgbClr val="FFFFFF"/>
          </a:solidFill>
          <a:ln/>
        </p:spPr>
      </p:sp>
      <p:sp>
        <p:nvSpPr>
          <p:cNvPr id="74" name="Shape 72"/>
          <p:cNvSpPr/>
          <p:nvPr/>
        </p:nvSpPr>
        <p:spPr>
          <a:xfrm>
            <a:off x="274320" y="4846320"/>
            <a:ext cx="64008" cy="658368"/>
          </a:xfrm>
          <a:prstGeom prst="rect">
            <a:avLst/>
          </a:prstGeom>
          <a:solidFill>
            <a:srgbClr val="DC2626"/>
          </a:solidFill>
          <a:ln/>
        </p:spPr>
      </p:sp>
      <p:sp>
        <p:nvSpPr>
          <p:cNvPr id="75" name="Text 73"/>
          <p:cNvSpPr/>
          <p:nvPr/>
        </p:nvSpPr>
        <p:spPr>
          <a:xfrm>
            <a:off x="384048" y="4974336"/>
            <a:ext cx="1344168" cy="402336"/>
          </a:xfrm>
          <a:prstGeom prst="rect">
            <a:avLst/>
          </a:prstGeom>
          <a:noFill/>
          <a:ln/>
        </p:spPr>
        <p:txBody>
          <a:bodyPr wrap="square" rtlCol="0" anchor="ctr"/>
          <a:lstStyle/>
          <a:p>
            <a:pPr algn="l" indent="0" marL="0">
              <a:buNone/>
            </a:pPr>
            <a:r>
              <a:rPr lang="en-US" sz="900" b="1" dirty="0">
                <a:solidFill>
                  <a:srgbClr val="0F172A"/>
                </a:solidFill>
                <a:latin typeface="Calibri" pitchFamily="34" charset="0"/>
                <a:ea typeface="Calibri" pitchFamily="34" charset="-122"/>
                <a:cs typeface="Calibri" pitchFamily="34" charset="-120"/>
              </a:rPr>
              <a:t>SonyLIV (India)</a:t>
            </a:r>
            <a:endParaRPr lang="en-US" sz="900" dirty="0"/>
          </a:p>
        </p:txBody>
      </p:sp>
      <p:sp>
        <p:nvSpPr>
          <p:cNvPr id="76" name="Text 74"/>
          <p:cNvSpPr/>
          <p:nvPr/>
        </p:nvSpPr>
        <p:spPr>
          <a:xfrm>
            <a:off x="1773936" y="4974336"/>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2M</a:t>
            </a:r>
            <a:endParaRPr lang="en-US" sz="800" dirty="0"/>
          </a:p>
        </p:txBody>
      </p:sp>
      <p:sp>
        <p:nvSpPr>
          <p:cNvPr id="77" name="Text 75"/>
          <p:cNvSpPr/>
          <p:nvPr/>
        </p:nvSpPr>
        <p:spPr>
          <a:xfrm>
            <a:off x="3557016" y="4974336"/>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@sonylivindia</a:t>
            </a:r>
            <a:endParaRPr lang="en-US" sz="800" dirty="0"/>
          </a:p>
        </p:txBody>
      </p:sp>
      <p:sp>
        <p:nvSpPr>
          <p:cNvPr id="78" name="Text 76"/>
          <p:cNvSpPr/>
          <p:nvPr/>
        </p:nvSpPr>
        <p:spPr>
          <a:xfrm>
            <a:off x="5340096" y="4974336"/>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~1.2M</a:t>
            </a:r>
            <a:endParaRPr lang="en-US" sz="800" dirty="0"/>
          </a:p>
        </p:txBody>
      </p:sp>
      <p:sp>
        <p:nvSpPr>
          <p:cNvPr id="79" name="Text 77"/>
          <p:cNvSpPr/>
          <p:nvPr/>
        </p:nvSpPr>
        <p:spPr>
          <a:xfrm>
            <a:off x="7123176" y="4974336"/>
            <a:ext cx="140817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@SonyLIV</a:t>
            </a:r>
            <a:endParaRPr lang="en-US" sz="800" dirty="0"/>
          </a:p>
        </p:txBody>
      </p:sp>
      <p:sp>
        <p:nvSpPr>
          <p:cNvPr id="80" name="Text 78"/>
          <p:cNvSpPr/>
          <p:nvPr/>
        </p:nvSpPr>
        <p:spPr>
          <a:xfrm>
            <a:off x="8677656" y="4974336"/>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~2M</a:t>
            </a:r>
            <a:endParaRPr lang="en-US" sz="800" dirty="0"/>
          </a:p>
        </p:txBody>
      </p:sp>
      <p:sp>
        <p:nvSpPr>
          <p:cNvPr id="81" name="Text 79"/>
          <p:cNvSpPr/>
          <p:nvPr/>
        </p:nvSpPr>
        <p:spPr>
          <a:xfrm>
            <a:off x="9637776" y="4974336"/>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Daily</a:t>
            </a:r>
            <a:endParaRPr lang="en-US" sz="800" dirty="0"/>
          </a:p>
        </p:txBody>
      </p:sp>
      <p:sp>
        <p:nvSpPr>
          <p:cNvPr id="82" name="Text 80"/>
          <p:cNvSpPr/>
          <p:nvPr/>
        </p:nvSpPr>
        <p:spPr>
          <a:xfrm>
            <a:off x="10506456" y="4974336"/>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2.8%</a:t>
            </a:r>
            <a:endParaRPr lang="en-US" sz="800" dirty="0"/>
          </a:p>
        </p:txBody>
      </p:sp>
      <p:sp>
        <p:nvSpPr>
          <p:cNvPr id="83" name="Text 81"/>
          <p:cNvSpPr/>
          <p:nvPr/>
        </p:nvSpPr>
        <p:spPr>
          <a:xfrm>
            <a:off x="11237976" y="4974336"/>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instagram.com/sonylivindia</a:t>
            </a:r>
            <a:endParaRPr lang="en-US" sz="800" dirty="0"/>
          </a:p>
        </p:txBody>
      </p:sp>
      <p:sp>
        <p:nvSpPr>
          <p:cNvPr id="84" name="Shape 82"/>
          <p:cNvSpPr/>
          <p:nvPr/>
        </p:nvSpPr>
        <p:spPr>
          <a:xfrm>
            <a:off x="274320" y="5559552"/>
            <a:ext cx="11887200" cy="658368"/>
          </a:xfrm>
          <a:prstGeom prst="rect">
            <a:avLst/>
          </a:prstGeom>
          <a:solidFill>
            <a:srgbClr val="F8FAFC"/>
          </a:solidFill>
          <a:ln/>
        </p:spPr>
      </p:sp>
      <p:sp>
        <p:nvSpPr>
          <p:cNvPr id="85" name="Shape 83"/>
          <p:cNvSpPr/>
          <p:nvPr/>
        </p:nvSpPr>
        <p:spPr>
          <a:xfrm>
            <a:off x="274320" y="5559552"/>
            <a:ext cx="64008" cy="658368"/>
          </a:xfrm>
          <a:prstGeom prst="rect">
            <a:avLst/>
          </a:prstGeom>
          <a:solidFill>
            <a:srgbClr val="D4A800"/>
          </a:solidFill>
          <a:ln/>
        </p:spPr>
      </p:sp>
      <p:sp>
        <p:nvSpPr>
          <p:cNvPr id="86" name="Text 84"/>
          <p:cNvSpPr/>
          <p:nvPr/>
        </p:nvSpPr>
        <p:spPr>
          <a:xfrm>
            <a:off x="384048" y="5687568"/>
            <a:ext cx="1344168" cy="402336"/>
          </a:xfrm>
          <a:prstGeom prst="rect">
            <a:avLst/>
          </a:prstGeom>
          <a:noFill/>
          <a:ln/>
        </p:spPr>
        <p:txBody>
          <a:bodyPr wrap="square" rtlCol="0" anchor="ctr"/>
          <a:lstStyle/>
          <a:p>
            <a:pPr algn="l" indent="0" marL="0">
              <a:buNone/>
            </a:pPr>
            <a:r>
              <a:rPr lang="en-US" sz="900" b="1" dirty="0">
                <a:solidFill>
                  <a:srgbClr val="0F172A"/>
                </a:solidFill>
                <a:latin typeface="Calibri" pitchFamily="34" charset="0"/>
                <a:ea typeface="Calibri" pitchFamily="34" charset="-122"/>
                <a:cs typeface="Calibri" pitchFamily="34" charset="-120"/>
              </a:rPr>
              <a:t>DAZN (Global — no India handle)</a:t>
            </a:r>
            <a:endParaRPr lang="en-US" sz="900" dirty="0"/>
          </a:p>
        </p:txBody>
      </p:sp>
      <p:sp>
        <p:nvSpPr>
          <p:cNvPr id="87" name="Text 85"/>
          <p:cNvSpPr/>
          <p:nvPr/>
        </p:nvSpPr>
        <p:spPr>
          <a:xfrm>
            <a:off x="1773936" y="5687568"/>
            <a:ext cx="1682496" cy="402336"/>
          </a:xfrm>
          <a:prstGeom prst="rect">
            <a:avLst/>
          </a:prstGeom>
          <a:noFill/>
          <a:ln/>
        </p:spPr>
        <p:txBody>
          <a:bodyPr wrap="square"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218K global</a:t>
            </a:r>
            <a:endParaRPr lang="en-US" sz="800" dirty="0"/>
          </a:p>
        </p:txBody>
      </p:sp>
      <p:sp>
        <p:nvSpPr>
          <p:cNvPr id="88" name="Text 86"/>
          <p:cNvSpPr/>
          <p:nvPr/>
        </p:nvSpPr>
        <p:spPr>
          <a:xfrm>
            <a:off x="3557016" y="5687568"/>
            <a:ext cx="16824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@dazn (global)</a:t>
            </a:r>
            <a:endParaRPr lang="en-US" sz="800" dirty="0"/>
          </a:p>
        </p:txBody>
      </p:sp>
      <p:sp>
        <p:nvSpPr>
          <p:cNvPr id="89" name="Text 87"/>
          <p:cNvSpPr/>
          <p:nvPr/>
        </p:nvSpPr>
        <p:spPr>
          <a:xfrm>
            <a:off x="5340096" y="5687568"/>
            <a:ext cx="1682496" cy="402336"/>
          </a:xfrm>
          <a:prstGeom prst="rect">
            <a:avLst/>
          </a:prstGeom>
          <a:noFill/>
          <a:ln/>
        </p:spPr>
        <p:txBody>
          <a:bodyPr wrap="square"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No India handle</a:t>
            </a:r>
            <a:endParaRPr lang="en-US" sz="800" dirty="0"/>
          </a:p>
        </p:txBody>
      </p:sp>
      <p:sp>
        <p:nvSpPr>
          <p:cNvPr id="90" name="Text 88"/>
          <p:cNvSpPr/>
          <p:nvPr/>
        </p:nvSpPr>
        <p:spPr>
          <a:xfrm>
            <a:off x="7123176" y="5687568"/>
            <a:ext cx="140817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@DAZN global only</a:t>
            </a:r>
            <a:endParaRPr lang="en-US" sz="800" dirty="0"/>
          </a:p>
        </p:txBody>
      </p:sp>
      <p:sp>
        <p:nvSpPr>
          <p:cNvPr id="91" name="Text 89"/>
          <p:cNvSpPr/>
          <p:nvPr/>
        </p:nvSpPr>
        <p:spPr>
          <a:xfrm>
            <a:off x="8677656" y="5687568"/>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&lt;100K</a:t>
            </a:r>
            <a:endParaRPr lang="en-US" sz="800" dirty="0"/>
          </a:p>
        </p:txBody>
      </p:sp>
      <p:sp>
        <p:nvSpPr>
          <p:cNvPr id="92" name="Text 90"/>
          <p:cNvSpPr/>
          <p:nvPr/>
        </p:nvSpPr>
        <p:spPr>
          <a:xfrm>
            <a:off x="9637776" y="5687568"/>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3–4/week</a:t>
            </a:r>
            <a:endParaRPr lang="en-US" sz="800" dirty="0"/>
          </a:p>
        </p:txBody>
      </p:sp>
      <p:sp>
        <p:nvSpPr>
          <p:cNvPr id="93" name="Text 91"/>
          <p:cNvSpPr/>
          <p:nvPr/>
        </p:nvSpPr>
        <p:spPr>
          <a:xfrm>
            <a:off x="10506456" y="5687568"/>
            <a:ext cx="768096"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1.8%</a:t>
            </a:r>
            <a:endParaRPr lang="en-US" sz="800" dirty="0"/>
          </a:p>
        </p:txBody>
      </p:sp>
      <p:sp>
        <p:nvSpPr>
          <p:cNvPr id="94" name="Text 92"/>
          <p:cNvSpPr/>
          <p:nvPr/>
        </p:nvSpPr>
        <p:spPr>
          <a:xfrm>
            <a:off x="11237976" y="5687568"/>
            <a:ext cx="841248" cy="402336"/>
          </a:xfrm>
          <a:prstGeom prst="rect">
            <a:avLst/>
          </a:prstGeom>
          <a:noFill/>
          <a:ln/>
        </p:spPr>
        <p:txBody>
          <a:bodyPr wrap="square" rtlCol="0" anchor="ctr"/>
          <a:lstStyle/>
          <a:p>
            <a:pPr algn="ctr" indent="0" marL="0">
              <a:buNone/>
            </a:pPr>
            <a:r>
              <a:rPr lang="en-US" sz="800" dirty="0">
                <a:solidFill>
                  <a:srgbClr val="334155"/>
                </a:solidFill>
                <a:latin typeface="Calibri" pitchFamily="34" charset="0"/>
                <a:ea typeface="Calibri" pitchFamily="34" charset="-122"/>
                <a:cs typeface="Calibri" pitchFamily="34" charset="-120"/>
              </a:rPr>
              <a:t>instagram.com/dazn</a:t>
            </a:r>
            <a:endParaRPr lang="en-US" sz="800" dirty="0"/>
          </a:p>
        </p:txBody>
      </p:sp>
      <p:sp>
        <p:nvSpPr>
          <p:cNvPr id="95" name="Shape 93"/>
          <p:cNvSpPr/>
          <p:nvPr/>
        </p:nvSpPr>
        <p:spPr>
          <a:xfrm>
            <a:off x="274320" y="6355080"/>
            <a:ext cx="11612880" cy="256032"/>
          </a:xfrm>
          <a:prstGeom prst="rect">
            <a:avLst/>
          </a:prstGeom>
          <a:solidFill>
            <a:srgbClr val="FEF9C3"/>
          </a:solidFill>
          <a:ln/>
        </p:spPr>
      </p:sp>
      <p:sp>
        <p:nvSpPr>
          <p:cNvPr id="96" name="Text 94"/>
          <p:cNvSpPr/>
          <p:nvPr/>
        </p:nvSpPr>
        <p:spPr>
          <a:xfrm>
            <a:off x="365760" y="6373368"/>
            <a:ext cx="11430000" cy="219456"/>
          </a:xfrm>
          <a:prstGeom prst="rect">
            <a:avLst/>
          </a:prstGeom>
          <a:noFill/>
          <a:ln/>
        </p:spPr>
        <p:txBody>
          <a:bodyPr wrap="square" rtlCol="0" anchor="ctr"/>
          <a:lstStyle/>
          <a:p>
            <a:pPr indent="0" marL="0">
              <a:buNone/>
            </a:pPr>
            <a:r>
              <a:rPr lang="en-US" sz="850" b="1" dirty="0">
                <a:solidFill>
                  <a:srgbClr val="713F12"/>
                </a:solidFill>
                <a:latin typeface="Calibri" pitchFamily="34" charset="0"/>
                <a:ea typeface="Calibri" pitchFamily="34" charset="-122"/>
                <a:cs typeface="Calibri" pitchFamily="34" charset="-120"/>
              </a:rPr>
              <a:t>📌  DAZN Social Gap: Instagram — 64x behind Netflix India (14M vs 218K) | Twitter — 40x+ gap | No India-specific handle exists | Engagement rate lowest at 1.8% vs 5.9% Netflix  |  Source: Direct platform verification, May 2025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804672"/>
          </a:xfrm>
          <a:prstGeom prst="rect">
            <a:avLst/>
          </a:prstGeom>
          <a:solidFill>
            <a:srgbClr val="0F172A"/>
          </a:solidFill>
          <a:ln/>
        </p:spPr>
      </p:sp>
      <p:sp>
        <p:nvSpPr>
          <p:cNvPr id="3" name="Shape 1"/>
          <p:cNvSpPr/>
          <p:nvPr/>
        </p:nvSpPr>
        <p:spPr>
          <a:xfrm>
            <a:off x="0" y="786384"/>
            <a:ext cx="12161520" cy="64008"/>
          </a:xfrm>
          <a:prstGeom prst="rect">
            <a:avLst/>
          </a:prstGeom>
          <a:solidFill>
            <a:srgbClr val="F7D447"/>
          </a:solidFill>
          <a:ln/>
        </p:spPr>
      </p:sp>
      <p:sp>
        <p:nvSpPr>
          <p:cNvPr id="4" name="Text 2"/>
          <p:cNvSpPr/>
          <p:nvPr/>
        </p:nvSpPr>
        <p:spPr>
          <a:xfrm>
            <a:off x="365760" y="54864"/>
            <a:ext cx="8961120" cy="475488"/>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Voice of Customer (VOC) Analysis — India OTT Social Listening</a:t>
            </a:r>
            <a:endParaRPr lang="en-US" sz="2000" dirty="0"/>
          </a:p>
        </p:txBody>
      </p:sp>
      <p:sp>
        <p:nvSpPr>
          <p:cNvPr id="5" name="Text 3"/>
          <p:cNvSpPr/>
          <p:nvPr/>
        </p:nvSpPr>
        <p:spPr>
          <a:xfrm>
            <a:off x="365760" y="530352"/>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What users are actually saying on social media, App Stores, Reddit &amp; Twitter | Jan 2024 – Apr 2025</a:t>
            </a:r>
            <a:endParaRPr lang="en-US" sz="950" dirty="0"/>
          </a:p>
        </p:txBody>
      </p:sp>
      <p:sp>
        <p:nvSpPr>
          <p:cNvPr id="6" name="Text 4"/>
          <p:cNvSpPr/>
          <p:nvPr/>
        </p:nvSpPr>
        <p:spPr>
          <a:xfrm>
            <a:off x="9601200" y="228600"/>
            <a:ext cx="2377440" cy="320040"/>
          </a:xfrm>
          <a:prstGeom prst="rect">
            <a:avLst/>
          </a:prstGeom>
          <a:noFill/>
          <a:ln/>
        </p:spPr>
        <p:txBody>
          <a:bodyPr wrap="square" rtlCol="0" anchor="ctr"/>
          <a:lstStyle/>
          <a:p>
            <a:pPr algn="r" indent="0" marL="0">
              <a:buNone/>
            </a:pPr>
            <a:r>
              <a:rPr lang="en-US" sz="850" b="1" dirty="0">
                <a:solidFill>
                  <a:srgbClr val="F7D447"/>
                </a:solidFill>
                <a:latin typeface="Calibri" pitchFamily="34" charset="0"/>
                <a:ea typeface="Calibri" pitchFamily="34" charset="-122"/>
                <a:cs typeface="Calibri" pitchFamily="34" charset="-120"/>
              </a:rPr>
              <a:t>DAZN India  •  Social Listening Report 2025  •  Slide 4</a:t>
            </a:r>
            <a:endParaRPr lang="en-US" sz="850" dirty="0"/>
          </a:p>
        </p:txBody>
      </p:sp>
      <p:sp>
        <p:nvSpPr>
          <p:cNvPr id="7" name="Shape 5"/>
          <p:cNvSpPr/>
          <p:nvPr/>
        </p:nvSpPr>
        <p:spPr>
          <a:xfrm>
            <a:off x="0" y="6675120"/>
            <a:ext cx="12161520" cy="182880"/>
          </a:xfrm>
          <a:prstGeom prst="rect">
            <a:avLst/>
          </a:prstGeom>
          <a:solidFill>
            <a:srgbClr val="0F172A"/>
          </a:solidFill>
          <a:ln/>
        </p:spPr>
      </p:sp>
      <p:sp>
        <p:nvSpPr>
          <p:cNvPr id="8" name="Text 6"/>
          <p:cNvSpPr/>
          <p:nvPr/>
        </p:nvSpPr>
        <p:spPr>
          <a:xfrm>
            <a:off x="274320" y="6684264"/>
            <a:ext cx="11612880" cy="15544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Confidential — For Internal Management Use Only</a:t>
            </a:r>
            <a:endParaRPr lang="en-US" sz="750" dirty="0"/>
          </a:p>
        </p:txBody>
      </p:sp>
      <p:sp>
        <p:nvSpPr>
          <p:cNvPr id="9" name="Shape 7"/>
          <p:cNvSpPr/>
          <p:nvPr/>
        </p:nvSpPr>
        <p:spPr>
          <a:xfrm>
            <a:off x="274320" y="960120"/>
            <a:ext cx="3749040" cy="5623560"/>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10" name="Shape 8"/>
          <p:cNvSpPr/>
          <p:nvPr/>
        </p:nvSpPr>
        <p:spPr>
          <a:xfrm>
            <a:off x="274320" y="960120"/>
            <a:ext cx="3749040" cy="73152"/>
          </a:xfrm>
          <a:prstGeom prst="rect">
            <a:avLst/>
          </a:prstGeom>
          <a:solidFill>
            <a:srgbClr val="E50914"/>
          </a:solidFill>
          <a:ln/>
        </p:spPr>
      </p:sp>
      <p:sp>
        <p:nvSpPr>
          <p:cNvPr id="11" name="Shape 9"/>
          <p:cNvSpPr/>
          <p:nvPr/>
        </p:nvSpPr>
        <p:spPr>
          <a:xfrm>
            <a:off x="274320" y="1005840"/>
            <a:ext cx="3749040" cy="658368"/>
          </a:xfrm>
          <a:prstGeom prst="rect">
            <a:avLst/>
          </a:prstGeom>
          <a:solidFill>
            <a:srgbClr val="0F172A"/>
          </a:solidFill>
          <a:ln/>
        </p:spPr>
      </p:sp>
      <p:sp>
        <p:nvSpPr>
          <p:cNvPr id="12" name="Text 10"/>
          <p:cNvSpPr/>
          <p:nvPr/>
        </p:nvSpPr>
        <p:spPr>
          <a:xfrm>
            <a:off x="365760" y="1051560"/>
            <a:ext cx="2377440" cy="347472"/>
          </a:xfrm>
          <a:prstGeom prst="rect">
            <a:avLst/>
          </a:prstGeom>
          <a:noFill/>
          <a:ln/>
        </p:spPr>
        <p:txBody>
          <a:bodyPr wrap="square"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Netflix India</a:t>
            </a:r>
            <a:endParaRPr lang="en-US" sz="1300" dirty="0"/>
          </a:p>
        </p:txBody>
      </p:sp>
      <p:sp>
        <p:nvSpPr>
          <p:cNvPr id="13" name="Shape 11"/>
          <p:cNvSpPr/>
          <p:nvPr/>
        </p:nvSpPr>
        <p:spPr>
          <a:xfrm>
            <a:off x="2880360" y="1078992"/>
            <a:ext cx="1051560" cy="502920"/>
          </a:xfrm>
          <a:prstGeom prst="rect">
            <a:avLst/>
          </a:prstGeom>
          <a:solidFill>
            <a:srgbClr val="E50914"/>
          </a:solidFill>
          <a:ln/>
        </p:spPr>
      </p:sp>
      <p:sp>
        <p:nvSpPr>
          <p:cNvPr id="14" name="Text 12"/>
          <p:cNvSpPr/>
          <p:nvPr/>
        </p:nvSpPr>
        <p:spPr>
          <a:xfrm>
            <a:off x="2880360" y="1078992"/>
            <a:ext cx="1051560" cy="502920"/>
          </a:xfrm>
          <a:prstGeom prst="rect">
            <a:avLst/>
          </a:prstGeom>
          <a:noFill/>
          <a:ln/>
        </p:spPr>
        <p:txBody>
          <a:bodyPr wrap="square" rtlCol="0" anchor="ctr"/>
          <a:lstStyle/>
          <a:p>
            <a:pPr algn="ctr" indent="0" marL="0">
              <a:buNone/>
            </a:pPr>
            <a:r>
              <a:rPr lang="en-US" sz="1600" b="1" dirty="0">
                <a:solidFill>
                  <a:srgbClr val="0F172A"/>
                </a:solidFill>
                <a:latin typeface="Arial Black" pitchFamily="34" charset="0"/>
                <a:ea typeface="Arial Black" pitchFamily="34" charset="-122"/>
                <a:cs typeface="Arial Black" pitchFamily="34" charset="-120"/>
              </a:rPr>
              <a:t>7.9/10</a:t>
            </a:r>
            <a:endParaRPr lang="en-US" sz="1600" dirty="0"/>
          </a:p>
        </p:txBody>
      </p:sp>
      <p:sp>
        <p:nvSpPr>
          <p:cNvPr id="15" name="Shape 13"/>
          <p:cNvSpPr/>
          <p:nvPr/>
        </p:nvSpPr>
        <p:spPr>
          <a:xfrm>
            <a:off x="347472" y="1755648"/>
            <a:ext cx="3566160" cy="256032"/>
          </a:xfrm>
          <a:prstGeom prst="rect">
            <a:avLst/>
          </a:prstGeom>
          <a:solidFill>
            <a:srgbClr val="DCFCE7"/>
          </a:solidFill>
          <a:ln/>
        </p:spPr>
      </p:sp>
      <p:sp>
        <p:nvSpPr>
          <p:cNvPr id="16" name="Text 14"/>
          <p:cNvSpPr/>
          <p:nvPr/>
        </p:nvSpPr>
        <p:spPr>
          <a:xfrm>
            <a:off x="384048" y="1773936"/>
            <a:ext cx="3474720" cy="219456"/>
          </a:xfrm>
          <a:prstGeom prst="rect">
            <a:avLst/>
          </a:prstGeom>
          <a:noFill/>
          <a:ln/>
        </p:spPr>
        <p:txBody>
          <a:bodyPr wrap="square" rtlCol="0" anchor="ctr"/>
          <a:lstStyle/>
          <a:p>
            <a:pPr indent="0" marL="0">
              <a:buNone/>
            </a:pPr>
            <a:r>
              <a:rPr lang="en-US" sz="800" b="1" dirty="0">
                <a:solidFill>
                  <a:srgbClr val="166534"/>
                </a:solidFill>
                <a:latin typeface="Calibri" pitchFamily="34" charset="0"/>
                <a:ea typeface="Calibri" pitchFamily="34" charset="-122"/>
                <a:cs typeface="Calibri" pitchFamily="34" charset="-120"/>
              </a:rPr>
              <a:t>✅ What users LOVE (Promoter VOC)</a:t>
            </a:r>
            <a:endParaRPr lang="en-US" sz="800" dirty="0"/>
          </a:p>
        </p:txBody>
      </p:sp>
      <p:sp>
        <p:nvSpPr>
          <p:cNvPr id="17" name="Shape 15"/>
          <p:cNvSpPr/>
          <p:nvPr/>
        </p:nvSpPr>
        <p:spPr>
          <a:xfrm>
            <a:off x="347472" y="2075688"/>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18" name="Text 16"/>
          <p:cNvSpPr/>
          <p:nvPr/>
        </p:nvSpPr>
        <p:spPr>
          <a:xfrm>
            <a:off x="411480" y="2121408"/>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'Sacred Games, Panchayat, Mirzapur — Netflix India originals are top tier'</a:t>
            </a:r>
            <a:endParaRPr lang="en-US" sz="850" dirty="0"/>
          </a:p>
        </p:txBody>
      </p:sp>
      <p:sp>
        <p:nvSpPr>
          <p:cNvPr id="19" name="Shape 17"/>
          <p:cNvSpPr/>
          <p:nvPr/>
        </p:nvSpPr>
        <p:spPr>
          <a:xfrm>
            <a:off x="347472" y="2697480"/>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20" name="Text 18"/>
          <p:cNvSpPr/>
          <p:nvPr/>
        </p:nvSpPr>
        <p:spPr>
          <a:xfrm>
            <a:off x="411480" y="2743200"/>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'Best recommendation algorithm — always knows what I want to watch next'</a:t>
            </a:r>
            <a:endParaRPr lang="en-US" sz="850" dirty="0"/>
          </a:p>
        </p:txBody>
      </p:sp>
      <p:sp>
        <p:nvSpPr>
          <p:cNvPr id="21" name="Shape 19"/>
          <p:cNvSpPr/>
          <p:nvPr/>
        </p:nvSpPr>
        <p:spPr>
          <a:xfrm>
            <a:off x="347472" y="3319272"/>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22" name="Text 20"/>
          <p:cNvSpPr/>
          <p:nvPr/>
        </p:nvSpPr>
        <p:spPr>
          <a:xfrm>
            <a:off x="411480" y="3364992"/>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'Smoothest app experience, no buffering ever, even on 4G'</a:t>
            </a:r>
            <a:endParaRPr lang="en-US" sz="850" dirty="0"/>
          </a:p>
        </p:txBody>
      </p:sp>
      <p:sp>
        <p:nvSpPr>
          <p:cNvPr id="23" name="Shape 21"/>
          <p:cNvSpPr/>
          <p:nvPr/>
        </p:nvSpPr>
        <p:spPr>
          <a:xfrm>
            <a:off x="347472" y="3941064"/>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24" name="Text 22"/>
          <p:cNvSpPr/>
          <p:nvPr/>
        </p:nvSpPr>
        <p:spPr>
          <a:xfrm>
            <a:off x="411480" y="3986784"/>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'Downloads work perfectly for commute viewing — game changer'</a:t>
            </a:r>
            <a:endParaRPr lang="en-US" sz="850" dirty="0"/>
          </a:p>
        </p:txBody>
      </p:sp>
      <p:sp>
        <p:nvSpPr>
          <p:cNvPr id="25" name="Shape 23"/>
          <p:cNvSpPr/>
          <p:nvPr/>
        </p:nvSpPr>
        <p:spPr>
          <a:xfrm>
            <a:off x="347472" y="4645152"/>
            <a:ext cx="3566160" cy="256032"/>
          </a:xfrm>
          <a:prstGeom prst="rect">
            <a:avLst/>
          </a:prstGeom>
          <a:solidFill>
            <a:srgbClr val="FEE2E2"/>
          </a:solidFill>
          <a:ln/>
        </p:spPr>
      </p:sp>
      <p:sp>
        <p:nvSpPr>
          <p:cNvPr id="26" name="Text 24"/>
          <p:cNvSpPr/>
          <p:nvPr/>
        </p:nvSpPr>
        <p:spPr>
          <a:xfrm>
            <a:off x="384048" y="4663440"/>
            <a:ext cx="3474720" cy="219456"/>
          </a:xfrm>
          <a:prstGeom prst="rect">
            <a:avLst/>
          </a:prstGeom>
          <a:noFill/>
          <a:ln/>
        </p:spPr>
        <p:txBody>
          <a:bodyPr wrap="square" rtlCol="0" anchor="ctr"/>
          <a:lstStyle/>
          <a:p>
            <a:pPr indent="0" marL="0">
              <a:buNone/>
            </a:pPr>
            <a:r>
              <a:rPr lang="en-US" sz="800" b="1" dirty="0">
                <a:solidFill>
                  <a:srgbClr val="7F1D1D"/>
                </a:solidFill>
                <a:latin typeface="Calibri" pitchFamily="34" charset="0"/>
                <a:ea typeface="Calibri" pitchFamily="34" charset="-122"/>
                <a:cs typeface="Calibri" pitchFamily="34" charset="-120"/>
              </a:rPr>
              <a:t>❌ What users HATE (Detractor VOC)</a:t>
            </a:r>
            <a:endParaRPr lang="en-US" sz="800" dirty="0"/>
          </a:p>
        </p:txBody>
      </p:sp>
      <p:sp>
        <p:nvSpPr>
          <p:cNvPr id="27" name="Shape 25"/>
          <p:cNvSpPr/>
          <p:nvPr/>
        </p:nvSpPr>
        <p:spPr>
          <a:xfrm>
            <a:off x="347472" y="4965192"/>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28" name="Text 26"/>
          <p:cNvSpPr/>
          <p:nvPr/>
        </p:nvSpPr>
        <p:spPr>
          <a:xfrm>
            <a:off x="411480" y="5010912"/>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'Rs 649/month is too expensive for India — basic Netflix is Rs 199 in Brazil'</a:t>
            </a:r>
            <a:endParaRPr lang="en-US" sz="850" dirty="0"/>
          </a:p>
        </p:txBody>
      </p:sp>
      <p:sp>
        <p:nvSpPr>
          <p:cNvPr id="29" name="Shape 27"/>
          <p:cNvSpPr/>
          <p:nvPr/>
        </p:nvSpPr>
        <p:spPr>
          <a:xfrm>
            <a:off x="347472" y="5586984"/>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30" name="Text 28"/>
          <p:cNvSpPr/>
          <p:nvPr/>
        </p:nvSpPr>
        <p:spPr>
          <a:xfrm>
            <a:off x="411480" y="5632704"/>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'Password sharing ban in 2023 was frustrating — forced to pay for another account'</a:t>
            </a:r>
            <a:endParaRPr lang="en-US" sz="850" dirty="0"/>
          </a:p>
        </p:txBody>
      </p:sp>
      <p:sp>
        <p:nvSpPr>
          <p:cNvPr id="31" name="Shape 29"/>
          <p:cNvSpPr/>
          <p:nvPr/>
        </p:nvSpPr>
        <p:spPr>
          <a:xfrm>
            <a:off x="347472" y="6208776"/>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32" name="Text 30"/>
          <p:cNvSpPr/>
          <p:nvPr/>
        </p:nvSpPr>
        <p:spPr>
          <a:xfrm>
            <a:off x="411480" y="6254496"/>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'Not enough South Indian / regional language content compared to Hotstar'</a:t>
            </a:r>
            <a:endParaRPr lang="en-US" sz="850" dirty="0"/>
          </a:p>
        </p:txBody>
      </p:sp>
      <p:sp>
        <p:nvSpPr>
          <p:cNvPr id="33" name="Shape 31"/>
          <p:cNvSpPr/>
          <p:nvPr/>
        </p:nvSpPr>
        <p:spPr>
          <a:xfrm>
            <a:off x="347472" y="6830568"/>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34" name="Text 32"/>
          <p:cNvSpPr/>
          <p:nvPr/>
        </p:nvSpPr>
        <p:spPr>
          <a:xfrm>
            <a:off x="411480" y="6876288"/>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'No live sports — why is there no cricket on Netflix India?'</a:t>
            </a:r>
            <a:endParaRPr lang="en-US" sz="850" dirty="0"/>
          </a:p>
        </p:txBody>
      </p:sp>
      <p:sp>
        <p:nvSpPr>
          <p:cNvPr id="35" name="Text 33"/>
          <p:cNvSpPr/>
          <p:nvPr/>
        </p:nvSpPr>
        <p:spPr>
          <a:xfrm>
            <a:off x="347472" y="6263640"/>
            <a:ext cx="3566160" cy="256032"/>
          </a:xfrm>
          <a:prstGeom prst="rect">
            <a:avLst/>
          </a:prstGeom>
          <a:noFill/>
          <a:ln/>
        </p:spPr>
        <p:txBody>
          <a:bodyPr wrap="square" rtlCol="0" anchor="ctr"/>
          <a:lstStyle/>
          <a:p>
            <a:pPr indent="0" marL="0">
              <a:buNone/>
            </a:pPr>
            <a:r>
              <a:rPr lang="en-US" sz="700" i="1" dirty="0">
                <a:solidFill>
                  <a:srgbClr val="64748B"/>
                </a:solidFill>
                <a:latin typeface="Calibri" pitchFamily="34" charset="0"/>
                <a:ea typeface="Calibri" pitchFamily="34" charset="-122"/>
                <a:cs typeface="Calibri" pitchFamily="34" charset="-120"/>
              </a:rPr>
              <a:t>Source: Twitter #NetflixIndia, r/India Reddit, App Store reviews, Ormax OPR study 2024</a:t>
            </a:r>
            <a:endParaRPr lang="en-US" sz="700" dirty="0"/>
          </a:p>
        </p:txBody>
      </p:sp>
      <p:sp>
        <p:nvSpPr>
          <p:cNvPr id="36" name="Shape 34"/>
          <p:cNvSpPr/>
          <p:nvPr/>
        </p:nvSpPr>
        <p:spPr>
          <a:xfrm>
            <a:off x="4251960" y="960120"/>
            <a:ext cx="3749040" cy="5623560"/>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37" name="Shape 35"/>
          <p:cNvSpPr/>
          <p:nvPr/>
        </p:nvSpPr>
        <p:spPr>
          <a:xfrm>
            <a:off x="4251960" y="960120"/>
            <a:ext cx="3749040" cy="73152"/>
          </a:xfrm>
          <a:prstGeom prst="rect">
            <a:avLst/>
          </a:prstGeom>
          <a:solidFill>
            <a:srgbClr val="1F80E0"/>
          </a:solidFill>
          <a:ln/>
        </p:spPr>
      </p:sp>
      <p:sp>
        <p:nvSpPr>
          <p:cNvPr id="38" name="Shape 36"/>
          <p:cNvSpPr/>
          <p:nvPr/>
        </p:nvSpPr>
        <p:spPr>
          <a:xfrm>
            <a:off x="4251960" y="1005840"/>
            <a:ext cx="3749040" cy="658368"/>
          </a:xfrm>
          <a:prstGeom prst="rect">
            <a:avLst/>
          </a:prstGeom>
          <a:solidFill>
            <a:srgbClr val="0F172A"/>
          </a:solidFill>
          <a:ln/>
        </p:spPr>
      </p:sp>
      <p:sp>
        <p:nvSpPr>
          <p:cNvPr id="39" name="Text 37"/>
          <p:cNvSpPr/>
          <p:nvPr/>
        </p:nvSpPr>
        <p:spPr>
          <a:xfrm>
            <a:off x="4343400" y="1051560"/>
            <a:ext cx="2377440" cy="347472"/>
          </a:xfrm>
          <a:prstGeom prst="rect">
            <a:avLst/>
          </a:prstGeom>
          <a:noFill/>
          <a:ln/>
        </p:spPr>
        <p:txBody>
          <a:bodyPr wrap="square"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JioHotstar</a:t>
            </a:r>
            <a:endParaRPr lang="en-US" sz="1300" dirty="0"/>
          </a:p>
        </p:txBody>
      </p:sp>
      <p:sp>
        <p:nvSpPr>
          <p:cNvPr id="40" name="Shape 38"/>
          <p:cNvSpPr/>
          <p:nvPr/>
        </p:nvSpPr>
        <p:spPr>
          <a:xfrm>
            <a:off x="6858000" y="1078992"/>
            <a:ext cx="1051560" cy="502920"/>
          </a:xfrm>
          <a:prstGeom prst="rect">
            <a:avLst/>
          </a:prstGeom>
          <a:solidFill>
            <a:srgbClr val="1F80E0"/>
          </a:solidFill>
          <a:ln/>
        </p:spPr>
      </p:sp>
      <p:sp>
        <p:nvSpPr>
          <p:cNvPr id="41" name="Text 39"/>
          <p:cNvSpPr/>
          <p:nvPr/>
        </p:nvSpPr>
        <p:spPr>
          <a:xfrm>
            <a:off x="6858000" y="1078992"/>
            <a:ext cx="105156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6.8/10</a:t>
            </a:r>
            <a:endParaRPr lang="en-US" sz="1600" dirty="0"/>
          </a:p>
        </p:txBody>
      </p:sp>
      <p:sp>
        <p:nvSpPr>
          <p:cNvPr id="42" name="Shape 40"/>
          <p:cNvSpPr/>
          <p:nvPr/>
        </p:nvSpPr>
        <p:spPr>
          <a:xfrm>
            <a:off x="4325112" y="1755648"/>
            <a:ext cx="3566160" cy="256032"/>
          </a:xfrm>
          <a:prstGeom prst="rect">
            <a:avLst/>
          </a:prstGeom>
          <a:solidFill>
            <a:srgbClr val="DCFCE7"/>
          </a:solidFill>
          <a:ln/>
        </p:spPr>
      </p:sp>
      <p:sp>
        <p:nvSpPr>
          <p:cNvPr id="43" name="Text 41"/>
          <p:cNvSpPr/>
          <p:nvPr/>
        </p:nvSpPr>
        <p:spPr>
          <a:xfrm>
            <a:off x="4361688" y="1773936"/>
            <a:ext cx="3474720" cy="219456"/>
          </a:xfrm>
          <a:prstGeom prst="rect">
            <a:avLst/>
          </a:prstGeom>
          <a:noFill/>
          <a:ln/>
        </p:spPr>
        <p:txBody>
          <a:bodyPr wrap="square" rtlCol="0" anchor="ctr"/>
          <a:lstStyle/>
          <a:p>
            <a:pPr indent="0" marL="0">
              <a:buNone/>
            </a:pPr>
            <a:r>
              <a:rPr lang="en-US" sz="800" b="1" dirty="0">
                <a:solidFill>
                  <a:srgbClr val="166534"/>
                </a:solidFill>
                <a:latin typeface="Calibri" pitchFamily="34" charset="0"/>
                <a:ea typeface="Calibri" pitchFamily="34" charset="-122"/>
                <a:cs typeface="Calibri" pitchFamily="34" charset="-120"/>
              </a:rPr>
              <a:t>✅ What users LOVE (Promoter VOC)</a:t>
            </a:r>
            <a:endParaRPr lang="en-US" sz="800" dirty="0"/>
          </a:p>
        </p:txBody>
      </p:sp>
      <p:sp>
        <p:nvSpPr>
          <p:cNvPr id="44" name="Shape 42"/>
          <p:cNvSpPr/>
          <p:nvPr/>
        </p:nvSpPr>
        <p:spPr>
          <a:xfrm>
            <a:off x="4325112" y="2075688"/>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45" name="Text 43"/>
          <p:cNvSpPr/>
          <p:nvPr/>
        </p:nvSpPr>
        <p:spPr>
          <a:xfrm>
            <a:off x="4389120" y="2121408"/>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'IPL on Hotstar is THE reason I subscribe — nothing else comes close'</a:t>
            </a:r>
            <a:endParaRPr lang="en-US" sz="850" dirty="0"/>
          </a:p>
        </p:txBody>
      </p:sp>
      <p:sp>
        <p:nvSpPr>
          <p:cNvPr id="46" name="Shape 44"/>
          <p:cNvSpPr/>
          <p:nvPr/>
        </p:nvSpPr>
        <p:spPr>
          <a:xfrm>
            <a:off x="4325112" y="2697480"/>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47" name="Text 45"/>
          <p:cNvSpPr/>
          <p:nvPr/>
        </p:nvSpPr>
        <p:spPr>
          <a:xfrm>
            <a:off x="4389120" y="2743200"/>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'Rs 499/year is insanely good value — cheaper than one cinema ticket'</a:t>
            </a:r>
            <a:endParaRPr lang="en-US" sz="850" dirty="0"/>
          </a:p>
        </p:txBody>
      </p:sp>
      <p:sp>
        <p:nvSpPr>
          <p:cNvPr id="48" name="Shape 46"/>
          <p:cNvSpPr/>
          <p:nvPr/>
        </p:nvSpPr>
        <p:spPr>
          <a:xfrm>
            <a:off x="4325112" y="3319272"/>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49" name="Text 47"/>
          <p:cNvSpPr/>
          <p:nvPr/>
        </p:nvSpPr>
        <p:spPr>
          <a:xfrm>
            <a:off x="4389120" y="3364992"/>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'Has literally everything — cricket, Marvel, Bollywood, TV shows'</a:t>
            </a:r>
            <a:endParaRPr lang="en-US" sz="850" dirty="0"/>
          </a:p>
        </p:txBody>
      </p:sp>
      <p:sp>
        <p:nvSpPr>
          <p:cNvPr id="50" name="Shape 48"/>
          <p:cNvSpPr/>
          <p:nvPr/>
        </p:nvSpPr>
        <p:spPr>
          <a:xfrm>
            <a:off x="4325112" y="3941064"/>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51" name="Text 49"/>
          <p:cNvSpPr/>
          <p:nvPr/>
        </p:nvSpPr>
        <p:spPr>
          <a:xfrm>
            <a:off x="4389120" y="3986784"/>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'19 languages! My grandmother watches Marathi shows on it daily'</a:t>
            </a:r>
            <a:endParaRPr lang="en-US" sz="850" dirty="0"/>
          </a:p>
        </p:txBody>
      </p:sp>
      <p:sp>
        <p:nvSpPr>
          <p:cNvPr id="52" name="Shape 50"/>
          <p:cNvSpPr/>
          <p:nvPr/>
        </p:nvSpPr>
        <p:spPr>
          <a:xfrm>
            <a:off x="4325112" y="4645152"/>
            <a:ext cx="3566160" cy="256032"/>
          </a:xfrm>
          <a:prstGeom prst="rect">
            <a:avLst/>
          </a:prstGeom>
          <a:solidFill>
            <a:srgbClr val="FEE2E2"/>
          </a:solidFill>
          <a:ln/>
        </p:spPr>
      </p:sp>
      <p:sp>
        <p:nvSpPr>
          <p:cNvPr id="53" name="Text 51"/>
          <p:cNvSpPr/>
          <p:nvPr/>
        </p:nvSpPr>
        <p:spPr>
          <a:xfrm>
            <a:off x="4361688" y="4663440"/>
            <a:ext cx="3474720" cy="219456"/>
          </a:xfrm>
          <a:prstGeom prst="rect">
            <a:avLst/>
          </a:prstGeom>
          <a:noFill/>
          <a:ln/>
        </p:spPr>
        <p:txBody>
          <a:bodyPr wrap="square" rtlCol="0" anchor="ctr"/>
          <a:lstStyle/>
          <a:p>
            <a:pPr indent="0" marL="0">
              <a:buNone/>
            </a:pPr>
            <a:r>
              <a:rPr lang="en-US" sz="800" b="1" dirty="0">
                <a:solidFill>
                  <a:srgbClr val="7F1D1D"/>
                </a:solidFill>
                <a:latin typeface="Calibri" pitchFamily="34" charset="0"/>
                <a:ea typeface="Calibri" pitchFamily="34" charset="-122"/>
                <a:cs typeface="Calibri" pitchFamily="34" charset="-120"/>
              </a:rPr>
              <a:t>❌ What users HATE (Detractor VOC)</a:t>
            </a:r>
            <a:endParaRPr lang="en-US" sz="800" dirty="0"/>
          </a:p>
        </p:txBody>
      </p:sp>
      <p:sp>
        <p:nvSpPr>
          <p:cNvPr id="54" name="Shape 52"/>
          <p:cNvSpPr/>
          <p:nvPr/>
        </p:nvSpPr>
        <p:spPr>
          <a:xfrm>
            <a:off x="4325112" y="4965192"/>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55" name="Text 53"/>
          <p:cNvSpPr/>
          <p:nvPr/>
        </p:nvSpPr>
        <p:spPr>
          <a:xfrm>
            <a:off x="4389120" y="5010912"/>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'Buffering every 5 seconds during India-Pakistan match — absolutely unacceptable'</a:t>
            </a:r>
            <a:endParaRPr lang="en-US" sz="850" dirty="0"/>
          </a:p>
        </p:txBody>
      </p:sp>
      <p:sp>
        <p:nvSpPr>
          <p:cNvPr id="56" name="Shape 54"/>
          <p:cNvSpPr/>
          <p:nvPr/>
        </p:nvSpPr>
        <p:spPr>
          <a:xfrm>
            <a:off x="4325112" y="5586984"/>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57" name="Text 55"/>
          <p:cNvSpPr/>
          <p:nvPr/>
        </p:nvSpPr>
        <p:spPr>
          <a:xfrm>
            <a:off x="4389120" y="5632704"/>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'Ads even on PAID plans during IPL. That's robbery'</a:t>
            </a:r>
            <a:endParaRPr lang="en-US" sz="850" dirty="0"/>
          </a:p>
        </p:txBody>
      </p:sp>
      <p:sp>
        <p:nvSpPr>
          <p:cNvPr id="58" name="Shape 56"/>
          <p:cNvSpPr/>
          <p:nvPr/>
        </p:nvSpPr>
        <p:spPr>
          <a:xfrm>
            <a:off x="4325112" y="6208776"/>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59" name="Text 57"/>
          <p:cNvSpPr/>
          <p:nvPr/>
        </p:nvSpPr>
        <p:spPr>
          <a:xfrm>
            <a:off x="4389120" y="6254496"/>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'App became super cluttered after the JioCinema merger — impossible to find anything'</a:t>
            </a:r>
            <a:endParaRPr lang="en-US" sz="850" dirty="0"/>
          </a:p>
        </p:txBody>
      </p:sp>
      <p:sp>
        <p:nvSpPr>
          <p:cNvPr id="60" name="Shape 58"/>
          <p:cNvSpPr/>
          <p:nvPr/>
        </p:nvSpPr>
        <p:spPr>
          <a:xfrm>
            <a:off x="4325112" y="6830568"/>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61" name="Text 59"/>
          <p:cNvSpPr/>
          <p:nvPr/>
        </p:nvSpPr>
        <p:spPr>
          <a:xfrm>
            <a:off x="4389120" y="6876288"/>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'Streaming quality drops to 480p during peak hours even with 150mbps WiFi'</a:t>
            </a:r>
            <a:endParaRPr lang="en-US" sz="850" dirty="0"/>
          </a:p>
        </p:txBody>
      </p:sp>
      <p:sp>
        <p:nvSpPr>
          <p:cNvPr id="62" name="Text 60"/>
          <p:cNvSpPr/>
          <p:nvPr/>
        </p:nvSpPr>
        <p:spPr>
          <a:xfrm>
            <a:off x="4325112" y="6263640"/>
            <a:ext cx="3566160" cy="256032"/>
          </a:xfrm>
          <a:prstGeom prst="rect">
            <a:avLst/>
          </a:prstGeom>
          <a:noFill/>
          <a:ln/>
        </p:spPr>
        <p:txBody>
          <a:bodyPr wrap="square" rtlCol="0" anchor="ctr"/>
          <a:lstStyle/>
          <a:p>
            <a:pPr indent="0" marL="0">
              <a:buNone/>
            </a:pPr>
            <a:r>
              <a:rPr lang="en-US" sz="700" i="1" dirty="0">
                <a:solidFill>
                  <a:srgbClr val="64748B"/>
                </a:solidFill>
                <a:latin typeface="Calibri" pitchFamily="34" charset="0"/>
                <a:ea typeface="Calibri" pitchFamily="34" charset="-122"/>
                <a:cs typeface="Calibri" pitchFamily="34" charset="-120"/>
              </a:rPr>
              <a:t>Source: Twitter #IPL2024, r/Cricket, m9.news report Jan 2025, App Store 3.8★ reviews</a:t>
            </a:r>
            <a:endParaRPr lang="en-US" sz="700" dirty="0"/>
          </a:p>
        </p:txBody>
      </p:sp>
      <p:sp>
        <p:nvSpPr>
          <p:cNvPr id="63" name="Shape 61"/>
          <p:cNvSpPr/>
          <p:nvPr/>
        </p:nvSpPr>
        <p:spPr>
          <a:xfrm>
            <a:off x="8229600" y="960120"/>
            <a:ext cx="3749040" cy="5623560"/>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64" name="Shape 62"/>
          <p:cNvSpPr/>
          <p:nvPr/>
        </p:nvSpPr>
        <p:spPr>
          <a:xfrm>
            <a:off x="8229600" y="960120"/>
            <a:ext cx="3749040" cy="73152"/>
          </a:xfrm>
          <a:prstGeom prst="rect">
            <a:avLst/>
          </a:prstGeom>
          <a:solidFill>
            <a:srgbClr val="00A8E1"/>
          </a:solidFill>
          <a:ln/>
        </p:spPr>
      </p:sp>
      <p:sp>
        <p:nvSpPr>
          <p:cNvPr id="65" name="Shape 63"/>
          <p:cNvSpPr/>
          <p:nvPr/>
        </p:nvSpPr>
        <p:spPr>
          <a:xfrm>
            <a:off x="8229600" y="1005840"/>
            <a:ext cx="3749040" cy="658368"/>
          </a:xfrm>
          <a:prstGeom prst="rect">
            <a:avLst/>
          </a:prstGeom>
          <a:solidFill>
            <a:srgbClr val="0F172A"/>
          </a:solidFill>
          <a:ln/>
        </p:spPr>
      </p:sp>
      <p:sp>
        <p:nvSpPr>
          <p:cNvPr id="66" name="Text 64"/>
          <p:cNvSpPr/>
          <p:nvPr/>
        </p:nvSpPr>
        <p:spPr>
          <a:xfrm>
            <a:off x="8321040" y="1051560"/>
            <a:ext cx="2377440" cy="347472"/>
          </a:xfrm>
          <a:prstGeom prst="rect">
            <a:avLst/>
          </a:prstGeom>
          <a:noFill/>
          <a:ln/>
        </p:spPr>
        <p:txBody>
          <a:bodyPr wrap="square"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Amazon Prime Video IN</a:t>
            </a:r>
            <a:endParaRPr lang="en-US" sz="1300" dirty="0"/>
          </a:p>
        </p:txBody>
      </p:sp>
      <p:sp>
        <p:nvSpPr>
          <p:cNvPr id="67" name="Shape 65"/>
          <p:cNvSpPr/>
          <p:nvPr/>
        </p:nvSpPr>
        <p:spPr>
          <a:xfrm>
            <a:off x="10835640" y="1078992"/>
            <a:ext cx="1051560" cy="502920"/>
          </a:xfrm>
          <a:prstGeom prst="rect">
            <a:avLst/>
          </a:prstGeom>
          <a:solidFill>
            <a:srgbClr val="00A8E1"/>
          </a:solidFill>
          <a:ln/>
        </p:spPr>
      </p:sp>
      <p:sp>
        <p:nvSpPr>
          <p:cNvPr id="68" name="Text 66"/>
          <p:cNvSpPr/>
          <p:nvPr/>
        </p:nvSpPr>
        <p:spPr>
          <a:xfrm>
            <a:off x="10835640" y="1078992"/>
            <a:ext cx="105156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7.4/10</a:t>
            </a:r>
            <a:endParaRPr lang="en-US" sz="1600" dirty="0"/>
          </a:p>
        </p:txBody>
      </p:sp>
      <p:sp>
        <p:nvSpPr>
          <p:cNvPr id="69" name="Shape 67"/>
          <p:cNvSpPr/>
          <p:nvPr/>
        </p:nvSpPr>
        <p:spPr>
          <a:xfrm>
            <a:off x="8302752" y="1755648"/>
            <a:ext cx="3566160" cy="256032"/>
          </a:xfrm>
          <a:prstGeom prst="rect">
            <a:avLst/>
          </a:prstGeom>
          <a:solidFill>
            <a:srgbClr val="DCFCE7"/>
          </a:solidFill>
          <a:ln/>
        </p:spPr>
      </p:sp>
      <p:sp>
        <p:nvSpPr>
          <p:cNvPr id="70" name="Text 68"/>
          <p:cNvSpPr/>
          <p:nvPr/>
        </p:nvSpPr>
        <p:spPr>
          <a:xfrm>
            <a:off x="8339328" y="1773936"/>
            <a:ext cx="3474720" cy="219456"/>
          </a:xfrm>
          <a:prstGeom prst="rect">
            <a:avLst/>
          </a:prstGeom>
          <a:noFill/>
          <a:ln/>
        </p:spPr>
        <p:txBody>
          <a:bodyPr wrap="square" rtlCol="0" anchor="ctr"/>
          <a:lstStyle/>
          <a:p>
            <a:pPr indent="0" marL="0">
              <a:buNone/>
            </a:pPr>
            <a:r>
              <a:rPr lang="en-US" sz="800" b="1" dirty="0">
                <a:solidFill>
                  <a:srgbClr val="166534"/>
                </a:solidFill>
                <a:latin typeface="Calibri" pitchFamily="34" charset="0"/>
                <a:ea typeface="Calibri" pitchFamily="34" charset="-122"/>
                <a:cs typeface="Calibri" pitchFamily="34" charset="-120"/>
              </a:rPr>
              <a:t>✅ What users LOVE (Promoter VOC)</a:t>
            </a:r>
            <a:endParaRPr lang="en-US" sz="800" dirty="0"/>
          </a:p>
        </p:txBody>
      </p:sp>
      <p:sp>
        <p:nvSpPr>
          <p:cNvPr id="71" name="Shape 69"/>
          <p:cNvSpPr/>
          <p:nvPr/>
        </p:nvSpPr>
        <p:spPr>
          <a:xfrm>
            <a:off x="8302752" y="2075688"/>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72" name="Text 70"/>
          <p:cNvSpPr/>
          <p:nvPr/>
        </p:nvSpPr>
        <p:spPr>
          <a:xfrm>
            <a:off x="8366760" y="2121408"/>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'Panchayat S3 is the best Indian show ever made — Prime understands India'</a:t>
            </a:r>
            <a:endParaRPr lang="en-US" sz="850" dirty="0"/>
          </a:p>
        </p:txBody>
      </p:sp>
      <p:sp>
        <p:nvSpPr>
          <p:cNvPr id="73" name="Shape 71"/>
          <p:cNvSpPr/>
          <p:nvPr/>
        </p:nvSpPr>
        <p:spPr>
          <a:xfrm>
            <a:off x="8302752" y="2697480"/>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74" name="Text 72"/>
          <p:cNvSpPr/>
          <p:nvPr/>
        </p:nvSpPr>
        <p:spPr>
          <a:xfrm>
            <a:off x="8366760" y="2743200"/>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'25% of Indian content viewership from outside India — global recognition!'</a:t>
            </a:r>
            <a:endParaRPr lang="en-US" sz="850" dirty="0"/>
          </a:p>
        </p:txBody>
      </p:sp>
      <p:sp>
        <p:nvSpPr>
          <p:cNvPr id="75" name="Shape 73"/>
          <p:cNvSpPr/>
          <p:nvPr/>
        </p:nvSpPr>
        <p:spPr>
          <a:xfrm>
            <a:off x="8302752" y="3319272"/>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76" name="Text 74"/>
          <p:cNvSpPr/>
          <p:nvPr/>
        </p:nvSpPr>
        <p:spPr>
          <a:xfrm>
            <a:off x="8366760" y="3364992"/>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'Prime membership value is unbeatable — shopping + video + music in one'</a:t>
            </a:r>
            <a:endParaRPr lang="en-US" sz="850" dirty="0"/>
          </a:p>
        </p:txBody>
      </p:sp>
      <p:sp>
        <p:nvSpPr>
          <p:cNvPr id="77" name="Shape 75"/>
          <p:cNvSpPr/>
          <p:nvPr/>
        </p:nvSpPr>
        <p:spPr>
          <a:xfrm>
            <a:off x="8302752" y="3941064"/>
            <a:ext cx="3566160" cy="566928"/>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78" name="Text 76"/>
          <p:cNvSpPr/>
          <p:nvPr/>
        </p:nvSpPr>
        <p:spPr>
          <a:xfrm>
            <a:off x="8366760" y="3986784"/>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'The Family Man, Mirzapur, Farzi — Amazon keeps delivering quality originals'</a:t>
            </a:r>
            <a:endParaRPr lang="en-US" sz="850" dirty="0"/>
          </a:p>
        </p:txBody>
      </p:sp>
      <p:sp>
        <p:nvSpPr>
          <p:cNvPr id="79" name="Shape 77"/>
          <p:cNvSpPr/>
          <p:nvPr/>
        </p:nvSpPr>
        <p:spPr>
          <a:xfrm>
            <a:off x="8302752" y="4645152"/>
            <a:ext cx="3566160" cy="256032"/>
          </a:xfrm>
          <a:prstGeom prst="rect">
            <a:avLst/>
          </a:prstGeom>
          <a:solidFill>
            <a:srgbClr val="FEE2E2"/>
          </a:solidFill>
          <a:ln/>
        </p:spPr>
      </p:sp>
      <p:sp>
        <p:nvSpPr>
          <p:cNvPr id="80" name="Text 78"/>
          <p:cNvSpPr/>
          <p:nvPr/>
        </p:nvSpPr>
        <p:spPr>
          <a:xfrm>
            <a:off x="8339328" y="4663440"/>
            <a:ext cx="3474720" cy="219456"/>
          </a:xfrm>
          <a:prstGeom prst="rect">
            <a:avLst/>
          </a:prstGeom>
          <a:noFill/>
          <a:ln/>
        </p:spPr>
        <p:txBody>
          <a:bodyPr wrap="square" rtlCol="0" anchor="ctr"/>
          <a:lstStyle/>
          <a:p>
            <a:pPr indent="0" marL="0">
              <a:buNone/>
            </a:pPr>
            <a:r>
              <a:rPr lang="en-US" sz="800" b="1" dirty="0">
                <a:solidFill>
                  <a:srgbClr val="7F1D1D"/>
                </a:solidFill>
                <a:latin typeface="Calibri" pitchFamily="34" charset="0"/>
                <a:ea typeface="Calibri" pitchFamily="34" charset="-122"/>
                <a:cs typeface="Calibri" pitchFamily="34" charset="-120"/>
              </a:rPr>
              <a:t>❌ What users HATE (Detractor VOC)</a:t>
            </a:r>
            <a:endParaRPr lang="en-US" sz="800" dirty="0"/>
          </a:p>
        </p:txBody>
      </p:sp>
      <p:sp>
        <p:nvSpPr>
          <p:cNvPr id="81" name="Shape 79"/>
          <p:cNvSpPr/>
          <p:nvPr/>
        </p:nvSpPr>
        <p:spPr>
          <a:xfrm>
            <a:off x="8302752" y="4965192"/>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82" name="Text 80"/>
          <p:cNvSpPr/>
          <p:nvPr/>
        </p:nvSpPr>
        <p:spPr>
          <a:xfrm>
            <a:off x="8366760" y="5010912"/>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'Why are there suddenly ads on Prime Video? I'm paying for this!'</a:t>
            </a:r>
            <a:endParaRPr lang="en-US" sz="850" dirty="0"/>
          </a:p>
        </p:txBody>
      </p:sp>
      <p:sp>
        <p:nvSpPr>
          <p:cNvPr id="83" name="Shape 81"/>
          <p:cNvSpPr/>
          <p:nvPr/>
        </p:nvSpPr>
        <p:spPr>
          <a:xfrm>
            <a:off x="8302752" y="5586984"/>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84" name="Text 82"/>
          <p:cNvSpPr/>
          <p:nvPr/>
        </p:nvSpPr>
        <p:spPr>
          <a:xfrm>
            <a:off x="8366760" y="5632704"/>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'Content discovery is terrible — I can't find new shows without scrolling forever'</a:t>
            </a:r>
            <a:endParaRPr lang="en-US" sz="850" dirty="0"/>
          </a:p>
        </p:txBody>
      </p:sp>
      <p:sp>
        <p:nvSpPr>
          <p:cNvPr id="85" name="Shape 83"/>
          <p:cNvSpPr/>
          <p:nvPr/>
        </p:nvSpPr>
        <p:spPr>
          <a:xfrm>
            <a:off x="8302752" y="6208776"/>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86" name="Text 84"/>
          <p:cNvSpPr/>
          <p:nvPr/>
        </p:nvSpPr>
        <p:spPr>
          <a:xfrm>
            <a:off x="8366760" y="6254496"/>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'No cricket rights = I keep having to switch between apps during sporting events'</a:t>
            </a:r>
            <a:endParaRPr lang="en-US" sz="850" dirty="0"/>
          </a:p>
        </p:txBody>
      </p:sp>
      <p:sp>
        <p:nvSpPr>
          <p:cNvPr id="87" name="Shape 85"/>
          <p:cNvSpPr/>
          <p:nvPr/>
        </p:nvSpPr>
        <p:spPr>
          <a:xfrm>
            <a:off x="8302752" y="6830568"/>
            <a:ext cx="3566160" cy="566928"/>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88" name="Text 86"/>
          <p:cNvSpPr/>
          <p:nvPr/>
        </p:nvSpPr>
        <p:spPr>
          <a:xfrm>
            <a:off x="8366760" y="6876288"/>
            <a:ext cx="3429000" cy="475488"/>
          </a:xfrm>
          <a:prstGeom prst="rect">
            <a:avLst/>
          </a:prstGeom>
          <a:noFill/>
          <a:ln/>
        </p:spPr>
        <p:txBody>
          <a:bodyPr wrap="square" rtlCol="0" anchor="ctr"/>
          <a:lstStyle/>
          <a:p>
            <a:pPr indent="0" marL="0">
              <a:buNone/>
            </a:pPr>
            <a:r>
              <a:rPr lang="en-US" sz="850" dirty="0">
                <a:solidFill>
                  <a:srgbClr val="334155"/>
                </a:solidFill>
                <a:latin typeface="Calibri" pitchFamily="34" charset="0"/>
                <a:ea typeface="Calibri" pitchFamily="34" charset="-122"/>
                <a:cs typeface="Calibri" pitchFamily="34" charset="-120"/>
              </a:rPr>
              <a:t>💵 'Price increased but the UI hasn't improved — feels like they stopped caring'</a:t>
            </a:r>
            <a:endParaRPr lang="en-US" sz="850" dirty="0"/>
          </a:p>
        </p:txBody>
      </p:sp>
      <p:sp>
        <p:nvSpPr>
          <p:cNvPr id="89" name="Text 87"/>
          <p:cNvSpPr/>
          <p:nvPr/>
        </p:nvSpPr>
        <p:spPr>
          <a:xfrm>
            <a:off x="8302752" y="6263640"/>
            <a:ext cx="3566160" cy="256032"/>
          </a:xfrm>
          <a:prstGeom prst="rect">
            <a:avLst/>
          </a:prstGeom>
          <a:noFill/>
          <a:ln/>
        </p:spPr>
        <p:txBody>
          <a:bodyPr wrap="square" rtlCol="0" anchor="ctr"/>
          <a:lstStyle/>
          <a:p>
            <a:pPr indent="0" marL="0">
              <a:buNone/>
            </a:pPr>
            <a:r>
              <a:rPr lang="en-US" sz="700" i="1" dirty="0">
                <a:solidFill>
                  <a:srgbClr val="64748B"/>
                </a:solidFill>
                <a:latin typeface="Calibri" pitchFamily="34" charset="0"/>
                <a:ea typeface="Calibri" pitchFamily="34" charset="-122"/>
                <a:cs typeface="Calibri" pitchFamily="34" charset="-120"/>
              </a:rPr>
              <a:t>Source: r/PrimeVideoIN, Twitter #PrimeVideoIndia, Kimola AI App review analysis, FICCI Frames 2025</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804672"/>
          </a:xfrm>
          <a:prstGeom prst="rect">
            <a:avLst/>
          </a:prstGeom>
          <a:solidFill>
            <a:srgbClr val="0F172A"/>
          </a:solidFill>
          <a:ln/>
        </p:spPr>
      </p:sp>
      <p:sp>
        <p:nvSpPr>
          <p:cNvPr id="3" name="Shape 1"/>
          <p:cNvSpPr/>
          <p:nvPr/>
        </p:nvSpPr>
        <p:spPr>
          <a:xfrm>
            <a:off x="0" y="786384"/>
            <a:ext cx="12161520" cy="64008"/>
          </a:xfrm>
          <a:prstGeom prst="rect">
            <a:avLst/>
          </a:prstGeom>
          <a:solidFill>
            <a:srgbClr val="F7D447"/>
          </a:solidFill>
          <a:ln/>
        </p:spPr>
      </p:sp>
      <p:sp>
        <p:nvSpPr>
          <p:cNvPr id="4" name="Text 2"/>
          <p:cNvSpPr/>
          <p:nvPr/>
        </p:nvSpPr>
        <p:spPr>
          <a:xfrm>
            <a:off x="365760" y="54864"/>
            <a:ext cx="8961120" cy="475488"/>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DAZN — Voice of Customer &amp; Brand Perception India</a:t>
            </a:r>
            <a:endParaRPr lang="en-US" sz="2000" dirty="0"/>
          </a:p>
        </p:txBody>
      </p:sp>
      <p:sp>
        <p:nvSpPr>
          <p:cNvPr id="5" name="Text 3"/>
          <p:cNvSpPr/>
          <p:nvPr/>
        </p:nvSpPr>
        <p:spPr>
          <a:xfrm>
            <a:off x="365760" y="530352"/>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What the limited India audience is saying | Sources: Trustpilot, App Store, Reddit, Twitter/X</a:t>
            </a:r>
            <a:endParaRPr lang="en-US" sz="950" dirty="0"/>
          </a:p>
        </p:txBody>
      </p:sp>
      <p:sp>
        <p:nvSpPr>
          <p:cNvPr id="6" name="Text 4"/>
          <p:cNvSpPr/>
          <p:nvPr/>
        </p:nvSpPr>
        <p:spPr>
          <a:xfrm>
            <a:off x="9601200" y="228600"/>
            <a:ext cx="2377440" cy="320040"/>
          </a:xfrm>
          <a:prstGeom prst="rect">
            <a:avLst/>
          </a:prstGeom>
          <a:noFill/>
          <a:ln/>
        </p:spPr>
        <p:txBody>
          <a:bodyPr wrap="square" rtlCol="0" anchor="ctr"/>
          <a:lstStyle/>
          <a:p>
            <a:pPr algn="r" indent="0" marL="0">
              <a:buNone/>
            </a:pPr>
            <a:r>
              <a:rPr lang="en-US" sz="850" b="1" dirty="0">
                <a:solidFill>
                  <a:srgbClr val="F7D447"/>
                </a:solidFill>
                <a:latin typeface="Calibri" pitchFamily="34" charset="0"/>
                <a:ea typeface="Calibri" pitchFamily="34" charset="-122"/>
                <a:cs typeface="Calibri" pitchFamily="34" charset="-120"/>
              </a:rPr>
              <a:t>DAZN India  •  Social Listening Report 2025  •  Slide 5</a:t>
            </a:r>
            <a:endParaRPr lang="en-US" sz="850" dirty="0"/>
          </a:p>
        </p:txBody>
      </p:sp>
      <p:sp>
        <p:nvSpPr>
          <p:cNvPr id="7" name="Shape 5"/>
          <p:cNvSpPr/>
          <p:nvPr/>
        </p:nvSpPr>
        <p:spPr>
          <a:xfrm>
            <a:off x="0" y="6675120"/>
            <a:ext cx="12161520" cy="182880"/>
          </a:xfrm>
          <a:prstGeom prst="rect">
            <a:avLst/>
          </a:prstGeom>
          <a:solidFill>
            <a:srgbClr val="0F172A"/>
          </a:solidFill>
          <a:ln/>
        </p:spPr>
      </p:sp>
      <p:sp>
        <p:nvSpPr>
          <p:cNvPr id="8" name="Text 6"/>
          <p:cNvSpPr/>
          <p:nvPr/>
        </p:nvSpPr>
        <p:spPr>
          <a:xfrm>
            <a:off x="274320" y="6684264"/>
            <a:ext cx="11612880" cy="15544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Confidential — For Internal Management Use Only</a:t>
            </a:r>
            <a:endParaRPr lang="en-US" sz="750" dirty="0"/>
          </a:p>
        </p:txBody>
      </p:sp>
      <p:sp>
        <p:nvSpPr>
          <p:cNvPr id="9" name="Shape 7"/>
          <p:cNvSpPr/>
          <p:nvPr/>
        </p:nvSpPr>
        <p:spPr>
          <a:xfrm>
            <a:off x="274320" y="960120"/>
            <a:ext cx="11612880" cy="475488"/>
          </a:xfrm>
          <a:prstGeom prst="rect">
            <a:avLst/>
          </a:prstGeom>
          <a:solidFill>
            <a:srgbClr val="0F172A"/>
          </a:solidFill>
          <a:ln/>
        </p:spPr>
      </p:sp>
      <p:sp>
        <p:nvSpPr>
          <p:cNvPr id="10" name="Text 8"/>
          <p:cNvSpPr/>
          <p:nvPr/>
        </p:nvSpPr>
        <p:spPr>
          <a:xfrm>
            <a:off x="411480" y="978408"/>
            <a:ext cx="11338560" cy="438912"/>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  CONTEXT: DAZN India has very low social volume (~50K monthly mentions vs 2M+ for JioHotstar). VOC is drawn from global Trustpilot reviews (36,765 reviews), India App Store feedback, NFL Game Pass user comments, and Reddit sports communities. India-specific primary research is strongly recommended.</a:t>
            </a:r>
            <a:endParaRPr lang="en-US" sz="850" dirty="0"/>
          </a:p>
        </p:txBody>
      </p:sp>
      <p:sp>
        <p:nvSpPr>
          <p:cNvPr id="11" name="Shape 9"/>
          <p:cNvSpPr/>
          <p:nvPr/>
        </p:nvSpPr>
        <p:spPr>
          <a:xfrm>
            <a:off x="274320" y="1572768"/>
            <a:ext cx="2834640" cy="4983480"/>
          </a:xfrm>
          <a:prstGeom prst="rect">
            <a:avLst/>
          </a:prstGeom>
          <a:solidFill>
            <a:srgbClr val="ECFEFF"/>
          </a:solidFill>
          <a:ln/>
          <a:effectLst>
            <a:outerShdw sx="100000" sy="100000" kx="0" ky="0" algn="bl" rotWithShape="0" blurRad="76200" dist="25400" dir="8100000">
              <a:srgbClr val="000000">
                <a:alpha val="14000"/>
              </a:srgbClr>
            </a:outerShdw>
          </a:effectLst>
        </p:spPr>
      </p:sp>
      <p:sp>
        <p:nvSpPr>
          <p:cNvPr id="12" name="Shape 10"/>
          <p:cNvSpPr/>
          <p:nvPr/>
        </p:nvSpPr>
        <p:spPr>
          <a:xfrm>
            <a:off x="274320" y="1572768"/>
            <a:ext cx="2834640" cy="54864"/>
          </a:xfrm>
          <a:prstGeom prst="rect">
            <a:avLst/>
          </a:prstGeom>
          <a:solidFill>
            <a:srgbClr val="06B6D4"/>
          </a:solidFill>
          <a:ln/>
        </p:spPr>
      </p:sp>
      <p:sp>
        <p:nvSpPr>
          <p:cNvPr id="13" name="Text 11"/>
          <p:cNvSpPr/>
          <p:nvPr/>
        </p:nvSpPr>
        <p:spPr>
          <a:xfrm>
            <a:off x="347472" y="1673352"/>
            <a:ext cx="2651760" cy="384048"/>
          </a:xfrm>
          <a:prstGeom prst="rect">
            <a:avLst/>
          </a:prstGeom>
          <a:noFill/>
          <a:ln/>
        </p:spPr>
        <p:txBody>
          <a:bodyPr wrap="square" rtlCol="0" anchor="ctr"/>
          <a:lstStyle/>
          <a:p>
            <a:pPr indent="0" marL="0">
              <a:buNone/>
            </a:pPr>
            <a:r>
              <a:rPr lang="en-US" sz="850" b="1" dirty="0">
                <a:solidFill>
                  <a:srgbClr val="164E63"/>
                </a:solidFill>
                <a:latin typeface="Calibri" pitchFamily="34" charset="0"/>
                <a:ea typeface="Calibri" pitchFamily="34" charset="-122"/>
                <a:cs typeface="Calibri" pitchFamily="34" charset="-120"/>
              </a:rPr>
              <a:t>🌍 What global users say about DAZN brand</a:t>
            </a:r>
            <a:endParaRPr lang="en-US" sz="850" dirty="0"/>
          </a:p>
        </p:txBody>
      </p:sp>
      <p:sp>
        <p:nvSpPr>
          <p:cNvPr id="14" name="Shape 12"/>
          <p:cNvSpPr/>
          <p:nvPr/>
        </p:nvSpPr>
        <p:spPr>
          <a:xfrm>
            <a:off x="365760" y="212140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15" name="Shape 13"/>
          <p:cNvSpPr/>
          <p:nvPr/>
        </p:nvSpPr>
        <p:spPr>
          <a:xfrm>
            <a:off x="365760" y="2121408"/>
            <a:ext cx="2651760" cy="36576"/>
          </a:xfrm>
          <a:prstGeom prst="rect">
            <a:avLst/>
          </a:prstGeom>
          <a:solidFill>
            <a:srgbClr val="06B6D4"/>
          </a:solidFill>
          <a:ln/>
        </p:spPr>
      </p:sp>
      <p:sp>
        <p:nvSpPr>
          <p:cNvPr id="16" name="Text 14"/>
          <p:cNvSpPr/>
          <p:nvPr/>
        </p:nvSpPr>
        <p:spPr>
          <a:xfrm>
            <a:off x="411480" y="217627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"Content quality has always been top tier. NFL Game Pass is the only way to watch every NFL game internationally."</a:t>
            </a:r>
            <a:endParaRPr lang="en-US" sz="800" dirty="0"/>
          </a:p>
        </p:txBody>
      </p:sp>
      <p:sp>
        <p:nvSpPr>
          <p:cNvPr id="17" name="Text 15"/>
          <p:cNvSpPr/>
          <p:nvPr/>
        </p:nvSpPr>
        <p:spPr>
          <a:xfrm>
            <a:off x="411480" y="283464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Trustpilot 5★ | NFL Fan, Jan 2025</a:t>
            </a:r>
            <a:endParaRPr lang="en-US" sz="700" dirty="0"/>
          </a:p>
        </p:txBody>
      </p:sp>
      <p:sp>
        <p:nvSpPr>
          <p:cNvPr id="18" name="Shape 16"/>
          <p:cNvSpPr/>
          <p:nvPr/>
        </p:nvSpPr>
        <p:spPr>
          <a:xfrm>
            <a:off x="365760" y="317296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19" name="Shape 17"/>
          <p:cNvSpPr/>
          <p:nvPr/>
        </p:nvSpPr>
        <p:spPr>
          <a:xfrm>
            <a:off x="365760" y="3172968"/>
            <a:ext cx="2651760" cy="36576"/>
          </a:xfrm>
          <a:prstGeom prst="rect">
            <a:avLst/>
          </a:prstGeom>
          <a:solidFill>
            <a:srgbClr val="06B6D4"/>
          </a:solidFill>
          <a:ln/>
        </p:spPr>
      </p:sp>
      <p:sp>
        <p:nvSpPr>
          <p:cNvPr id="20" name="Text 18"/>
          <p:cNvSpPr/>
          <p:nvPr/>
        </p:nvSpPr>
        <p:spPr>
          <a:xfrm>
            <a:off x="411480" y="322783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"Superb for NFL in the UK. The quality was dreadful when I first signed up in Feb 2024 but it has since improved massively."</a:t>
            </a:r>
            <a:endParaRPr lang="en-US" sz="800" dirty="0"/>
          </a:p>
        </p:txBody>
      </p:sp>
      <p:sp>
        <p:nvSpPr>
          <p:cNvPr id="21" name="Text 19"/>
          <p:cNvSpPr/>
          <p:nvPr/>
        </p:nvSpPr>
        <p:spPr>
          <a:xfrm>
            <a:off x="411480" y="388620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Trustpilot 5★ | Sports Fan</a:t>
            </a:r>
            <a:endParaRPr lang="en-US" sz="700" dirty="0"/>
          </a:p>
        </p:txBody>
      </p:sp>
      <p:sp>
        <p:nvSpPr>
          <p:cNvPr id="22" name="Shape 20"/>
          <p:cNvSpPr/>
          <p:nvPr/>
        </p:nvSpPr>
        <p:spPr>
          <a:xfrm>
            <a:off x="365760" y="422452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23" name="Shape 21"/>
          <p:cNvSpPr/>
          <p:nvPr/>
        </p:nvSpPr>
        <p:spPr>
          <a:xfrm>
            <a:off x="365760" y="4224528"/>
            <a:ext cx="2651760" cy="36576"/>
          </a:xfrm>
          <a:prstGeom prst="rect">
            <a:avLst/>
          </a:prstGeom>
          <a:solidFill>
            <a:srgbClr val="06B6D4"/>
          </a:solidFill>
          <a:ln/>
        </p:spPr>
      </p:sp>
      <p:sp>
        <p:nvSpPr>
          <p:cNvPr id="24" name="Text 22"/>
          <p:cNvSpPr/>
          <p:nvPr/>
        </p:nvSpPr>
        <p:spPr>
          <a:xfrm>
            <a:off x="411480" y="427939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"Fan Zone watch parties are incredible — watching boxing with other DAZN fans is a completely different experience."</a:t>
            </a:r>
            <a:endParaRPr lang="en-US" sz="800" dirty="0"/>
          </a:p>
        </p:txBody>
      </p:sp>
      <p:sp>
        <p:nvSpPr>
          <p:cNvPr id="25" name="Text 23"/>
          <p:cNvSpPr/>
          <p:nvPr/>
        </p:nvSpPr>
        <p:spPr>
          <a:xfrm>
            <a:off x="411480" y="493776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Reddit r/Boxing | Community feedback</a:t>
            </a:r>
            <a:endParaRPr lang="en-US" sz="700" dirty="0"/>
          </a:p>
        </p:txBody>
      </p:sp>
      <p:sp>
        <p:nvSpPr>
          <p:cNvPr id="26" name="Shape 24"/>
          <p:cNvSpPr/>
          <p:nvPr/>
        </p:nvSpPr>
        <p:spPr>
          <a:xfrm>
            <a:off x="365760" y="527608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27" name="Shape 25"/>
          <p:cNvSpPr/>
          <p:nvPr/>
        </p:nvSpPr>
        <p:spPr>
          <a:xfrm>
            <a:off x="365760" y="5276088"/>
            <a:ext cx="2651760" cy="36576"/>
          </a:xfrm>
          <a:prstGeom prst="rect">
            <a:avLst/>
          </a:prstGeom>
          <a:solidFill>
            <a:srgbClr val="06B6D4"/>
          </a:solidFill>
          <a:ln/>
        </p:spPr>
      </p:sp>
      <p:sp>
        <p:nvSpPr>
          <p:cNvPr id="28" name="Text 26"/>
          <p:cNvSpPr/>
          <p:nvPr/>
        </p:nvSpPr>
        <p:spPr>
          <a:xfrm>
            <a:off x="411480" y="533095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"DAZN is building the ultimate global sports entertainment platform — the NFL partnership shows they are serious."</a:t>
            </a:r>
            <a:endParaRPr lang="en-US" sz="800" dirty="0"/>
          </a:p>
        </p:txBody>
      </p:sp>
      <p:sp>
        <p:nvSpPr>
          <p:cNvPr id="29" name="Text 27"/>
          <p:cNvSpPr/>
          <p:nvPr/>
        </p:nvSpPr>
        <p:spPr>
          <a:xfrm>
            <a:off x="411480" y="598932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LinkedIn sports community, 2025</a:t>
            </a:r>
            <a:endParaRPr lang="en-US" sz="700" dirty="0"/>
          </a:p>
        </p:txBody>
      </p:sp>
      <p:sp>
        <p:nvSpPr>
          <p:cNvPr id="30" name="Shape 28"/>
          <p:cNvSpPr/>
          <p:nvPr/>
        </p:nvSpPr>
        <p:spPr>
          <a:xfrm>
            <a:off x="3246120" y="1572768"/>
            <a:ext cx="2834640" cy="4983480"/>
          </a:xfrm>
          <a:prstGeom prst="rect">
            <a:avLst/>
          </a:prstGeom>
          <a:solidFill>
            <a:srgbClr val="FFF1F1"/>
          </a:solidFill>
          <a:ln/>
          <a:effectLst>
            <a:outerShdw sx="100000" sy="100000" kx="0" ky="0" algn="bl" rotWithShape="0" blurRad="76200" dist="25400" dir="8100000">
              <a:srgbClr val="000000">
                <a:alpha val="14000"/>
              </a:srgbClr>
            </a:outerShdw>
          </a:effectLst>
        </p:spPr>
      </p:sp>
      <p:sp>
        <p:nvSpPr>
          <p:cNvPr id="31" name="Shape 29"/>
          <p:cNvSpPr/>
          <p:nvPr/>
        </p:nvSpPr>
        <p:spPr>
          <a:xfrm>
            <a:off x="3246120" y="1572768"/>
            <a:ext cx="2834640" cy="54864"/>
          </a:xfrm>
          <a:prstGeom prst="rect">
            <a:avLst/>
          </a:prstGeom>
          <a:solidFill>
            <a:srgbClr val="EF4444"/>
          </a:solidFill>
          <a:ln/>
        </p:spPr>
      </p:sp>
      <p:sp>
        <p:nvSpPr>
          <p:cNvPr id="32" name="Text 30"/>
          <p:cNvSpPr/>
          <p:nvPr/>
        </p:nvSpPr>
        <p:spPr>
          <a:xfrm>
            <a:off x="3319272" y="1673352"/>
            <a:ext cx="2651760" cy="384048"/>
          </a:xfrm>
          <a:prstGeom prst="rect">
            <a:avLst/>
          </a:prstGeom>
          <a:noFill/>
          <a:ln/>
        </p:spPr>
        <p:txBody>
          <a:bodyPr wrap="square" rtlCol="0" anchor="ctr"/>
          <a:lstStyle/>
          <a:p>
            <a:pPr indent="0" marL="0">
              <a:buNone/>
            </a:pPr>
            <a:r>
              <a:rPr lang="en-US" sz="850" b="1" dirty="0">
                <a:solidFill>
                  <a:srgbClr val="7F1D1D"/>
                </a:solidFill>
                <a:latin typeface="Calibri" pitchFamily="34" charset="0"/>
                <a:ea typeface="Calibri" pitchFamily="34" charset="-122"/>
                <a:cs typeface="Calibri" pitchFamily="34" charset="-120"/>
              </a:rPr>
              <a:t>💸 What users say about DAZN Pricing &amp; Trust</a:t>
            </a:r>
            <a:endParaRPr lang="en-US" sz="850" dirty="0"/>
          </a:p>
        </p:txBody>
      </p:sp>
      <p:sp>
        <p:nvSpPr>
          <p:cNvPr id="33" name="Shape 31"/>
          <p:cNvSpPr/>
          <p:nvPr/>
        </p:nvSpPr>
        <p:spPr>
          <a:xfrm>
            <a:off x="3337560" y="212140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34" name="Shape 32"/>
          <p:cNvSpPr/>
          <p:nvPr/>
        </p:nvSpPr>
        <p:spPr>
          <a:xfrm>
            <a:off x="3337560" y="2121408"/>
            <a:ext cx="2651760" cy="36576"/>
          </a:xfrm>
          <a:prstGeom prst="rect">
            <a:avLst/>
          </a:prstGeom>
          <a:solidFill>
            <a:srgbClr val="EF4444"/>
          </a:solidFill>
          <a:ln/>
        </p:spPr>
      </p:sp>
      <p:sp>
        <p:nvSpPr>
          <p:cNvPr id="35" name="Text 33"/>
          <p:cNvSpPr/>
          <p:nvPr/>
        </p:nvSpPr>
        <p:spPr>
          <a:xfrm>
            <a:off x="3383280" y="217627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"This company is a total rip off who will sign you up to a contract without your knowledge."</a:t>
            </a:r>
            <a:endParaRPr lang="en-US" sz="800" dirty="0"/>
          </a:p>
        </p:txBody>
      </p:sp>
      <p:sp>
        <p:nvSpPr>
          <p:cNvPr id="36" name="Text 34"/>
          <p:cNvSpPr/>
          <p:nvPr/>
        </p:nvSpPr>
        <p:spPr>
          <a:xfrm>
            <a:off x="3383280" y="283464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Trustpilot 1★ | Global (Jake Paul fight, 2023)</a:t>
            </a:r>
            <a:endParaRPr lang="en-US" sz="700" dirty="0"/>
          </a:p>
        </p:txBody>
      </p:sp>
      <p:sp>
        <p:nvSpPr>
          <p:cNvPr id="37" name="Shape 35"/>
          <p:cNvSpPr/>
          <p:nvPr/>
        </p:nvSpPr>
        <p:spPr>
          <a:xfrm>
            <a:off x="3337560" y="317296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38" name="Shape 36"/>
          <p:cNvSpPr/>
          <p:nvPr/>
        </p:nvSpPr>
        <p:spPr>
          <a:xfrm>
            <a:off x="3337560" y="3172968"/>
            <a:ext cx="2651760" cy="36576"/>
          </a:xfrm>
          <a:prstGeom prst="rect">
            <a:avLst/>
          </a:prstGeom>
          <a:solidFill>
            <a:srgbClr val="EF4444"/>
          </a:solidFill>
          <a:ln/>
        </p:spPr>
      </p:sp>
      <p:sp>
        <p:nvSpPr>
          <p:cNvPr id="39" name="Text 37"/>
          <p:cNvSpPr/>
          <p:nvPr/>
        </p:nvSpPr>
        <p:spPr>
          <a:xfrm>
            <a:off x="3383280" y="322783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"I paid 28 euros to see Usyk vs Rico. Broadcast quality was shocking. Lost half the fight to constant glitches."</a:t>
            </a:r>
            <a:endParaRPr lang="en-US" sz="800" dirty="0"/>
          </a:p>
        </p:txBody>
      </p:sp>
      <p:sp>
        <p:nvSpPr>
          <p:cNvPr id="40" name="Text 38"/>
          <p:cNvSpPr/>
          <p:nvPr/>
        </p:nvSpPr>
        <p:spPr>
          <a:xfrm>
            <a:off x="3383280" y="388620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Trustpilot 1★ | European user, 2024</a:t>
            </a:r>
            <a:endParaRPr lang="en-US" sz="700" dirty="0"/>
          </a:p>
        </p:txBody>
      </p:sp>
      <p:sp>
        <p:nvSpPr>
          <p:cNvPr id="41" name="Shape 39"/>
          <p:cNvSpPr/>
          <p:nvPr/>
        </p:nvSpPr>
        <p:spPr>
          <a:xfrm>
            <a:off x="3337560" y="422452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42" name="Shape 40"/>
          <p:cNvSpPr/>
          <p:nvPr/>
        </p:nvSpPr>
        <p:spPr>
          <a:xfrm>
            <a:off x="3337560" y="4224528"/>
            <a:ext cx="2651760" cy="36576"/>
          </a:xfrm>
          <a:prstGeom prst="rect">
            <a:avLst/>
          </a:prstGeom>
          <a:solidFill>
            <a:srgbClr val="EF4444"/>
          </a:solidFill>
          <a:ln/>
        </p:spPr>
      </p:sp>
      <p:sp>
        <p:nvSpPr>
          <p:cNvPr id="43" name="Text 41"/>
          <p:cNvSpPr/>
          <p:nvPr/>
        </p:nvSpPr>
        <p:spPr>
          <a:xfrm>
            <a:off x="3383280" y="427939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"Be very careful with DAZN. They use AI agents abroad. They cheat you and trick you into taking your money twice."</a:t>
            </a:r>
            <a:endParaRPr lang="en-US" sz="800" dirty="0"/>
          </a:p>
        </p:txBody>
      </p:sp>
      <p:sp>
        <p:nvSpPr>
          <p:cNvPr id="44" name="Text 42"/>
          <p:cNvSpPr/>
          <p:nvPr/>
        </p:nvSpPr>
        <p:spPr>
          <a:xfrm>
            <a:off x="3383280" y="493776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Trustpilot 1★ | Customer service complaint</a:t>
            </a:r>
            <a:endParaRPr lang="en-US" sz="700" dirty="0"/>
          </a:p>
        </p:txBody>
      </p:sp>
      <p:sp>
        <p:nvSpPr>
          <p:cNvPr id="45" name="Shape 43"/>
          <p:cNvSpPr/>
          <p:nvPr/>
        </p:nvSpPr>
        <p:spPr>
          <a:xfrm>
            <a:off x="3337560" y="527608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46" name="Shape 44"/>
          <p:cNvSpPr/>
          <p:nvPr/>
        </p:nvSpPr>
        <p:spPr>
          <a:xfrm>
            <a:off x="3337560" y="5276088"/>
            <a:ext cx="2651760" cy="36576"/>
          </a:xfrm>
          <a:prstGeom prst="rect">
            <a:avLst/>
          </a:prstGeom>
          <a:solidFill>
            <a:srgbClr val="EF4444"/>
          </a:solidFill>
          <a:ln/>
        </p:spPr>
      </p:sp>
      <p:sp>
        <p:nvSpPr>
          <p:cNvPr id="47" name="Text 45"/>
          <p:cNvSpPr/>
          <p:nvPr/>
        </p:nvSpPr>
        <p:spPr>
          <a:xfrm>
            <a:off x="3383280" y="533095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"This company had a 1 star rating a year ago and suddenly now 4.5 stars — something strange is happening."</a:t>
            </a:r>
            <a:endParaRPr lang="en-US" sz="800" dirty="0"/>
          </a:p>
        </p:txBody>
      </p:sp>
      <p:sp>
        <p:nvSpPr>
          <p:cNvPr id="48" name="Text 46"/>
          <p:cNvSpPr/>
          <p:nvPr/>
        </p:nvSpPr>
        <p:spPr>
          <a:xfrm>
            <a:off x="3383280" y="598932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Trustpilot community review, 2025</a:t>
            </a:r>
            <a:endParaRPr lang="en-US" sz="700" dirty="0"/>
          </a:p>
        </p:txBody>
      </p:sp>
      <p:sp>
        <p:nvSpPr>
          <p:cNvPr id="49" name="Shape 47"/>
          <p:cNvSpPr/>
          <p:nvPr/>
        </p:nvSpPr>
        <p:spPr>
          <a:xfrm>
            <a:off x="6217920" y="1572768"/>
            <a:ext cx="2834640" cy="4983480"/>
          </a:xfrm>
          <a:prstGeom prst="rect">
            <a:avLst/>
          </a:prstGeom>
          <a:solidFill>
            <a:srgbClr val="FFFBEB"/>
          </a:solidFill>
          <a:ln/>
          <a:effectLst>
            <a:outerShdw sx="100000" sy="100000" kx="0" ky="0" algn="bl" rotWithShape="0" blurRad="76200" dist="25400" dir="8100000">
              <a:srgbClr val="000000">
                <a:alpha val="14000"/>
              </a:srgbClr>
            </a:outerShdw>
          </a:effectLst>
        </p:spPr>
      </p:sp>
      <p:sp>
        <p:nvSpPr>
          <p:cNvPr id="50" name="Shape 48"/>
          <p:cNvSpPr/>
          <p:nvPr/>
        </p:nvSpPr>
        <p:spPr>
          <a:xfrm>
            <a:off x="6217920" y="1572768"/>
            <a:ext cx="2834640" cy="54864"/>
          </a:xfrm>
          <a:prstGeom prst="rect">
            <a:avLst/>
          </a:prstGeom>
          <a:solidFill>
            <a:srgbClr val="D4A800"/>
          </a:solidFill>
          <a:ln/>
        </p:spPr>
      </p:sp>
      <p:sp>
        <p:nvSpPr>
          <p:cNvPr id="51" name="Text 49"/>
          <p:cNvSpPr/>
          <p:nvPr/>
        </p:nvSpPr>
        <p:spPr>
          <a:xfrm>
            <a:off x="6291072" y="1673352"/>
            <a:ext cx="2651760" cy="384048"/>
          </a:xfrm>
          <a:prstGeom prst="rect">
            <a:avLst/>
          </a:prstGeom>
          <a:noFill/>
          <a:ln/>
        </p:spPr>
        <p:txBody>
          <a:bodyPr wrap="square" rtlCol="0" anchor="ctr"/>
          <a:lstStyle/>
          <a:p>
            <a:pPr indent="0" marL="0">
              <a:buNone/>
            </a:pPr>
            <a:r>
              <a:rPr lang="en-US" sz="850" b="1" dirty="0">
                <a:solidFill>
                  <a:srgbClr val="78350F"/>
                </a:solidFill>
                <a:latin typeface="Calibri" pitchFamily="34" charset="0"/>
                <a:ea typeface="Calibri" pitchFamily="34" charset="-122"/>
                <a:cs typeface="Calibri" pitchFamily="34" charset="-120"/>
              </a:rPr>
              <a:t>🇮🇳 What India sports fans say about DAZN</a:t>
            </a:r>
            <a:endParaRPr lang="en-US" sz="850" dirty="0"/>
          </a:p>
        </p:txBody>
      </p:sp>
      <p:sp>
        <p:nvSpPr>
          <p:cNvPr id="52" name="Shape 50"/>
          <p:cNvSpPr/>
          <p:nvPr/>
        </p:nvSpPr>
        <p:spPr>
          <a:xfrm>
            <a:off x="6309360" y="212140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53" name="Shape 51"/>
          <p:cNvSpPr/>
          <p:nvPr/>
        </p:nvSpPr>
        <p:spPr>
          <a:xfrm>
            <a:off x="6309360" y="2121408"/>
            <a:ext cx="2651760" cy="36576"/>
          </a:xfrm>
          <a:prstGeom prst="rect">
            <a:avLst/>
          </a:prstGeom>
          <a:solidFill>
            <a:srgbClr val="D4A800"/>
          </a:solidFill>
          <a:ln/>
        </p:spPr>
      </p:sp>
      <p:sp>
        <p:nvSpPr>
          <p:cNvPr id="54" name="Text 52"/>
          <p:cNvSpPr/>
          <p:nvPr/>
        </p:nvSpPr>
        <p:spPr>
          <a:xfrm>
            <a:off x="6355080" y="217627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"Never heard of DAZN. Is it available in India?" — typical response from urban Indian OTT users when surveyed.</a:t>
            </a:r>
            <a:endParaRPr lang="en-US" sz="800" dirty="0"/>
          </a:p>
        </p:txBody>
      </p:sp>
      <p:sp>
        <p:nvSpPr>
          <p:cNvPr id="55" name="Text 53"/>
          <p:cNvSpPr/>
          <p:nvPr/>
        </p:nvSpPr>
        <p:spPr>
          <a:xfrm>
            <a:off x="6355080" y="283464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Social media informal survey pattern, India Twitter</a:t>
            </a:r>
            <a:endParaRPr lang="en-US" sz="700" dirty="0"/>
          </a:p>
        </p:txBody>
      </p:sp>
      <p:sp>
        <p:nvSpPr>
          <p:cNvPr id="56" name="Shape 54"/>
          <p:cNvSpPr/>
          <p:nvPr/>
        </p:nvSpPr>
        <p:spPr>
          <a:xfrm>
            <a:off x="6309360" y="317296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57" name="Shape 55"/>
          <p:cNvSpPr/>
          <p:nvPr/>
        </p:nvSpPr>
        <p:spPr>
          <a:xfrm>
            <a:off x="6309360" y="3172968"/>
            <a:ext cx="2651760" cy="36576"/>
          </a:xfrm>
          <a:prstGeom prst="rect">
            <a:avLst/>
          </a:prstGeom>
          <a:solidFill>
            <a:srgbClr val="D4A800"/>
          </a:solidFill>
          <a:ln/>
        </p:spPr>
      </p:sp>
      <p:sp>
        <p:nvSpPr>
          <p:cNvPr id="58" name="Text 56"/>
          <p:cNvSpPr/>
          <p:nvPr/>
        </p:nvSpPr>
        <p:spPr>
          <a:xfrm>
            <a:off x="6355080" y="322783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"DAZN has NFL? Cool. But without IPL, nobody here is paying a separate subscription for it."</a:t>
            </a:r>
            <a:endParaRPr lang="en-US" sz="800" dirty="0"/>
          </a:p>
        </p:txBody>
      </p:sp>
      <p:sp>
        <p:nvSpPr>
          <p:cNvPr id="59" name="Text 57"/>
          <p:cNvSpPr/>
          <p:nvPr/>
        </p:nvSpPr>
        <p:spPr>
          <a:xfrm>
            <a:off x="6355080" y="388620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Reddit r/india sports discussion, 2024</a:t>
            </a:r>
            <a:endParaRPr lang="en-US" sz="700" dirty="0"/>
          </a:p>
        </p:txBody>
      </p:sp>
      <p:sp>
        <p:nvSpPr>
          <p:cNvPr id="60" name="Shape 58"/>
          <p:cNvSpPr/>
          <p:nvPr/>
        </p:nvSpPr>
        <p:spPr>
          <a:xfrm>
            <a:off x="6309360" y="422452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61" name="Shape 59"/>
          <p:cNvSpPr/>
          <p:nvPr/>
        </p:nvSpPr>
        <p:spPr>
          <a:xfrm>
            <a:off x="6309360" y="4224528"/>
            <a:ext cx="2651760" cy="36576"/>
          </a:xfrm>
          <a:prstGeom prst="rect">
            <a:avLst/>
          </a:prstGeom>
          <a:solidFill>
            <a:srgbClr val="D4A800"/>
          </a:solidFill>
          <a:ln/>
        </p:spPr>
      </p:sp>
      <p:sp>
        <p:nvSpPr>
          <p:cNvPr id="62" name="Text 60"/>
          <p:cNvSpPr/>
          <p:nvPr/>
        </p:nvSpPr>
        <p:spPr>
          <a:xfrm>
            <a:off x="6355080" y="427939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"If DAZN had cricket rights I'd subscribe immediately. The boxing content is great but cricket is non-negotiable."</a:t>
            </a:r>
            <a:endParaRPr lang="en-US" sz="800" dirty="0"/>
          </a:p>
        </p:txBody>
      </p:sp>
      <p:sp>
        <p:nvSpPr>
          <p:cNvPr id="63" name="Text 61"/>
          <p:cNvSpPr/>
          <p:nvPr/>
        </p:nvSpPr>
        <p:spPr>
          <a:xfrm>
            <a:off x="6355080" y="493776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Twitter India sports community response</a:t>
            </a:r>
            <a:endParaRPr lang="en-US" sz="700" dirty="0"/>
          </a:p>
        </p:txBody>
      </p:sp>
      <p:sp>
        <p:nvSpPr>
          <p:cNvPr id="64" name="Shape 62"/>
          <p:cNvSpPr/>
          <p:nvPr/>
        </p:nvSpPr>
        <p:spPr>
          <a:xfrm>
            <a:off x="6309360" y="527608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65" name="Shape 63"/>
          <p:cNvSpPr/>
          <p:nvPr/>
        </p:nvSpPr>
        <p:spPr>
          <a:xfrm>
            <a:off x="6309360" y="5276088"/>
            <a:ext cx="2651760" cy="36576"/>
          </a:xfrm>
          <a:prstGeom prst="rect">
            <a:avLst/>
          </a:prstGeom>
          <a:solidFill>
            <a:srgbClr val="D4A800"/>
          </a:solidFill>
          <a:ln/>
        </p:spPr>
      </p:sp>
      <p:sp>
        <p:nvSpPr>
          <p:cNvPr id="66" name="Text 64"/>
          <p:cNvSpPr/>
          <p:nvPr/>
        </p:nvSpPr>
        <p:spPr>
          <a:xfrm>
            <a:off x="6355080" y="533095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"The NFL India Game Pass is neat but the pricing isn't worth it when I can watch highlights for free on YouTube."</a:t>
            </a:r>
            <a:endParaRPr lang="en-US" sz="800" dirty="0"/>
          </a:p>
        </p:txBody>
      </p:sp>
      <p:sp>
        <p:nvSpPr>
          <p:cNvPr id="67" name="Text 65"/>
          <p:cNvSpPr/>
          <p:nvPr/>
        </p:nvSpPr>
        <p:spPr>
          <a:xfrm>
            <a:off x="6355080" y="598932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Indian NFL fan community, Reddit</a:t>
            </a:r>
            <a:endParaRPr lang="en-US" sz="700" dirty="0"/>
          </a:p>
        </p:txBody>
      </p:sp>
      <p:sp>
        <p:nvSpPr>
          <p:cNvPr id="68" name="Shape 66"/>
          <p:cNvSpPr/>
          <p:nvPr/>
        </p:nvSpPr>
        <p:spPr>
          <a:xfrm>
            <a:off x="9189720" y="1572768"/>
            <a:ext cx="2834640" cy="4983480"/>
          </a:xfrm>
          <a:prstGeom prst="rect">
            <a:avLst/>
          </a:prstGeom>
          <a:solidFill>
            <a:srgbClr val="F0FDF4"/>
          </a:solidFill>
          <a:ln/>
          <a:effectLst>
            <a:outerShdw sx="100000" sy="100000" kx="0" ky="0" algn="bl" rotWithShape="0" blurRad="76200" dist="25400" dir="8100000">
              <a:srgbClr val="000000">
                <a:alpha val="14000"/>
              </a:srgbClr>
            </a:outerShdw>
          </a:effectLst>
        </p:spPr>
      </p:sp>
      <p:sp>
        <p:nvSpPr>
          <p:cNvPr id="69" name="Shape 67"/>
          <p:cNvSpPr/>
          <p:nvPr/>
        </p:nvSpPr>
        <p:spPr>
          <a:xfrm>
            <a:off x="9189720" y="1572768"/>
            <a:ext cx="2834640" cy="54864"/>
          </a:xfrm>
          <a:prstGeom prst="rect">
            <a:avLst/>
          </a:prstGeom>
          <a:solidFill>
            <a:srgbClr val="22C55E"/>
          </a:solidFill>
          <a:ln/>
        </p:spPr>
      </p:sp>
      <p:sp>
        <p:nvSpPr>
          <p:cNvPr id="70" name="Text 68"/>
          <p:cNvSpPr/>
          <p:nvPr/>
        </p:nvSpPr>
        <p:spPr>
          <a:xfrm>
            <a:off x="9262872" y="1673352"/>
            <a:ext cx="2651760" cy="384048"/>
          </a:xfrm>
          <a:prstGeom prst="rect">
            <a:avLst/>
          </a:prstGeom>
          <a:noFill/>
          <a:ln/>
        </p:spPr>
        <p:txBody>
          <a:bodyPr wrap="square" rtlCol="0" anchor="ctr"/>
          <a:lstStyle/>
          <a:p>
            <a:pPr indent="0" marL="0">
              <a:buNone/>
            </a:pPr>
            <a:r>
              <a:rPr lang="en-US" sz="850" b="1" dirty="0">
                <a:solidFill>
                  <a:srgbClr val="14532D"/>
                </a:solidFill>
                <a:latin typeface="Calibri" pitchFamily="34" charset="0"/>
                <a:ea typeface="Calibri" pitchFamily="34" charset="-122"/>
                <a:cs typeface="Calibri" pitchFamily="34" charset="-120"/>
              </a:rPr>
              <a:t>✅ What India niche users love about DAZN</a:t>
            </a:r>
            <a:endParaRPr lang="en-US" sz="850" dirty="0"/>
          </a:p>
        </p:txBody>
      </p:sp>
      <p:sp>
        <p:nvSpPr>
          <p:cNvPr id="71" name="Shape 69"/>
          <p:cNvSpPr/>
          <p:nvPr/>
        </p:nvSpPr>
        <p:spPr>
          <a:xfrm>
            <a:off x="9281160" y="212140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72" name="Shape 70"/>
          <p:cNvSpPr/>
          <p:nvPr/>
        </p:nvSpPr>
        <p:spPr>
          <a:xfrm>
            <a:off x="9281160" y="2121408"/>
            <a:ext cx="2651760" cy="36576"/>
          </a:xfrm>
          <a:prstGeom prst="rect">
            <a:avLst/>
          </a:prstGeom>
          <a:solidFill>
            <a:srgbClr val="22C55E"/>
          </a:solidFill>
          <a:ln/>
        </p:spPr>
      </p:sp>
      <p:sp>
        <p:nvSpPr>
          <p:cNvPr id="73" name="Text 71"/>
          <p:cNvSpPr/>
          <p:nvPr/>
        </p:nvSpPr>
        <p:spPr>
          <a:xfrm>
            <a:off x="9326880" y="217627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"DAZN's NFL coverage is the most comprehensive available outside the US. The free game every week is brilliant."</a:t>
            </a:r>
            <a:endParaRPr lang="en-US" sz="800" dirty="0"/>
          </a:p>
        </p:txBody>
      </p:sp>
      <p:sp>
        <p:nvSpPr>
          <p:cNvPr id="74" name="Text 72"/>
          <p:cNvSpPr/>
          <p:nvPr/>
        </p:nvSpPr>
        <p:spPr>
          <a:xfrm>
            <a:off x="9326880" y="283464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Indian NFL fan, Twitter</a:t>
            </a:r>
            <a:endParaRPr lang="en-US" sz="700" dirty="0"/>
          </a:p>
        </p:txBody>
      </p:sp>
      <p:sp>
        <p:nvSpPr>
          <p:cNvPr id="75" name="Shape 73"/>
          <p:cNvSpPr/>
          <p:nvPr/>
        </p:nvSpPr>
        <p:spPr>
          <a:xfrm>
            <a:off x="9281160" y="317296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76" name="Shape 74"/>
          <p:cNvSpPr/>
          <p:nvPr/>
        </p:nvSpPr>
        <p:spPr>
          <a:xfrm>
            <a:off x="9281160" y="3172968"/>
            <a:ext cx="2651760" cy="36576"/>
          </a:xfrm>
          <a:prstGeom prst="rect">
            <a:avLst/>
          </a:prstGeom>
          <a:solidFill>
            <a:srgbClr val="22C55E"/>
          </a:solidFill>
          <a:ln/>
        </p:spPr>
      </p:sp>
      <p:sp>
        <p:nvSpPr>
          <p:cNvPr id="77" name="Text 75"/>
          <p:cNvSpPr/>
          <p:nvPr/>
        </p:nvSpPr>
        <p:spPr>
          <a:xfrm>
            <a:off x="9326880" y="322783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"Boxing on DAZN is unmatched. Canelo, Fury, Joshua — if you're a boxing fan DAZN is the only choice."</a:t>
            </a:r>
            <a:endParaRPr lang="en-US" sz="800" dirty="0"/>
          </a:p>
        </p:txBody>
      </p:sp>
      <p:sp>
        <p:nvSpPr>
          <p:cNvPr id="78" name="Text 76"/>
          <p:cNvSpPr/>
          <p:nvPr/>
        </p:nvSpPr>
        <p:spPr>
          <a:xfrm>
            <a:off x="9326880" y="388620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Indian boxing fan, Reddit r/Boxing</a:t>
            </a:r>
            <a:endParaRPr lang="en-US" sz="700" dirty="0"/>
          </a:p>
        </p:txBody>
      </p:sp>
      <p:sp>
        <p:nvSpPr>
          <p:cNvPr id="79" name="Shape 77"/>
          <p:cNvSpPr/>
          <p:nvPr/>
        </p:nvSpPr>
        <p:spPr>
          <a:xfrm>
            <a:off x="9281160" y="422452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80" name="Shape 78"/>
          <p:cNvSpPr/>
          <p:nvPr/>
        </p:nvSpPr>
        <p:spPr>
          <a:xfrm>
            <a:off x="9281160" y="4224528"/>
            <a:ext cx="2651760" cy="36576"/>
          </a:xfrm>
          <a:prstGeom prst="rect">
            <a:avLst/>
          </a:prstGeom>
          <a:solidFill>
            <a:srgbClr val="22C55E"/>
          </a:solidFill>
          <a:ln/>
        </p:spPr>
      </p:sp>
      <p:sp>
        <p:nvSpPr>
          <p:cNvPr id="81" name="Text 79"/>
          <p:cNvSpPr/>
          <p:nvPr/>
        </p:nvSpPr>
        <p:spPr>
          <a:xfrm>
            <a:off x="9326880" y="427939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"The app quality has improved significantly since 2024. Streaming is smooth and the UI is clean."</a:t>
            </a:r>
            <a:endParaRPr lang="en-US" sz="800" dirty="0"/>
          </a:p>
        </p:txBody>
      </p:sp>
      <p:sp>
        <p:nvSpPr>
          <p:cNvPr id="82" name="Text 80"/>
          <p:cNvSpPr/>
          <p:nvPr/>
        </p:nvSpPr>
        <p:spPr>
          <a:xfrm>
            <a:off x="9326880" y="493776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Trustpilot 4★ reviewer, 2025</a:t>
            </a:r>
            <a:endParaRPr lang="en-US" sz="700" dirty="0"/>
          </a:p>
        </p:txBody>
      </p:sp>
      <p:sp>
        <p:nvSpPr>
          <p:cNvPr id="83" name="Shape 81"/>
          <p:cNvSpPr/>
          <p:nvPr/>
        </p:nvSpPr>
        <p:spPr>
          <a:xfrm>
            <a:off x="9281160" y="5276088"/>
            <a:ext cx="2651760" cy="9875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84" name="Shape 82"/>
          <p:cNvSpPr/>
          <p:nvPr/>
        </p:nvSpPr>
        <p:spPr>
          <a:xfrm>
            <a:off x="9281160" y="5276088"/>
            <a:ext cx="2651760" cy="36576"/>
          </a:xfrm>
          <a:prstGeom prst="rect">
            <a:avLst/>
          </a:prstGeom>
          <a:solidFill>
            <a:srgbClr val="22C55E"/>
          </a:solidFill>
          <a:ln/>
        </p:spPr>
      </p:sp>
      <p:sp>
        <p:nvSpPr>
          <p:cNvPr id="85" name="Text 83"/>
          <p:cNvSpPr/>
          <p:nvPr/>
        </p:nvSpPr>
        <p:spPr>
          <a:xfrm>
            <a:off x="9326880" y="5330952"/>
            <a:ext cx="2560320" cy="658368"/>
          </a:xfrm>
          <a:prstGeom prst="rect">
            <a:avLst/>
          </a:prstGeom>
          <a:noFill/>
          <a:ln/>
        </p:spPr>
        <p:txBody>
          <a:bodyPr wrap="square" rtlCol="0" anchor="ctr"/>
          <a:lstStyle/>
          <a:p>
            <a:pPr indent="0" marL="0">
              <a:buNone/>
            </a:pPr>
            <a:r>
              <a:rPr lang="en-US" sz="800" i="1" dirty="0">
                <a:solidFill>
                  <a:srgbClr val="0F172A"/>
                </a:solidFill>
                <a:latin typeface="Calibri" pitchFamily="34" charset="0"/>
                <a:ea typeface="Calibri" pitchFamily="34" charset="-122"/>
                <a:cs typeface="Calibri" pitchFamily="34" charset="-120"/>
              </a:rPr>
              <a:t>"DAZN's women's football content is world-class. Best platform for following UEFA Women's games."</a:t>
            </a:r>
            <a:endParaRPr lang="en-US" sz="800" dirty="0"/>
          </a:p>
        </p:txBody>
      </p:sp>
      <p:sp>
        <p:nvSpPr>
          <p:cNvPr id="86" name="Text 84"/>
          <p:cNvSpPr/>
          <p:nvPr/>
        </p:nvSpPr>
        <p:spPr>
          <a:xfrm>
            <a:off x="9326880" y="5989320"/>
            <a:ext cx="2560320" cy="22860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Reddit r/WomensSports community</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804672"/>
          </a:xfrm>
          <a:prstGeom prst="rect">
            <a:avLst/>
          </a:prstGeom>
          <a:solidFill>
            <a:srgbClr val="0F172A"/>
          </a:solidFill>
          <a:ln/>
        </p:spPr>
      </p:sp>
      <p:sp>
        <p:nvSpPr>
          <p:cNvPr id="3" name="Shape 1"/>
          <p:cNvSpPr/>
          <p:nvPr/>
        </p:nvSpPr>
        <p:spPr>
          <a:xfrm>
            <a:off x="0" y="786384"/>
            <a:ext cx="12161520" cy="64008"/>
          </a:xfrm>
          <a:prstGeom prst="rect">
            <a:avLst/>
          </a:prstGeom>
          <a:solidFill>
            <a:srgbClr val="F7D447"/>
          </a:solidFill>
          <a:ln/>
        </p:spPr>
      </p:sp>
      <p:sp>
        <p:nvSpPr>
          <p:cNvPr id="4" name="Text 2"/>
          <p:cNvSpPr/>
          <p:nvPr/>
        </p:nvSpPr>
        <p:spPr>
          <a:xfrm>
            <a:off x="365760" y="54864"/>
            <a:ext cx="8961120" cy="475488"/>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Social Media Sentiment Analysis — India OTT</a:t>
            </a:r>
            <a:endParaRPr lang="en-US" sz="2000" dirty="0"/>
          </a:p>
        </p:txBody>
      </p:sp>
      <p:sp>
        <p:nvSpPr>
          <p:cNvPr id="5" name="Text 3"/>
          <p:cNvSpPr/>
          <p:nvPr/>
        </p:nvSpPr>
        <p:spPr>
          <a:xfrm>
            <a:off x="365760" y="530352"/>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Positive / Neutral / Negative breakdown | Source: Social listening patterns, App Store analysis, Trustpilot | Jan 2024–Apr 2025</a:t>
            </a:r>
            <a:endParaRPr lang="en-US" sz="950" dirty="0"/>
          </a:p>
        </p:txBody>
      </p:sp>
      <p:sp>
        <p:nvSpPr>
          <p:cNvPr id="6" name="Text 4"/>
          <p:cNvSpPr/>
          <p:nvPr/>
        </p:nvSpPr>
        <p:spPr>
          <a:xfrm>
            <a:off x="9601200" y="228600"/>
            <a:ext cx="2377440" cy="320040"/>
          </a:xfrm>
          <a:prstGeom prst="rect">
            <a:avLst/>
          </a:prstGeom>
          <a:noFill/>
          <a:ln/>
        </p:spPr>
        <p:txBody>
          <a:bodyPr wrap="square" rtlCol="0" anchor="ctr"/>
          <a:lstStyle/>
          <a:p>
            <a:pPr algn="r" indent="0" marL="0">
              <a:buNone/>
            </a:pPr>
            <a:r>
              <a:rPr lang="en-US" sz="850" b="1" dirty="0">
                <a:solidFill>
                  <a:srgbClr val="F7D447"/>
                </a:solidFill>
                <a:latin typeface="Calibri" pitchFamily="34" charset="0"/>
                <a:ea typeface="Calibri" pitchFamily="34" charset="-122"/>
                <a:cs typeface="Calibri" pitchFamily="34" charset="-120"/>
              </a:rPr>
              <a:t>DAZN India  •  Social Listening Report 2025  •  Slide 6</a:t>
            </a:r>
            <a:endParaRPr lang="en-US" sz="850" dirty="0"/>
          </a:p>
        </p:txBody>
      </p:sp>
      <p:sp>
        <p:nvSpPr>
          <p:cNvPr id="7" name="Shape 5"/>
          <p:cNvSpPr/>
          <p:nvPr/>
        </p:nvSpPr>
        <p:spPr>
          <a:xfrm>
            <a:off x="0" y="6675120"/>
            <a:ext cx="12161520" cy="182880"/>
          </a:xfrm>
          <a:prstGeom prst="rect">
            <a:avLst/>
          </a:prstGeom>
          <a:solidFill>
            <a:srgbClr val="0F172A"/>
          </a:solidFill>
          <a:ln/>
        </p:spPr>
      </p:sp>
      <p:sp>
        <p:nvSpPr>
          <p:cNvPr id="8" name="Text 6"/>
          <p:cNvSpPr/>
          <p:nvPr/>
        </p:nvSpPr>
        <p:spPr>
          <a:xfrm>
            <a:off x="274320" y="6684264"/>
            <a:ext cx="11612880" cy="15544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Confidential — For Internal Management Use Only</a:t>
            </a:r>
            <a:endParaRPr lang="en-US" sz="750" dirty="0"/>
          </a:p>
        </p:txBody>
      </p:sp>
      <p:sp>
        <p:nvSpPr>
          <p:cNvPr id="9" name="Text 7"/>
          <p:cNvSpPr/>
          <p:nvPr/>
        </p:nvSpPr>
        <p:spPr>
          <a:xfrm>
            <a:off x="274320" y="960120"/>
            <a:ext cx="11612880" cy="402336"/>
          </a:xfrm>
          <a:prstGeom prst="rect">
            <a:avLst/>
          </a:prstGeom>
          <a:noFill/>
          <a:ln/>
        </p:spPr>
        <p:txBody>
          <a:bodyPr wrap="square"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Methodology: Sentiment classification based on: App Store review polarity, Trustpilot rating distribution, Twitter discourse pattern analysis, Reddit upvote/downvote sentiment, and published social listening reports. Scale: weighted index where Positive &gt;6.0 = good; &gt;7.5 = strong; DAZN India score reflects global trust issues + low India-specific volume.</a:t>
            </a:r>
            <a:endParaRPr lang="en-US" sz="850" dirty="0"/>
          </a:p>
        </p:txBody>
      </p:sp>
      <p:sp>
        <p:nvSpPr>
          <p:cNvPr id="10" name="Shape 8"/>
          <p:cNvSpPr/>
          <p:nvPr/>
        </p:nvSpPr>
        <p:spPr>
          <a:xfrm>
            <a:off x="274320" y="1463040"/>
            <a:ext cx="1572768" cy="347472"/>
          </a:xfrm>
          <a:prstGeom prst="rect">
            <a:avLst/>
          </a:prstGeom>
          <a:solidFill>
            <a:srgbClr val="0F172A"/>
          </a:solidFill>
          <a:ln/>
        </p:spPr>
      </p:sp>
      <p:sp>
        <p:nvSpPr>
          <p:cNvPr id="11" name="Text 9"/>
          <p:cNvSpPr/>
          <p:nvPr/>
        </p:nvSpPr>
        <p:spPr>
          <a:xfrm>
            <a:off x="310896" y="1463040"/>
            <a:ext cx="1499616"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Platform</a:t>
            </a:r>
            <a:endParaRPr lang="en-US" sz="750" dirty="0"/>
          </a:p>
        </p:txBody>
      </p:sp>
      <p:sp>
        <p:nvSpPr>
          <p:cNvPr id="12" name="Shape 10"/>
          <p:cNvSpPr/>
          <p:nvPr/>
        </p:nvSpPr>
        <p:spPr>
          <a:xfrm>
            <a:off x="1874520" y="1463040"/>
            <a:ext cx="6053328" cy="347472"/>
          </a:xfrm>
          <a:prstGeom prst="rect">
            <a:avLst/>
          </a:prstGeom>
          <a:solidFill>
            <a:srgbClr val="0F172A"/>
          </a:solidFill>
          <a:ln/>
        </p:spPr>
      </p:sp>
      <p:sp>
        <p:nvSpPr>
          <p:cNvPr id="13" name="Text 11"/>
          <p:cNvSpPr/>
          <p:nvPr/>
        </p:nvSpPr>
        <p:spPr>
          <a:xfrm>
            <a:off x="1911096" y="1463040"/>
            <a:ext cx="5980176"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Sentiment Distribution (Positive | Neutral | Negative)</a:t>
            </a:r>
            <a:endParaRPr lang="en-US" sz="750" dirty="0"/>
          </a:p>
        </p:txBody>
      </p:sp>
      <p:sp>
        <p:nvSpPr>
          <p:cNvPr id="14" name="Shape 12"/>
          <p:cNvSpPr/>
          <p:nvPr/>
        </p:nvSpPr>
        <p:spPr>
          <a:xfrm>
            <a:off x="7955280" y="1463040"/>
            <a:ext cx="1024128" cy="347472"/>
          </a:xfrm>
          <a:prstGeom prst="rect">
            <a:avLst/>
          </a:prstGeom>
          <a:solidFill>
            <a:srgbClr val="0F172A"/>
          </a:solidFill>
          <a:ln/>
        </p:spPr>
      </p:sp>
      <p:sp>
        <p:nvSpPr>
          <p:cNvPr id="15" name="Text 13"/>
          <p:cNvSpPr/>
          <p:nvPr/>
        </p:nvSpPr>
        <p:spPr>
          <a:xfrm>
            <a:off x="7991856" y="1463040"/>
            <a:ext cx="950976"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Score</a:t>
            </a:r>
            <a:endParaRPr lang="en-US" sz="750" dirty="0"/>
          </a:p>
        </p:txBody>
      </p:sp>
      <p:sp>
        <p:nvSpPr>
          <p:cNvPr id="16" name="Shape 14"/>
          <p:cNvSpPr/>
          <p:nvPr/>
        </p:nvSpPr>
        <p:spPr>
          <a:xfrm>
            <a:off x="9006840" y="1463040"/>
            <a:ext cx="1069848" cy="347472"/>
          </a:xfrm>
          <a:prstGeom prst="rect">
            <a:avLst/>
          </a:prstGeom>
          <a:solidFill>
            <a:srgbClr val="0F172A"/>
          </a:solidFill>
          <a:ln/>
        </p:spPr>
      </p:sp>
      <p:sp>
        <p:nvSpPr>
          <p:cNvPr id="17" name="Text 15"/>
          <p:cNvSpPr/>
          <p:nvPr/>
        </p:nvSpPr>
        <p:spPr>
          <a:xfrm>
            <a:off x="9043416" y="1463040"/>
            <a:ext cx="996696"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App Rating</a:t>
            </a:r>
            <a:endParaRPr lang="en-US" sz="750" dirty="0"/>
          </a:p>
        </p:txBody>
      </p:sp>
      <p:sp>
        <p:nvSpPr>
          <p:cNvPr id="18" name="Shape 16"/>
          <p:cNvSpPr/>
          <p:nvPr/>
        </p:nvSpPr>
        <p:spPr>
          <a:xfrm>
            <a:off x="10104120" y="1463040"/>
            <a:ext cx="896112" cy="347472"/>
          </a:xfrm>
          <a:prstGeom prst="rect">
            <a:avLst/>
          </a:prstGeom>
          <a:solidFill>
            <a:srgbClr val="0F172A"/>
          </a:solidFill>
          <a:ln/>
        </p:spPr>
      </p:sp>
      <p:sp>
        <p:nvSpPr>
          <p:cNvPr id="19" name="Text 17"/>
          <p:cNvSpPr/>
          <p:nvPr/>
        </p:nvSpPr>
        <p:spPr>
          <a:xfrm>
            <a:off x="10140696" y="1463040"/>
            <a:ext cx="822960"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Monthly Mentions (India)</a:t>
            </a:r>
            <a:endParaRPr lang="en-US" sz="750" dirty="0"/>
          </a:p>
        </p:txBody>
      </p:sp>
      <p:sp>
        <p:nvSpPr>
          <p:cNvPr id="20" name="Shape 18"/>
          <p:cNvSpPr/>
          <p:nvPr/>
        </p:nvSpPr>
        <p:spPr>
          <a:xfrm>
            <a:off x="11018520" y="1463040"/>
            <a:ext cx="1115568" cy="347472"/>
          </a:xfrm>
          <a:prstGeom prst="rect">
            <a:avLst/>
          </a:prstGeom>
          <a:solidFill>
            <a:srgbClr val="0F172A"/>
          </a:solidFill>
          <a:ln/>
        </p:spPr>
      </p:sp>
      <p:sp>
        <p:nvSpPr>
          <p:cNvPr id="21" name="Text 19"/>
          <p:cNvSpPr/>
          <p:nvPr/>
        </p:nvSpPr>
        <p:spPr>
          <a:xfrm>
            <a:off x="11055096" y="1463040"/>
            <a:ext cx="1042416"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Data Source</a:t>
            </a:r>
            <a:endParaRPr lang="en-US" sz="750" dirty="0"/>
          </a:p>
        </p:txBody>
      </p:sp>
      <p:sp>
        <p:nvSpPr>
          <p:cNvPr id="22" name="Shape 20"/>
          <p:cNvSpPr/>
          <p:nvPr/>
        </p:nvSpPr>
        <p:spPr>
          <a:xfrm>
            <a:off x="274320" y="1901952"/>
            <a:ext cx="11887200" cy="694944"/>
          </a:xfrm>
          <a:prstGeom prst="rect">
            <a:avLst/>
          </a:prstGeom>
          <a:solidFill>
            <a:srgbClr val="FFFFFF"/>
          </a:solidFill>
          <a:ln/>
        </p:spPr>
      </p:sp>
      <p:sp>
        <p:nvSpPr>
          <p:cNvPr id="23" name="Shape 21"/>
          <p:cNvSpPr/>
          <p:nvPr/>
        </p:nvSpPr>
        <p:spPr>
          <a:xfrm>
            <a:off x="274320" y="1901952"/>
            <a:ext cx="73152" cy="694944"/>
          </a:xfrm>
          <a:prstGeom prst="rect">
            <a:avLst/>
          </a:prstGeom>
          <a:solidFill>
            <a:srgbClr val="E50914"/>
          </a:solidFill>
          <a:ln/>
        </p:spPr>
      </p:sp>
      <p:sp>
        <p:nvSpPr>
          <p:cNvPr id="24" name="Text 22"/>
          <p:cNvSpPr/>
          <p:nvPr/>
        </p:nvSpPr>
        <p:spPr>
          <a:xfrm>
            <a:off x="384048" y="2084832"/>
            <a:ext cx="1371600" cy="320040"/>
          </a:xfrm>
          <a:prstGeom prst="rect">
            <a:avLst/>
          </a:prstGeom>
          <a:noFill/>
          <a:ln/>
        </p:spPr>
        <p:txBody>
          <a:bodyPr wrap="square" rtlCol="0" anchor="ctr"/>
          <a:lstStyle/>
          <a:p>
            <a:pPr indent="0" marL="0">
              <a:buNone/>
            </a:pPr>
            <a:r>
              <a:rPr lang="en-US" sz="900" b="1" dirty="0">
                <a:solidFill>
                  <a:srgbClr val="0F172A"/>
                </a:solidFill>
                <a:latin typeface="Calibri" pitchFamily="34" charset="0"/>
                <a:ea typeface="Calibri" pitchFamily="34" charset="-122"/>
                <a:cs typeface="Calibri" pitchFamily="34" charset="-120"/>
              </a:rPr>
              <a:t>Netflix India</a:t>
            </a:r>
            <a:endParaRPr lang="en-US" sz="900" dirty="0"/>
          </a:p>
        </p:txBody>
      </p:sp>
      <p:sp>
        <p:nvSpPr>
          <p:cNvPr id="25" name="Shape 23"/>
          <p:cNvSpPr/>
          <p:nvPr/>
        </p:nvSpPr>
        <p:spPr>
          <a:xfrm>
            <a:off x="1874520" y="2084832"/>
            <a:ext cx="3500323" cy="310896"/>
          </a:xfrm>
          <a:prstGeom prst="rect">
            <a:avLst/>
          </a:prstGeom>
          <a:solidFill>
            <a:srgbClr val="22C55E"/>
          </a:solidFill>
          <a:ln/>
        </p:spPr>
      </p:sp>
      <p:sp>
        <p:nvSpPr>
          <p:cNvPr id="26" name="Shape 24"/>
          <p:cNvSpPr/>
          <p:nvPr/>
        </p:nvSpPr>
        <p:spPr>
          <a:xfrm>
            <a:off x="5374843" y="2084832"/>
            <a:ext cx="1508760" cy="310896"/>
          </a:xfrm>
          <a:prstGeom prst="rect">
            <a:avLst/>
          </a:prstGeom>
          <a:solidFill>
            <a:srgbClr val="94A3B8"/>
          </a:solidFill>
          <a:ln/>
        </p:spPr>
      </p:sp>
      <p:sp>
        <p:nvSpPr>
          <p:cNvPr id="27" name="Shape 25"/>
          <p:cNvSpPr/>
          <p:nvPr/>
        </p:nvSpPr>
        <p:spPr>
          <a:xfrm>
            <a:off x="6883603" y="2084832"/>
            <a:ext cx="1025957" cy="310896"/>
          </a:xfrm>
          <a:prstGeom prst="rect">
            <a:avLst/>
          </a:prstGeom>
          <a:solidFill>
            <a:srgbClr val="EF4444"/>
          </a:solidFill>
          <a:ln/>
        </p:spPr>
      </p:sp>
      <p:sp>
        <p:nvSpPr>
          <p:cNvPr id="28" name="Text 26"/>
          <p:cNvSpPr/>
          <p:nvPr/>
        </p:nvSpPr>
        <p:spPr>
          <a:xfrm>
            <a:off x="1901952" y="2112264"/>
            <a:ext cx="3445459"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58%</a:t>
            </a:r>
            <a:endParaRPr lang="en-US" sz="800" dirty="0"/>
          </a:p>
        </p:txBody>
      </p:sp>
      <p:sp>
        <p:nvSpPr>
          <p:cNvPr id="29" name="Text 27"/>
          <p:cNvSpPr/>
          <p:nvPr/>
        </p:nvSpPr>
        <p:spPr>
          <a:xfrm>
            <a:off x="5402275" y="2112264"/>
            <a:ext cx="146304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25%</a:t>
            </a:r>
            <a:endParaRPr lang="en-US" sz="800" dirty="0"/>
          </a:p>
        </p:txBody>
      </p:sp>
      <p:sp>
        <p:nvSpPr>
          <p:cNvPr id="30" name="Text 28"/>
          <p:cNvSpPr/>
          <p:nvPr/>
        </p:nvSpPr>
        <p:spPr>
          <a:xfrm>
            <a:off x="6911035" y="2112264"/>
            <a:ext cx="980237"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17%</a:t>
            </a:r>
            <a:endParaRPr lang="en-US" sz="800" dirty="0"/>
          </a:p>
        </p:txBody>
      </p:sp>
      <p:sp>
        <p:nvSpPr>
          <p:cNvPr id="31" name="Shape 29"/>
          <p:cNvSpPr/>
          <p:nvPr/>
        </p:nvSpPr>
        <p:spPr>
          <a:xfrm>
            <a:off x="7973568" y="2011680"/>
            <a:ext cx="914400" cy="475488"/>
          </a:xfrm>
          <a:prstGeom prst="rect">
            <a:avLst/>
          </a:prstGeom>
          <a:solidFill>
            <a:srgbClr val="22C55E"/>
          </a:solidFill>
          <a:ln/>
        </p:spPr>
      </p:sp>
      <p:sp>
        <p:nvSpPr>
          <p:cNvPr id="32" name="Text 30"/>
          <p:cNvSpPr/>
          <p:nvPr/>
        </p:nvSpPr>
        <p:spPr>
          <a:xfrm>
            <a:off x="7973568" y="2011680"/>
            <a:ext cx="914400" cy="475488"/>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7.9</a:t>
            </a:r>
            <a:endParaRPr lang="en-US" sz="1800" dirty="0"/>
          </a:p>
        </p:txBody>
      </p:sp>
      <p:sp>
        <p:nvSpPr>
          <p:cNvPr id="33" name="Text 31"/>
          <p:cNvSpPr/>
          <p:nvPr/>
        </p:nvSpPr>
        <p:spPr>
          <a:xfrm>
            <a:off x="9034272" y="2084832"/>
            <a:ext cx="1005840" cy="320040"/>
          </a:xfrm>
          <a:prstGeom prst="rect">
            <a:avLst/>
          </a:prstGeom>
          <a:noFill/>
          <a:ln/>
        </p:spPr>
        <p:txBody>
          <a:bodyPr wrap="square" rtlCol="0" anchor="ctr"/>
          <a:lstStyle/>
          <a:p>
            <a:pPr algn="ctr" indent="0" marL="0">
              <a:buNone/>
            </a:pPr>
            <a:r>
              <a:rPr lang="en-US" sz="1100" b="1" dirty="0">
                <a:solidFill>
                  <a:srgbClr val="EAB308"/>
                </a:solidFill>
                <a:latin typeface="Calibri" pitchFamily="34" charset="0"/>
                <a:ea typeface="Calibri" pitchFamily="34" charset="-122"/>
                <a:cs typeface="Calibri" pitchFamily="34" charset="-120"/>
              </a:rPr>
              <a:t>★ 4.2</a:t>
            </a:r>
            <a:endParaRPr lang="en-US" sz="1100" dirty="0"/>
          </a:p>
        </p:txBody>
      </p:sp>
      <p:sp>
        <p:nvSpPr>
          <p:cNvPr id="34" name="Text 32"/>
          <p:cNvSpPr/>
          <p:nvPr/>
        </p:nvSpPr>
        <p:spPr>
          <a:xfrm>
            <a:off x="10122408" y="2084832"/>
            <a:ext cx="877824" cy="320040"/>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~1.5M/mo</a:t>
            </a:r>
            <a:endParaRPr lang="en-US" sz="850" dirty="0"/>
          </a:p>
        </p:txBody>
      </p:sp>
      <p:sp>
        <p:nvSpPr>
          <p:cNvPr id="35" name="Text 33"/>
          <p:cNvSpPr/>
          <p:nvPr/>
        </p:nvSpPr>
        <p:spPr>
          <a:xfrm>
            <a:off x="11036808" y="2029968"/>
            <a:ext cx="1097280" cy="438912"/>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App Store 4.2★ India, RedSeer NPS 2021</a:t>
            </a:r>
            <a:endParaRPr lang="en-US" sz="650" dirty="0"/>
          </a:p>
        </p:txBody>
      </p:sp>
      <p:sp>
        <p:nvSpPr>
          <p:cNvPr id="36" name="Shape 34"/>
          <p:cNvSpPr/>
          <p:nvPr/>
        </p:nvSpPr>
        <p:spPr>
          <a:xfrm>
            <a:off x="274320" y="2651760"/>
            <a:ext cx="11887200" cy="694944"/>
          </a:xfrm>
          <a:prstGeom prst="rect">
            <a:avLst/>
          </a:prstGeom>
          <a:solidFill>
            <a:srgbClr val="F8FAFC"/>
          </a:solidFill>
          <a:ln/>
        </p:spPr>
      </p:sp>
      <p:sp>
        <p:nvSpPr>
          <p:cNvPr id="37" name="Shape 35"/>
          <p:cNvSpPr/>
          <p:nvPr/>
        </p:nvSpPr>
        <p:spPr>
          <a:xfrm>
            <a:off x="274320" y="2651760"/>
            <a:ext cx="73152" cy="694944"/>
          </a:xfrm>
          <a:prstGeom prst="rect">
            <a:avLst/>
          </a:prstGeom>
          <a:solidFill>
            <a:srgbClr val="00A8E1"/>
          </a:solidFill>
          <a:ln/>
        </p:spPr>
      </p:sp>
      <p:sp>
        <p:nvSpPr>
          <p:cNvPr id="38" name="Text 36"/>
          <p:cNvSpPr/>
          <p:nvPr/>
        </p:nvSpPr>
        <p:spPr>
          <a:xfrm>
            <a:off x="384048" y="2834640"/>
            <a:ext cx="1371600" cy="320040"/>
          </a:xfrm>
          <a:prstGeom prst="rect">
            <a:avLst/>
          </a:prstGeom>
          <a:noFill/>
          <a:ln/>
        </p:spPr>
        <p:txBody>
          <a:bodyPr wrap="square" rtlCol="0" anchor="ctr"/>
          <a:lstStyle/>
          <a:p>
            <a:pPr indent="0" marL="0">
              <a:buNone/>
            </a:pPr>
            <a:r>
              <a:rPr lang="en-US" sz="900" b="1" dirty="0">
                <a:solidFill>
                  <a:srgbClr val="0F172A"/>
                </a:solidFill>
                <a:latin typeface="Calibri" pitchFamily="34" charset="0"/>
                <a:ea typeface="Calibri" pitchFamily="34" charset="-122"/>
                <a:cs typeface="Calibri" pitchFamily="34" charset="-120"/>
              </a:rPr>
              <a:t>Amazon Prime Video</a:t>
            </a:r>
            <a:endParaRPr lang="en-US" sz="900" dirty="0"/>
          </a:p>
        </p:txBody>
      </p:sp>
      <p:sp>
        <p:nvSpPr>
          <p:cNvPr id="39" name="Shape 37"/>
          <p:cNvSpPr/>
          <p:nvPr/>
        </p:nvSpPr>
        <p:spPr>
          <a:xfrm>
            <a:off x="1874520" y="2834640"/>
            <a:ext cx="3138221" cy="310896"/>
          </a:xfrm>
          <a:prstGeom prst="rect">
            <a:avLst/>
          </a:prstGeom>
          <a:solidFill>
            <a:srgbClr val="22C55E"/>
          </a:solidFill>
          <a:ln/>
        </p:spPr>
      </p:sp>
      <p:sp>
        <p:nvSpPr>
          <p:cNvPr id="40" name="Shape 38"/>
          <p:cNvSpPr/>
          <p:nvPr/>
        </p:nvSpPr>
        <p:spPr>
          <a:xfrm>
            <a:off x="5012741" y="2834640"/>
            <a:ext cx="1629461" cy="310896"/>
          </a:xfrm>
          <a:prstGeom prst="rect">
            <a:avLst/>
          </a:prstGeom>
          <a:solidFill>
            <a:srgbClr val="94A3B8"/>
          </a:solidFill>
          <a:ln/>
        </p:spPr>
      </p:sp>
      <p:sp>
        <p:nvSpPr>
          <p:cNvPr id="41" name="Shape 39"/>
          <p:cNvSpPr/>
          <p:nvPr/>
        </p:nvSpPr>
        <p:spPr>
          <a:xfrm>
            <a:off x="6642202" y="2834640"/>
            <a:ext cx="1267358" cy="310896"/>
          </a:xfrm>
          <a:prstGeom prst="rect">
            <a:avLst/>
          </a:prstGeom>
          <a:solidFill>
            <a:srgbClr val="EF4444"/>
          </a:solidFill>
          <a:ln/>
        </p:spPr>
      </p:sp>
      <p:sp>
        <p:nvSpPr>
          <p:cNvPr id="42" name="Text 40"/>
          <p:cNvSpPr/>
          <p:nvPr/>
        </p:nvSpPr>
        <p:spPr>
          <a:xfrm>
            <a:off x="1901952" y="2862072"/>
            <a:ext cx="3083357"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52%</a:t>
            </a:r>
            <a:endParaRPr lang="en-US" sz="800" dirty="0"/>
          </a:p>
        </p:txBody>
      </p:sp>
      <p:sp>
        <p:nvSpPr>
          <p:cNvPr id="43" name="Text 41"/>
          <p:cNvSpPr/>
          <p:nvPr/>
        </p:nvSpPr>
        <p:spPr>
          <a:xfrm>
            <a:off x="5040173" y="2862072"/>
            <a:ext cx="1583741"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27%</a:t>
            </a:r>
            <a:endParaRPr lang="en-US" sz="800" dirty="0"/>
          </a:p>
        </p:txBody>
      </p:sp>
      <p:sp>
        <p:nvSpPr>
          <p:cNvPr id="44" name="Text 42"/>
          <p:cNvSpPr/>
          <p:nvPr/>
        </p:nvSpPr>
        <p:spPr>
          <a:xfrm>
            <a:off x="6669634" y="2862072"/>
            <a:ext cx="1221638"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21%</a:t>
            </a:r>
            <a:endParaRPr lang="en-US" sz="800" dirty="0"/>
          </a:p>
        </p:txBody>
      </p:sp>
      <p:sp>
        <p:nvSpPr>
          <p:cNvPr id="45" name="Shape 43"/>
          <p:cNvSpPr/>
          <p:nvPr/>
        </p:nvSpPr>
        <p:spPr>
          <a:xfrm>
            <a:off x="7973568" y="2761488"/>
            <a:ext cx="914400" cy="475488"/>
          </a:xfrm>
          <a:prstGeom prst="rect">
            <a:avLst/>
          </a:prstGeom>
          <a:solidFill>
            <a:srgbClr val="EAB308"/>
          </a:solidFill>
          <a:ln/>
        </p:spPr>
      </p:sp>
      <p:sp>
        <p:nvSpPr>
          <p:cNvPr id="46" name="Text 44"/>
          <p:cNvSpPr/>
          <p:nvPr/>
        </p:nvSpPr>
        <p:spPr>
          <a:xfrm>
            <a:off x="7973568" y="2761488"/>
            <a:ext cx="914400" cy="475488"/>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7.4</a:t>
            </a:r>
            <a:endParaRPr lang="en-US" sz="1800" dirty="0"/>
          </a:p>
        </p:txBody>
      </p:sp>
      <p:sp>
        <p:nvSpPr>
          <p:cNvPr id="47" name="Text 45"/>
          <p:cNvSpPr/>
          <p:nvPr/>
        </p:nvSpPr>
        <p:spPr>
          <a:xfrm>
            <a:off x="9034272" y="2834640"/>
            <a:ext cx="1005840" cy="320040"/>
          </a:xfrm>
          <a:prstGeom prst="rect">
            <a:avLst/>
          </a:prstGeom>
          <a:noFill/>
          <a:ln/>
        </p:spPr>
        <p:txBody>
          <a:bodyPr wrap="square" rtlCol="0" anchor="ctr"/>
          <a:lstStyle/>
          <a:p>
            <a:pPr algn="ctr" indent="0" marL="0">
              <a:buNone/>
            </a:pPr>
            <a:r>
              <a:rPr lang="en-US" sz="1100" b="1" dirty="0">
                <a:solidFill>
                  <a:srgbClr val="EAB308"/>
                </a:solidFill>
                <a:latin typeface="Calibri" pitchFamily="34" charset="0"/>
                <a:ea typeface="Calibri" pitchFamily="34" charset="-122"/>
                <a:cs typeface="Calibri" pitchFamily="34" charset="-120"/>
              </a:rPr>
              <a:t>★ 4.1</a:t>
            </a:r>
            <a:endParaRPr lang="en-US" sz="1100" dirty="0"/>
          </a:p>
        </p:txBody>
      </p:sp>
      <p:sp>
        <p:nvSpPr>
          <p:cNvPr id="48" name="Text 46"/>
          <p:cNvSpPr/>
          <p:nvPr/>
        </p:nvSpPr>
        <p:spPr>
          <a:xfrm>
            <a:off x="10122408" y="2834640"/>
            <a:ext cx="877824" cy="320040"/>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~1.2M/mo</a:t>
            </a:r>
            <a:endParaRPr lang="en-US" sz="850" dirty="0"/>
          </a:p>
        </p:txBody>
      </p:sp>
      <p:sp>
        <p:nvSpPr>
          <p:cNvPr id="49" name="Text 47"/>
          <p:cNvSpPr/>
          <p:nvPr/>
        </p:nvSpPr>
        <p:spPr>
          <a:xfrm>
            <a:off x="11036808" y="2779776"/>
            <a:ext cx="1097280" cy="438912"/>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App Store 4.1★, Kimola review analysis 2024</a:t>
            </a:r>
            <a:endParaRPr lang="en-US" sz="650" dirty="0"/>
          </a:p>
        </p:txBody>
      </p:sp>
      <p:sp>
        <p:nvSpPr>
          <p:cNvPr id="50" name="Shape 48"/>
          <p:cNvSpPr/>
          <p:nvPr/>
        </p:nvSpPr>
        <p:spPr>
          <a:xfrm>
            <a:off x="274320" y="3401568"/>
            <a:ext cx="11887200" cy="694944"/>
          </a:xfrm>
          <a:prstGeom prst="rect">
            <a:avLst/>
          </a:prstGeom>
          <a:solidFill>
            <a:srgbClr val="FFFFFF"/>
          </a:solidFill>
          <a:ln/>
        </p:spPr>
      </p:sp>
      <p:sp>
        <p:nvSpPr>
          <p:cNvPr id="51" name="Shape 49"/>
          <p:cNvSpPr/>
          <p:nvPr/>
        </p:nvSpPr>
        <p:spPr>
          <a:xfrm>
            <a:off x="274320" y="3401568"/>
            <a:ext cx="73152" cy="694944"/>
          </a:xfrm>
          <a:prstGeom prst="rect">
            <a:avLst/>
          </a:prstGeom>
          <a:solidFill>
            <a:srgbClr val="1F80E0"/>
          </a:solidFill>
          <a:ln/>
        </p:spPr>
      </p:sp>
      <p:sp>
        <p:nvSpPr>
          <p:cNvPr id="52" name="Text 50"/>
          <p:cNvSpPr/>
          <p:nvPr/>
        </p:nvSpPr>
        <p:spPr>
          <a:xfrm>
            <a:off x="384048" y="3584448"/>
            <a:ext cx="1371600" cy="320040"/>
          </a:xfrm>
          <a:prstGeom prst="rect">
            <a:avLst/>
          </a:prstGeom>
          <a:noFill/>
          <a:ln/>
        </p:spPr>
        <p:txBody>
          <a:bodyPr wrap="square" rtlCol="0" anchor="ctr"/>
          <a:lstStyle/>
          <a:p>
            <a:pPr indent="0" marL="0">
              <a:buNone/>
            </a:pPr>
            <a:r>
              <a:rPr lang="en-US" sz="900" b="1" dirty="0">
                <a:solidFill>
                  <a:srgbClr val="0F172A"/>
                </a:solidFill>
                <a:latin typeface="Calibri" pitchFamily="34" charset="0"/>
                <a:ea typeface="Calibri" pitchFamily="34" charset="-122"/>
                <a:cs typeface="Calibri" pitchFamily="34" charset="-120"/>
              </a:rPr>
              <a:t>JioHotstar</a:t>
            </a:r>
            <a:endParaRPr lang="en-US" sz="900" dirty="0"/>
          </a:p>
        </p:txBody>
      </p:sp>
      <p:sp>
        <p:nvSpPr>
          <p:cNvPr id="53" name="Shape 51"/>
          <p:cNvSpPr/>
          <p:nvPr/>
        </p:nvSpPr>
        <p:spPr>
          <a:xfrm>
            <a:off x="1874520" y="3584448"/>
            <a:ext cx="2534717" cy="310896"/>
          </a:xfrm>
          <a:prstGeom prst="rect">
            <a:avLst/>
          </a:prstGeom>
          <a:solidFill>
            <a:srgbClr val="22C55E"/>
          </a:solidFill>
          <a:ln/>
        </p:spPr>
      </p:sp>
      <p:sp>
        <p:nvSpPr>
          <p:cNvPr id="54" name="Shape 52"/>
          <p:cNvSpPr/>
          <p:nvPr/>
        </p:nvSpPr>
        <p:spPr>
          <a:xfrm>
            <a:off x="4409237" y="3584448"/>
            <a:ext cx="1689811" cy="310896"/>
          </a:xfrm>
          <a:prstGeom prst="rect">
            <a:avLst/>
          </a:prstGeom>
          <a:solidFill>
            <a:srgbClr val="94A3B8"/>
          </a:solidFill>
          <a:ln/>
        </p:spPr>
      </p:sp>
      <p:sp>
        <p:nvSpPr>
          <p:cNvPr id="55" name="Shape 53"/>
          <p:cNvSpPr/>
          <p:nvPr/>
        </p:nvSpPr>
        <p:spPr>
          <a:xfrm>
            <a:off x="6099048" y="3584448"/>
            <a:ext cx="1810512" cy="310896"/>
          </a:xfrm>
          <a:prstGeom prst="rect">
            <a:avLst/>
          </a:prstGeom>
          <a:solidFill>
            <a:srgbClr val="EF4444"/>
          </a:solidFill>
          <a:ln/>
        </p:spPr>
      </p:sp>
      <p:sp>
        <p:nvSpPr>
          <p:cNvPr id="56" name="Text 54"/>
          <p:cNvSpPr/>
          <p:nvPr/>
        </p:nvSpPr>
        <p:spPr>
          <a:xfrm>
            <a:off x="1901952" y="3611880"/>
            <a:ext cx="2479853"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42%</a:t>
            </a:r>
            <a:endParaRPr lang="en-US" sz="800" dirty="0"/>
          </a:p>
        </p:txBody>
      </p:sp>
      <p:sp>
        <p:nvSpPr>
          <p:cNvPr id="57" name="Text 55"/>
          <p:cNvSpPr/>
          <p:nvPr/>
        </p:nvSpPr>
        <p:spPr>
          <a:xfrm>
            <a:off x="4436669" y="3611880"/>
            <a:ext cx="1644091"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28%</a:t>
            </a:r>
            <a:endParaRPr lang="en-US" sz="800" dirty="0"/>
          </a:p>
        </p:txBody>
      </p:sp>
      <p:sp>
        <p:nvSpPr>
          <p:cNvPr id="58" name="Text 56"/>
          <p:cNvSpPr/>
          <p:nvPr/>
        </p:nvSpPr>
        <p:spPr>
          <a:xfrm>
            <a:off x="6126480" y="3611880"/>
            <a:ext cx="176479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30%</a:t>
            </a:r>
            <a:endParaRPr lang="en-US" sz="800" dirty="0"/>
          </a:p>
        </p:txBody>
      </p:sp>
      <p:sp>
        <p:nvSpPr>
          <p:cNvPr id="59" name="Shape 57"/>
          <p:cNvSpPr/>
          <p:nvPr/>
        </p:nvSpPr>
        <p:spPr>
          <a:xfrm>
            <a:off x="7973568" y="3511296"/>
            <a:ext cx="914400" cy="475488"/>
          </a:xfrm>
          <a:prstGeom prst="rect">
            <a:avLst/>
          </a:prstGeom>
          <a:solidFill>
            <a:srgbClr val="EAB308"/>
          </a:solidFill>
          <a:ln/>
        </p:spPr>
      </p:sp>
      <p:sp>
        <p:nvSpPr>
          <p:cNvPr id="60" name="Text 58"/>
          <p:cNvSpPr/>
          <p:nvPr/>
        </p:nvSpPr>
        <p:spPr>
          <a:xfrm>
            <a:off x="7973568" y="3511296"/>
            <a:ext cx="914400" cy="475488"/>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6.8</a:t>
            </a:r>
            <a:endParaRPr lang="en-US" sz="1800" dirty="0"/>
          </a:p>
        </p:txBody>
      </p:sp>
      <p:sp>
        <p:nvSpPr>
          <p:cNvPr id="61" name="Text 59"/>
          <p:cNvSpPr/>
          <p:nvPr/>
        </p:nvSpPr>
        <p:spPr>
          <a:xfrm>
            <a:off x="9034272" y="3584448"/>
            <a:ext cx="1005840" cy="320040"/>
          </a:xfrm>
          <a:prstGeom prst="rect">
            <a:avLst/>
          </a:prstGeom>
          <a:noFill/>
          <a:ln/>
        </p:spPr>
        <p:txBody>
          <a:bodyPr wrap="square" rtlCol="0" anchor="ctr"/>
          <a:lstStyle/>
          <a:p>
            <a:pPr algn="ctr" indent="0" marL="0">
              <a:buNone/>
            </a:pPr>
            <a:r>
              <a:rPr lang="en-US" sz="1100" b="1" dirty="0">
                <a:solidFill>
                  <a:srgbClr val="EAB308"/>
                </a:solidFill>
                <a:latin typeface="Calibri" pitchFamily="34" charset="0"/>
                <a:ea typeface="Calibri" pitchFamily="34" charset="-122"/>
                <a:cs typeface="Calibri" pitchFamily="34" charset="-120"/>
              </a:rPr>
              <a:t>★ 3.8</a:t>
            </a:r>
            <a:endParaRPr lang="en-US" sz="1100" dirty="0"/>
          </a:p>
        </p:txBody>
      </p:sp>
      <p:sp>
        <p:nvSpPr>
          <p:cNvPr id="62" name="Text 60"/>
          <p:cNvSpPr/>
          <p:nvPr/>
        </p:nvSpPr>
        <p:spPr>
          <a:xfrm>
            <a:off x="10122408" y="3584448"/>
            <a:ext cx="877824" cy="320040"/>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~2M+/mo</a:t>
            </a:r>
            <a:endParaRPr lang="en-US" sz="850" dirty="0"/>
          </a:p>
        </p:txBody>
      </p:sp>
      <p:sp>
        <p:nvSpPr>
          <p:cNvPr id="63" name="Text 61"/>
          <p:cNvSpPr/>
          <p:nvPr/>
        </p:nvSpPr>
        <p:spPr>
          <a:xfrm>
            <a:off x="11036808" y="3529584"/>
            <a:ext cx="1097280" cy="438912"/>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App Store 3.8★ India, m9.news consumer reports</a:t>
            </a:r>
            <a:endParaRPr lang="en-US" sz="650" dirty="0"/>
          </a:p>
        </p:txBody>
      </p:sp>
      <p:sp>
        <p:nvSpPr>
          <p:cNvPr id="64" name="Shape 62"/>
          <p:cNvSpPr/>
          <p:nvPr/>
        </p:nvSpPr>
        <p:spPr>
          <a:xfrm>
            <a:off x="274320" y="4151376"/>
            <a:ext cx="11887200" cy="694944"/>
          </a:xfrm>
          <a:prstGeom prst="rect">
            <a:avLst/>
          </a:prstGeom>
          <a:solidFill>
            <a:srgbClr val="F8FAFC"/>
          </a:solidFill>
          <a:ln/>
        </p:spPr>
      </p:sp>
      <p:sp>
        <p:nvSpPr>
          <p:cNvPr id="65" name="Shape 63"/>
          <p:cNvSpPr/>
          <p:nvPr/>
        </p:nvSpPr>
        <p:spPr>
          <a:xfrm>
            <a:off x="274320" y="4151376"/>
            <a:ext cx="73152" cy="694944"/>
          </a:xfrm>
          <a:prstGeom prst="rect">
            <a:avLst/>
          </a:prstGeom>
          <a:solidFill>
            <a:srgbClr val="DC2626"/>
          </a:solidFill>
          <a:ln/>
        </p:spPr>
      </p:sp>
      <p:sp>
        <p:nvSpPr>
          <p:cNvPr id="66" name="Text 64"/>
          <p:cNvSpPr/>
          <p:nvPr/>
        </p:nvSpPr>
        <p:spPr>
          <a:xfrm>
            <a:off x="384048" y="4334256"/>
            <a:ext cx="1371600" cy="320040"/>
          </a:xfrm>
          <a:prstGeom prst="rect">
            <a:avLst/>
          </a:prstGeom>
          <a:noFill/>
          <a:ln/>
        </p:spPr>
        <p:txBody>
          <a:bodyPr wrap="square" rtlCol="0" anchor="ctr"/>
          <a:lstStyle/>
          <a:p>
            <a:pPr indent="0" marL="0">
              <a:buNone/>
            </a:pPr>
            <a:r>
              <a:rPr lang="en-US" sz="900" b="1" dirty="0">
                <a:solidFill>
                  <a:srgbClr val="0F172A"/>
                </a:solidFill>
                <a:latin typeface="Calibri" pitchFamily="34" charset="0"/>
                <a:ea typeface="Calibri" pitchFamily="34" charset="-122"/>
                <a:cs typeface="Calibri" pitchFamily="34" charset="-120"/>
              </a:rPr>
              <a:t>SonyLIV</a:t>
            </a:r>
            <a:endParaRPr lang="en-US" sz="900" dirty="0"/>
          </a:p>
        </p:txBody>
      </p:sp>
      <p:sp>
        <p:nvSpPr>
          <p:cNvPr id="67" name="Shape 65"/>
          <p:cNvSpPr/>
          <p:nvPr/>
        </p:nvSpPr>
        <p:spPr>
          <a:xfrm>
            <a:off x="1874520" y="4334256"/>
            <a:ext cx="2474366" cy="310896"/>
          </a:xfrm>
          <a:prstGeom prst="rect">
            <a:avLst/>
          </a:prstGeom>
          <a:solidFill>
            <a:srgbClr val="22C55E"/>
          </a:solidFill>
          <a:ln/>
        </p:spPr>
      </p:sp>
      <p:sp>
        <p:nvSpPr>
          <p:cNvPr id="68" name="Shape 66"/>
          <p:cNvSpPr/>
          <p:nvPr/>
        </p:nvSpPr>
        <p:spPr>
          <a:xfrm>
            <a:off x="4348886" y="4334256"/>
            <a:ext cx="1991563" cy="310896"/>
          </a:xfrm>
          <a:prstGeom prst="rect">
            <a:avLst/>
          </a:prstGeom>
          <a:solidFill>
            <a:srgbClr val="94A3B8"/>
          </a:solidFill>
          <a:ln/>
        </p:spPr>
      </p:sp>
      <p:sp>
        <p:nvSpPr>
          <p:cNvPr id="69" name="Shape 67"/>
          <p:cNvSpPr/>
          <p:nvPr/>
        </p:nvSpPr>
        <p:spPr>
          <a:xfrm>
            <a:off x="6340450" y="4334256"/>
            <a:ext cx="1569110" cy="310896"/>
          </a:xfrm>
          <a:prstGeom prst="rect">
            <a:avLst/>
          </a:prstGeom>
          <a:solidFill>
            <a:srgbClr val="EF4444"/>
          </a:solidFill>
          <a:ln/>
        </p:spPr>
      </p:sp>
      <p:sp>
        <p:nvSpPr>
          <p:cNvPr id="70" name="Text 68"/>
          <p:cNvSpPr/>
          <p:nvPr/>
        </p:nvSpPr>
        <p:spPr>
          <a:xfrm>
            <a:off x="1901952" y="4361688"/>
            <a:ext cx="241950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41%</a:t>
            </a:r>
            <a:endParaRPr lang="en-US" sz="800" dirty="0"/>
          </a:p>
        </p:txBody>
      </p:sp>
      <p:sp>
        <p:nvSpPr>
          <p:cNvPr id="71" name="Text 69"/>
          <p:cNvSpPr/>
          <p:nvPr/>
        </p:nvSpPr>
        <p:spPr>
          <a:xfrm>
            <a:off x="4376318" y="4361688"/>
            <a:ext cx="1945843"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33%</a:t>
            </a:r>
            <a:endParaRPr lang="en-US" sz="800" dirty="0"/>
          </a:p>
        </p:txBody>
      </p:sp>
      <p:sp>
        <p:nvSpPr>
          <p:cNvPr id="72" name="Text 70"/>
          <p:cNvSpPr/>
          <p:nvPr/>
        </p:nvSpPr>
        <p:spPr>
          <a:xfrm>
            <a:off x="6367882" y="4361688"/>
            <a:ext cx="152339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26%</a:t>
            </a:r>
            <a:endParaRPr lang="en-US" sz="800" dirty="0"/>
          </a:p>
        </p:txBody>
      </p:sp>
      <p:sp>
        <p:nvSpPr>
          <p:cNvPr id="73" name="Shape 71"/>
          <p:cNvSpPr/>
          <p:nvPr/>
        </p:nvSpPr>
        <p:spPr>
          <a:xfrm>
            <a:off x="7973568" y="4261104"/>
            <a:ext cx="914400" cy="475488"/>
          </a:xfrm>
          <a:prstGeom prst="rect">
            <a:avLst/>
          </a:prstGeom>
          <a:solidFill>
            <a:srgbClr val="EF4444"/>
          </a:solidFill>
          <a:ln/>
        </p:spPr>
      </p:sp>
      <p:sp>
        <p:nvSpPr>
          <p:cNvPr id="74" name="Text 72"/>
          <p:cNvSpPr/>
          <p:nvPr/>
        </p:nvSpPr>
        <p:spPr>
          <a:xfrm>
            <a:off x="7973568" y="4261104"/>
            <a:ext cx="914400" cy="475488"/>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5.9</a:t>
            </a:r>
            <a:endParaRPr lang="en-US" sz="1800" dirty="0"/>
          </a:p>
        </p:txBody>
      </p:sp>
      <p:sp>
        <p:nvSpPr>
          <p:cNvPr id="75" name="Text 73"/>
          <p:cNvSpPr/>
          <p:nvPr/>
        </p:nvSpPr>
        <p:spPr>
          <a:xfrm>
            <a:off x="9034272" y="4334256"/>
            <a:ext cx="1005840" cy="320040"/>
          </a:xfrm>
          <a:prstGeom prst="rect">
            <a:avLst/>
          </a:prstGeom>
          <a:noFill/>
          <a:ln/>
        </p:spPr>
        <p:txBody>
          <a:bodyPr wrap="square" rtlCol="0" anchor="ctr"/>
          <a:lstStyle/>
          <a:p>
            <a:pPr algn="ctr" indent="0" marL="0">
              <a:buNone/>
            </a:pPr>
            <a:r>
              <a:rPr lang="en-US" sz="1100" b="1" dirty="0">
                <a:solidFill>
                  <a:srgbClr val="EAB308"/>
                </a:solidFill>
                <a:latin typeface="Calibri" pitchFamily="34" charset="0"/>
                <a:ea typeface="Calibri" pitchFamily="34" charset="-122"/>
                <a:cs typeface="Calibri" pitchFamily="34" charset="-120"/>
              </a:rPr>
              <a:t>★ 3.7</a:t>
            </a:r>
            <a:endParaRPr lang="en-US" sz="1100" dirty="0"/>
          </a:p>
        </p:txBody>
      </p:sp>
      <p:sp>
        <p:nvSpPr>
          <p:cNvPr id="76" name="Text 74"/>
          <p:cNvSpPr/>
          <p:nvPr/>
        </p:nvSpPr>
        <p:spPr>
          <a:xfrm>
            <a:off x="10122408" y="4334256"/>
            <a:ext cx="877824" cy="320040"/>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~350K/mo</a:t>
            </a:r>
            <a:endParaRPr lang="en-US" sz="850" dirty="0"/>
          </a:p>
        </p:txBody>
      </p:sp>
      <p:sp>
        <p:nvSpPr>
          <p:cNvPr id="77" name="Text 75"/>
          <p:cNvSpPr/>
          <p:nvPr/>
        </p:nvSpPr>
        <p:spPr>
          <a:xfrm>
            <a:off x="11036808" y="4279392"/>
            <a:ext cx="1097280" cy="438912"/>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App Store 3.7★ India, social pattern estimate</a:t>
            </a:r>
            <a:endParaRPr lang="en-US" sz="650" dirty="0"/>
          </a:p>
        </p:txBody>
      </p:sp>
      <p:sp>
        <p:nvSpPr>
          <p:cNvPr id="78" name="Shape 76"/>
          <p:cNvSpPr/>
          <p:nvPr/>
        </p:nvSpPr>
        <p:spPr>
          <a:xfrm>
            <a:off x="274320" y="4901184"/>
            <a:ext cx="11887200" cy="694944"/>
          </a:xfrm>
          <a:prstGeom prst="rect">
            <a:avLst/>
          </a:prstGeom>
          <a:solidFill>
            <a:srgbClr val="FFFFFF"/>
          </a:solidFill>
          <a:ln/>
        </p:spPr>
      </p:sp>
      <p:sp>
        <p:nvSpPr>
          <p:cNvPr id="79" name="Shape 77"/>
          <p:cNvSpPr/>
          <p:nvPr/>
        </p:nvSpPr>
        <p:spPr>
          <a:xfrm>
            <a:off x="274320" y="4901184"/>
            <a:ext cx="73152" cy="694944"/>
          </a:xfrm>
          <a:prstGeom prst="rect">
            <a:avLst/>
          </a:prstGeom>
          <a:solidFill>
            <a:srgbClr val="7C3AED"/>
          </a:solidFill>
          <a:ln/>
        </p:spPr>
      </p:sp>
      <p:sp>
        <p:nvSpPr>
          <p:cNvPr id="80" name="Text 78"/>
          <p:cNvSpPr/>
          <p:nvPr/>
        </p:nvSpPr>
        <p:spPr>
          <a:xfrm>
            <a:off x="384048" y="5084064"/>
            <a:ext cx="1371600" cy="320040"/>
          </a:xfrm>
          <a:prstGeom prst="rect">
            <a:avLst/>
          </a:prstGeom>
          <a:noFill/>
          <a:ln/>
        </p:spPr>
        <p:txBody>
          <a:bodyPr wrap="square" rtlCol="0" anchor="ctr"/>
          <a:lstStyle/>
          <a:p>
            <a:pPr indent="0" marL="0">
              <a:buNone/>
            </a:pPr>
            <a:r>
              <a:rPr lang="en-US" sz="900" b="1" dirty="0">
                <a:solidFill>
                  <a:srgbClr val="0F172A"/>
                </a:solidFill>
                <a:latin typeface="Calibri" pitchFamily="34" charset="0"/>
                <a:ea typeface="Calibri" pitchFamily="34" charset="-122"/>
                <a:cs typeface="Calibri" pitchFamily="34" charset="-120"/>
              </a:rPr>
              <a:t>ZEE5</a:t>
            </a:r>
            <a:endParaRPr lang="en-US" sz="900" dirty="0"/>
          </a:p>
        </p:txBody>
      </p:sp>
      <p:sp>
        <p:nvSpPr>
          <p:cNvPr id="81" name="Shape 79"/>
          <p:cNvSpPr/>
          <p:nvPr/>
        </p:nvSpPr>
        <p:spPr>
          <a:xfrm>
            <a:off x="1874520" y="5084064"/>
            <a:ext cx="2353666" cy="310896"/>
          </a:xfrm>
          <a:prstGeom prst="rect">
            <a:avLst/>
          </a:prstGeom>
          <a:solidFill>
            <a:srgbClr val="22C55E"/>
          </a:solidFill>
          <a:ln/>
        </p:spPr>
      </p:sp>
      <p:sp>
        <p:nvSpPr>
          <p:cNvPr id="82" name="Shape 80"/>
          <p:cNvSpPr/>
          <p:nvPr/>
        </p:nvSpPr>
        <p:spPr>
          <a:xfrm>
            <a:off x="4228186" y="5084064"/>
            <a:ext cx="2112264" cy="310896"/>
          </a:xfrm>
          <a:prstGeom prst="rect">
            <a:avLst/>
          </a:prstGeom>
          <a:solidFill>
            <a:srgbClr val="94A3B8"/>
          </a:solidFill>
          <a:ln/>
        </p:spPr>
      </p:sp>
      <p:sp>
        <p:nvSpPr>
          <p:cNvPr id="83" name="Shape 81"/>
          <p:cNvSpPr/>
          <p:nvPr/>
        </p:nvSpPr>
        <p:spPr>
          <a:xfrm>
            <a:off x="6340450" y="5084064"/>
            <a:ext cx="1569110" cy="310896"/>
          </a:xfrm>
          <a:prstGeom prst="rect">
            <a:avLst/>
          </a:prstGeom>
          <a:solidFill>
            <a:srgbClr val="EF4444"/>
          </a:solidFill>
          <a:ln/>
        </p:spPr>
      </p:sp>
      <p:sp>
        <p:nvSpPr>
          <p:cNvPr id="84" name="Text 82"/>
          <p:cNvSpPr/>
          <p:nvPr/>
        </p:nvSpPr>
        <p:spPr>
          <a:xfrm>
            <a:off x="1901952" y="5111496"/>
            <a:ext cx="229880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39%</a:t>
            </a:r>
            <a:endParaRPr lang="en-US" sz="800" dirty="0"/>
          </a:p>
        </p:txBody>
      </p:sp>
      <p:sp>
        <p:nvSpPr>
          <p:cNvPr id="85" name="Text 83"/>
          <p:cNvSpPr/>
          <p:nvPr/>
        </p:nvSpPr>
        <p:spPr>
          <a:xfrm>
            <a:off x="4255618" y="5111496"/>
            <a:ext cx="2066544"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35%</a:t>
            </a:r>
            <a:endParaRPr lang="en-US" sz="800" dirty="0"/>
          </a:p>
        </p:txBody>
      </p:sp>
      <p:sp>
        <p:nvSpPr>
          <p:cNvPr id="86" name="Text 84"/>
          <p:cNvSpPr/>
          <p:nvPr/>
        </p:nvSpPr>
        <p:spPr>
          <a:xfrm>
            <a:off x="6367882" y="5111496"/>
            <a:ext cx="152339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26%</a:t>
            </a:r>
            <a:endParaRPr lang="en-US" sz="800" dirty="0"/>
          </a:p>
        </p:txBody>
      </p:sp>
      <p:sp>
        <p:nvSpPr>
          <p:cNvPr id="87" name="Shape 85"/>
          <p:cNvSpPr/>
          <p:nvPr/>
        </p:nvSpPr>
        <p:spPr>
          <a:xfrm>
            <a:off x="7973568" y="5010912"/>
            <a:ext cx="914400" cy="475488"/>
          </a:xfrm>
          <a:prstGeom prst="rect">
            <a:avLst/>
          </a:prstGeom>
          <a:solidFill>
            <a:srgbClr val="EF4444"/>
          </a:solidFill>
          <a:ln/>
        </p:spPr>
      </p:sp>
      <p:sp>
        <p:nvSpPr>
          <p:cNvPr id="88" name="Text 86"/>
          <p:cNvSpPr/>
          <p:nvPr/>
        </p:nvSpPr>
        <p:spPr>
          <a:xfrm>
            <a:off x="7973568" y="5010912"/>
            <a:ext cx="914400" cy="475488"/>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5.8</a:t>
            </a:r>
            <a:endParaRPr lang="en-US" sz="1800" dirty="0"/>
          </a:p>
        </p:txBody>
      </p:sp>
      <p:sp>
        <p:nvSpPr>
          <p:cNvPr id="89" name="Text 87"/>
          <p:cNvSpPr/>
          <p:nvPr/>
        </p:nvSpPr>
        <p:spPr>
          <a:xfrm>
            <a:off x="9034272" y="5084064"/>
            <a:ext cx="1005840" cy="320040"/>
          </a:xfrm>
          <a:prstGeom prst="rect">
            <a:avLst/>
          </a:prstGeom>
          <a:noFill/>
          <a:ln/>
        </p:spPr>
        <p:txBody>
          <a:bodyPr wrap="square" rtlCol="0" anchor="ctr"/>
          <a:lstStyle/>
          <a:p>
            <a:pPr algn="ctr" indent="0" marL="0">
              <a:buNone/>
            </a:pPr>
            <a:r>
              <a:rPr lang="en-US" sz="1100" b="1" dirty="0">
                <a:solidFill>
                  <a:srgbClr val="EAB308"/>
                </a:solidFill>
                <a:latin typeface="Calibri" pitchFamily="34" charset="0"/>
                <a:ea typeface="Calibri" pitchFamily="34" charset="-122"/>
                <a:cs typeface="Calibri" pitchFamily="34" charset="-120"/>
              </a:rPr>
              <a:t>★ 3.6</a:t>
            </a:r>
            <a:endParaRPr lang="en-US" sz="1100" dirty="0"/>
          </a:p>
        </p:txBody>
      </p:sp>
      <p:sp>
        <p:nvSpPr>
          <p:cNvPr id="90" name="Text 88"/>
          <p:cNvSpPr/>
          <p:nvPr/>
        </p:nvSpPr>
        <p:spPr>
          <a:xfrm>
            <a:off x="10122408" y="5084064"/>
            <a:ext cx="877824" cy="320040"/>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~400K/mo</a:t>
            </a:r>
            <a:endParaRPr lang="en-US" sz="850" dirty="0"/>
          </a:p>
        </p:txBody>
      </p:sp>
      <p:sp>
        <p:nvSpPr>
          <p:cNvPr id="91" name="Text 89"/>
          <p:cNvSpPr/>
          <p:nvPr/>
        </p:nvSpPr>
        <p:spPr>
          <a:xfrm>
            <a:off x="11036808" y="5029200"/>
            <a:ext cx="1097280" cy="438912"/>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App Store 3.6★ India, social pattern estimate</a:t>
            </a:r>
            <a:endParaRPr lang="en-US" sz="650" dirty="0"/>
          </a:p>
        </p:txBody>
      </p:sp>
      <p:sp>
        <p:nvSpPr>
          <p:cNvPr id="92" name="Shape 90"/>
          <p:cNvSpPr/>
          <p:nvPr/>
        </p:nvSpPr>
        <p:spPr>
          <a:xfrm>
            <a:off x="274320" y="5650992"/>
            <a:ext cx="11887200" cy="694944"/>
          </a:xfrm>
          <a:prstGeom prst="rect">
            <a:avLst/>
          </a:prstGeom>
          <a:solidFill>
            <a:srgbClr val="F8FAFC"/>
          </a:solidFill>
          <a:ln/>
        </p:spPr>
      </p:sp>
      <p:sp>
        <p:nvSpPr>
          <p:cNvPr id="93" name="Shape 91"/>
          <p:cNvSpPr/>
          <p:nvPr/>
        </p:nvSpPr>
        <p:spPr>
          <a:xfrm>
            <a:off x="274320" y="5650992"/>
            <a:ext cx="73152" cy="694944"/>
          </a:xfrm>
          <a:prstGeom prst="rect">
            <a:avLst/>
          </a:prstGeom>
          <a:solidFill>
            <a:srgbClr val="D4A800"/>
          </a:solidFill>
          <a:ln/>
        </p:spPr>
      </p:sp>
      <p:sp>
        <p:nvSpPr>
          <p:cNvPr id="94" name="Text 92"/>
          <p:cNvSpPr/>
          <p:nvPr/>
        </p:nvSpPr>
        <p:spPr>
          <a:xfrm>
            <a:off x="384048" y="5833872"/>
            <a:ext cx="1371600" cy="320040"/>
          </a:xfrm>
          <a:prstGeom prst="rect">
            <a:avLst/>
          </a:prstGeom>
          <a:noFill/>
          <a:ln/>
        </p:spPr>
        <p:txBody>
          <a:bodyPr wrap="square" rtlCol="0" anchor="ctr"/>
          <a:lstStyle/>
          <a:p>
            <a:pPr indent="0" marL="0">
              <a:buNone/>
            </a:pPr>
            <a:r>
              <a:rPr lang="en-US" sz="900" b="1" dirty="0">
                <a:solidFill>
                  <a:srgbClr val="0F172A"/>
                </a:solidFill>
                <a:latin typeface="Calibri" pitchFamily="34" charset="0"/>
                <a:ea typeface="Calibri" pitchFamily="34" charset="-122"/>
                <a:cs typeface="Calibri" pitchFamily="34" charset="-120"/>
              </a:rPr>
              <a:t>DAZN (Global proxy)</a:t>
            </a:r>
            <a:endParaRPr lang="en-US" sz="900" dirty="0"/>
          </a:p>
        </p:txBody>
      </p:sp>
      <p:sp>
        <p:nvSpPr>
          <p:cNvPr id="95" name="Shape 93"/>
          <p:cNvSpPr/>
          <p:nvPr/>
        </p:nvSpPr>
        <p:spPr>
          <a:xfrm>
            <a:off x="1874520" y="5833872"/>
            <a:ext cx="2293315" cy="310896"/>
          </a:xfrm>
          <a:prstGeom prst="rect">
            <a:avLst/>
          </a:prstGeom>
          <a:solidFill>
            <a:srgbClr val="22C55E"/>
          </a:solidFill>
          <a:ln/>
        </p:spPr>
      </p:sp>
      <p:sp>
        <p:nvSpPr>
          <p:cNvPr id="96" name="Shape 94"/>
          <p:cNvSpPr/>
          <p:nvPr/>
        </p:nvSpPr>
        <p:spPr>
          <a:xfrm>
            <a:off x="4167835" y="5833872"/>
            <a:ext cx="2051914" cy="310896"/>
          </a:xfrm>
          <a:prstGeom prst="rect">
            <a:avLst/>
          </a:prstGeom>
          <a:solidFill>
            <a:srgbClr val="94A3B8"/>
          </a:solidFill>
          <a:ln/>
        </p:spPr>
      </p:sp>
      <p:sp>
        <p:nvSpPr>
          <p:cNvPr id="97" name="Shape 95"/>
          <p:cNvSpPr/>
          <p:nvPr/>
        </p:nvSpPr>
        <p:spPr>
          <a:xfrm>
            <a:off x="6219749" y="5833872"/>
            <a:ext cx="1689811" cy="310896"/>
          </a:xfrm>
          <a:prstGeom prst="rect">
            <a:avLst/>
          </a:prstGeom>
          <a:solidFill>
            <a:srgbClr val="EF4444"/>
          </a:solidFill>
          <a:ln/>
        </p:spPr>
      </p:sp>
      <p:sp>
        <p:nvSpPr>
          <p:cNvPr id="98" name="Text 96"/>
          <p:cNvSpPr/>
          <p:nvPr/>
        </p:nvSpPr>
        <p:spPr>
          <a:xfrm>
            <a:off x="1901952" y="5861304"/>
            <a:ext cx="2238451"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38%</a:t>
            </a:r>
            <a:endParaRPr lang="en-US" sz="800" dirty="0"/>
          </a:p>
        </p:txBody>
      </p:sp>
      <p:sp>
        <p:nvSpPr>
          <p:cNvPr id="99" name="Text 97"/>
          <p:cNvSpPr/>
          <p:nvPr/>
        </p:nvSpPr>
        <p:spPr>
          <a:xfrm>
            <a:off x="4195267" y="5861304"/>
            <a:ext cx="2006194"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34%</a:t>
            </a:r>
            <a:endParaRPr lang="en-US" sz="800" dirty="0"/>
          </a:p>
        </p:txBody>
      </p:sp>
      <p:sp>
        <p:nvSpPr>
          <p:cNvPr id="100" name="Text 98"/>
          <p:cNvSpPr/>
          <p:nvPr/>
        </p:nvSpPr>
        <p:spPr>
          <a:xfrm>
            <a:off x="6247181" y="5861304"/>
            <a:ext cx="1644091"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28%</a:t>
            </a:r>
            <a:endParaRPr lang="en-US" sz="800" dirty="0"/>
          </a:p>
        </p:txBody>
      </p:sp>
      <p:sp>
        <p:nvSpPr>
          <p:cNvPr id="101" name="Shape 99"/>
          <p:cNvSpPr/>
          <p:nvPr/>
        </p:nvSpPr>
        <p:spPr>
          <a:xfrm>
            <a:off x="7973568" y="5760720"/>
            <a:ext cx="914400" cy="475488"/>
          </a:xfrm>
          <a:prstGeom prst="rect">
            <a:avLst/>
          </a:prstGeom>
          <a:solidFill>
            <a:srgbClr val="EF4444"/>
          </a:solidFill>
          <a:ln/>
        </p:spPr>
      </p:sp>
      <p:sp>
        <p:nvSpPr>
          <p:cNvPr id="102" name="Text 100"/>
          <p:cNvSpPr/>
          <p:nvPr/>
        </p:nvSpPr>
        <p:spPr>
          <a:xfrm>
            <a:off x="7973568" y="5760720"/>
            <a:ext cx="914400" cy="475488"/>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5.2</a:t>
            </a:r>
            <a:endParaRPr lang="en-US" sz="1800" dirty="0"/>
          </a:p>
        </p:txBody>
      </p:sp>
      <p:sp>
        <p:nvSpPr>
          <p:cNvPr id="103" name="Text 101"/>
          <p:cNvSpPr/>
          <p:nvPr/>
        </p:nvSpPr>
        <p:spPr>
          <a:xfrm>
            <a:off x="9034272" y="5833872"/>
            <a:ext cx="1005840" cy="320040"/>
          </a:xfrm>
          <a:prstGeom prst="rect">
            <a:avLst/>
          </a:prstGeom>
          <a:noFill/>
          <a:ln/>
        </p:spPr>
        <p:txBody>
          <a:bodyPr wrap="square" rtlCol="0" anchor="ctr"/>
          <a:lstStyle/>
          <a:p>
            <a:pPr algn="ctr" indent="0" marL="0">
              <a:buNone/>
            </a:pPr>
            <a:r>
              <a:rPr lang="en-US" sz="1100" b="1" dirty="0">
                <a:solidFill>
                  <a:srgbClr val="EAB308"/>
                </a:solidFill>
                <a:latin typeface="Calibri" pitchFamily="34" charset="0"/>
                <a:ea typeface="Calibri" pitchFamily="34" charset="-122"/>
                <a:cs typeface="Calibri" pitchFamily="34" charset="-120"/>
              </a:rPr>
              <a:t>★ 3.1</a:t>
            </a:r>
            <a:endParaRPr lang="en-US" sz="1100" dirty="0"/>
          </a:p>
        </p:txBody>
      </p:sp>
      <p:sp>
        <p:nvSpPr>
          <p:cNvPr id="104" name="Text 102"/>
          <p:cNvSpPr/>
          <p:nvPr/>
        </p:nvSpPr>
        <p:spPr>
          <a:xfrm>
            <a:off x="10122408" y="5833872"/>
            <a:ext cx="877824" cy="320040"/>
          </a:xfrm>
          <a:prstGeom prst="rect">
            <a:avLst/>
          </a:prstGeom>
          <a:noFill/>
          <a:ln/>
        </p:spPr>
        <p:txBody>
          <a:bodyPr wrap="square" rtlCol="0" anchor="ctr"/>
          <a:lstStyle/>
          <a:p>
            <a:pPr algn="ctr" indent="0" marL="0">
              <a:buNone/>
            </a:pPr>
            <a:r>
              <a:rPr lang="en-US" sz="850" b="1" dirty="0">
                <a:solidFill>
                  <a:srgbClr val="334155"/>
                </a:solidFill>
                <a:latin typeface="Calibri" pitchFamily="34" charset="0"/>
                <a:ea typeface="Calibri" pitchFamily="34" charset="-122"/>
                <a:cs typeface="Calibri" pitchFamily="34" charset="-120"/>
              </a:rPr>
              <a:t>~50K/mo</a:t>
            </a:r>
            <a:endParaRPr lang="en-US" sz="850" dirty="0"/>
          </a:p>
        </p:txBody>
      </p:sp>
      <p:sp>
        <p:nvSpPr>
          <p:cNvPr id="105" name="Text 103"/>
          <p:cNvSpPr/>
          <p:nvPr/>
        </p:nvSpPr>
        <p:spPr>
          <a:xfrm>
            <a:off x="11036808" y="5779008"/>
            <a:ext cx="1097280" cy="438912"/>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Trustpilot 36K reviews, India vol. very low</a:t>
            </a:r>
            <a:endParaRPr lang="en-US" sz="650" dirty="0"/>
          </a:p>
        </p:txBody>
      </p:sp>
      <p:sp>
        <p:nvSpPr>
          <p:cNvPr id="106" name="Shape 104"/>
          <p:cNvSpPr/>
          <p:nvPr/>
        </p:nvSpPr>
        <p:spPr>
          <a:xfrm>
            <a:off x="274320" y="6419088"/>
            <a:ext cx="457200" cy="146304"/>
          </a:xfrm>
          <a:prstGeom prst="rect">
            <a:avLst/>
          </a:prstGeom>
          <a:solidFill>
            <a:srgbClr val="22C55E"/>
          </a:solidFill>
          <a:ln/>
        </p:spPr>
      </p:sp>
      <p:sp>
        <p:nvSpPr>
          <p:cNvPr id="107" name="Text 105"/>
          <p:cNvSpPr/>
          <p:nvPr/>
        </p:nvSpPr>
        <p:spPr>
          <a:xfrm>
            <a:off x="777240" y="6419088"/>
            <a:ext cx="914400" cy="146304"/>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Positive</a:t>
            </a:r>
            <a:endParaRPr lang="en-US" sz="800" dirty="0"/>
          </a:p>
        </p:txBody>
      </p:sp>
      <p:sp>
        <p:nvSpPr>
          <p:cNvPr id="108" name="Shape 106"/>
          <p:cNvSpPr/>
          <p:nvPr/>
        </p:nvSpPr>
        <p:spPr>
          <a:xfrm>
            <a:off x="1828800" y="6419088"/>
            <a:ext cx="457200" cy="146304"/>
          </a:xfrm>
          <a:prstGeom prst="rect">
            <a:avLst/>
          </a:prstGeom>
          <a:solidFill>
            <a:srgbClr val="94A3B8"/>
          </a:solidFill>
          <a:ln/>
        </p:spPr>
      </p:sp>
      <p:sp>
        <p:nvSpPr>
          <p:cNvPr id="109" name="Text 107"/>
          <p:cNvSpPr/>
          <p:nvPr/>
        </p:nvSpPr>
        <p:spPr>
          <a:xfrm>
            <a:off x="2331720" y="6419088"/>
            <a:ext cx="914400" cy="146304"/>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Neutral</a:t>
            </a:r>
            <a:endParaRPr lang="en-US" sz="800" dirty="0"/>
          </a:p>
        </p:txBody>
      </p:sp>
      <p:sp>
        <p:nvSpPr>
          <p:cNvPr id="110" name="Shape 108"/>
          <p:cNvSpPr/>
          <p:nvPr/>
        </p:nvSpPr>
        <p:spPr>
          <a:xfrm>
            <a:off x="3337560" y="6419088"/>
            <a:ext cx="457200" cy="146304"/>
          </a:xfrm>
          <a:prstGeom prst="rect">
            <a:avLst/>
          </a:prstGeom>
          <a:solidFill>
            <a:srgbClr val="EF4444"/>
          </a:solidFill>
          <a:ln/>
        </p:spPr>
      </p:sp>
      <p:sp>
        <p:nvSpPr>
          <p:cNvPr id="111" name="Text 109"/>
          <p:cNvSpPr/>
          <p:nvPr/>
        </p:nvSpPr>
        <p:spPr>
          <a:xfrm>
            <a:off x="3840480" y="6419088"/>
            <a:ext cx="1005840" cy="146304"/>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Negative</a:t>
            </a:r>
            <a:endParaRPr lang="en-US" sz="800" dirty="0"/>
          </a:p>
        </p:txBody>
      </p:sp>
      <p:sp>
        <p:nvSpPr>
          <p:cNvPr id="112" name="Text 110"/>
          <p:cNvSpPr/>
          <p:nvPr/>
        </p:nvSpPr>
        <p:spPr>
          <a:xfrm>
            <a:off x="4937760" y="6400800"/>
            <a:ext cx="7132320" cy="201168"/>
          </a:xfrm>
          <a:prstGeom prst="rect">
            <a:avLst/>
          </a:prstGeom>
          <a:noFill/>
          <a:ln/>
        </p:spPr>
        <p:txBody>
          <a:bodyPr wrap="square" rtlCol="0" anchor="ctr"/>
          <a:lstStyle/>
          <a:p>
            <a:pPr algn="r" indent="0" marL="0">
              <a:buNone/>
            </a:pPr>
            <a:r>
              <a:rPr lang="en-US" sz="700" i="1" dirty="0">
                <a:solidFill>
                  <a:srgbClr val="64748B"/>
                </a:solidFill>
                <a:latin typeface="Calibri" pitchFamily="34" charset="0"/>
                <a:ea typeface="Calibri" pitchFamily="34" charset="-122"/>
                <a:cs typeface="Calibri" pitchFamily="34" charset="-120"/>
              </a:rPr>
              <a:t>Source: App Store India ratings, Trustpilot review polarity, social listening pattern analysis, published OTT consumer reports | Directional estimates — primary social listening tool (Brandwatch/Sprinklr) recommended for precise data</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804672"/>
          </a:xfrm>
          <a:prstGeom prst="rect">
            <a:avLst/>
          </a:prstGeom>
          <a:solidFill>
            <a:srgbClr val="0F172A"/>
          </a:solidFill>
          <a:ln/>
        </p:spPr>
      </p:sp>
      <p:sp>
        <p:nvSpPr>
          <p:cNvPr id="3" name="Shape 1"/>
          <p:cNvSpPr/>
          <p:nvPr/>
        </p:nvSpPr>
        <p:spPr>
          <a:xfrm>
            <a:off x="0" y="786384"/>
            <a:ext cx="12161520" cy="64008"/>
          </a:xfrm>
          <a:prstGeom prst="rect">
            <a:avLst/>
          </a:prstGeom>
          <a:solidFill>
            <a:srgbClr val="F7D447"/>
          </a:solidFill>
          <a:ln/>
        </p:spPr>
      </p:sp>
      <p:sp>
        <p:nvSpPr>
          <p:cNvPr id="4" name="Text 2"/>
          <p:cNvSpPr/>
          <p:nvPr/>
        </p:nvSpPr>
        <p:spPr>
          <a:xfrm>
            <a:off x="365760" y="54864"/>
            <a:ext cx="8961120" cy="475488"/>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NPS (Net Promoter Score) &amp; NSS (Net Sentiment Score) — Competitor Benchmarks</a:t>
            </a:r>
            <a:endParaRPr lang="en-US" sz="2000" dirty="0"/>
          </a:p>
        </p:txBody>
      </p:sp>
      <p:sp>
        <p:nvSpPr>
          <p:cNvPr id="5" name="Text 3"/>
          <p:cNvSpPr/>
          <p:nvPr/>
        </p:nvSpPr>
        <p:spPr>
          <a:xfrm>
            <a:off x="365760" y="530352"/>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Source: RedSeer OTT Study 2021, Analysys Mason Consumer Survey 2024, Trustpilot proxy analysis, Industry benchmarks</a:t>
            </a:r>
            <a:endParaRPr lang="en-US" sz="950" dirty="0"/>
          </a:p>
        </p:txBody>
      </p:sp>
      <p:sp>
        <p:nvSpPr>
          <p:cNvPr id="6" name="Text 4"/>
          <p:cNvSpPr/>
          <p:nvPr/>
        </p:nvSpPr>
        <p:spPr>
          <a:xfrm>
            <a:off x="9601200" y="228600"/>
            <a:ext cx="2377440" cy="320040"/>
          </a:xfrm>
          <a:prstGeom prst="rect">
            <a:avLst/>
          </a:prstGeom>
          <a:noFill/>
          <a:ln/>
        </p:spPr>
        <p:txBody>
          <a:bodyPr wrap="square" rtlCol="0" anchor="ctr"/>
          <a:lstStyle/>
          <a:p>
            <a:pPr algn="r" indent="0" marL="0">
              <a:buNone/>
            </a:pPr>
            <a:r>
              <a:rPr lang="en-US" sz="850" b="1" dirty="0">
                <a:solidFill>
                  <a:srgbClr val="F7D447"/>
                </a:solidFill>
                <a:latin typeface="Calibri" pitchFamily="34" charset="0"/>
                <a:ea typeface="Calibri" pitchFamily="34" charset="-122"/>
                <a:cs typeface="Calibri" pitchFamily="34" charset="-120"/>
              </a:rPr>
              <a:t>DAZN India  •  Social Listening Report 2025  •  Slide 7</a:t>
            </a:r>
            <a:endParaRPr lang="en-US" sz="850" dirty="0"/>
          </a:p>
        </p:txBody>
      </p:sp>
      <p:sp>
        <p:nvSpPr>
          <p:cNvPr id="7" name="Shape 5"/>
          <p:cNvSpPr/>
          <p:nvPr/>
        </p:nvSpPr>
        <p:spPr>
          <a:xfrm>
            <a:off x="0" y="6675120"/>
            <a:ext cx="12161520" cy="182880"/>
          </a:xfrm>
          <a:prstGeom prst="rect">
            <a:avLst/>
          </a:prstGeom>
          <a:solidFill>
            <a:srgbClr val="0F172A"/>
          </a:solidFill>
          <a:ln/>
        </p:spPr>
      </p:sp>
      <p:sp>
        <p:nvSpPr>
          <p:cNvPr id="8" name="Text 6"/>
          <p:cNvSpPr/>
          <p:nvPr/>
        </p:nvSpPr>
        <p:spPr>
          <a:xfrm>
            <a:off x="274320" y="6684264"/>
            <a:ext cx="11612880" cy="15544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Confidential — For Internal Management Use Only</a:t>
            </a:r>
            <a:endParaRPr lang="en-US" sz="750" dirty="0"/>
          </a:p>
        </p:txBody>
      </p:sp>
      <p:sp>
        <p:nvSpPr>
          <p:cNvPr id="9" name="Shape 7"/>
          <p:cNvSpPr/>
          <p:nvPr/>
        </p:nvSpPr>
        <p:spPr>
          <a:xfrm>
            <a:off x="274320" y="960120"/>
            <a:ext cx="11612880" cy="658368"/>
          </a:xfrm>
          <a:prstGeom prst="rect">
            <a:avLst/>
          </a:prstGeom>
          <a:solidFill>
            <a:srgbClr val="0F172A"/>
          </a:solidFill>
          <a:ln/>
        </p:spPr>
      </p:sp>
      <p:sp>
        <p:nvSpPr>
          <p:cNvPr id="10" name="Text 8"/>
          <p:cNvSpPr/>
          <p:nvPr/>
        </p:nvSpPr>
        <p:spPr>
          <a:xfrm>
            <a:off x="411480" y="987552"/>
            <a:ext cx="2743200" cy="256032"/>
          </a:xfrm>
          <a:prstGeom prst="rect">
            <a:avLst/>
          </a:prstGeom>
          <a:noFill/>
          <a:ln/>
        </p:spPr>
        <p:txBody>
          <a:bodyPr wrap="square" rtlCol="0" anchor="ctr"/>
          <a:lstStyle/>
          <a:p>
            <a:pPr indent="0" marL="0">
              <a:buNone/>
            </a:pPr>
            <a:r>
              <a:rPr lang="en-US" sz="900" b="1" dirty="0">
                <a:solidFill>
                  <a:srgbClr val="F7D447"/>
                </a:solidFill>
                <a:latin typeface="Calibri" pitchFamily="34" charset="0"/>
                <a:ea typeface="Calibri" pitchFamily="34" charset="-122"/>
                <a:cs typeface="Calibri" pitchFamily="34" charset="-120"/>
              </a:rPr>
              <a:t>WHAT IS NPS?</a:t>
            </a:r>
            <a:endParaRPr lang="en-US" sz="900" dirty="0"/>
          </a:p>
        </p:txBody>
      </p:sp>
      <p:sp>
        <p:nvSpPr>
          <p:cNvPr id="11" name="Text 9"/>
          <p:cNvSpPr/>
          <p:nvPr/>
        </p:nvSpPr>
        <p:spPr>
          <a:xfrm>
            <a:off x="411480" y="1225296"/>
            <a:ext cx="5029200" cy="347472"/>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Net Promoter Score (NPS) = % Promoters (9–10 rating) − % Detractors (0–6 rating). Range: −100 to +100. NPS &gt;0 = good; &gt;20 = favourable; &gt;50 = excellent; &gt;70 = world-class.</a:t>
            </a:r>
            <a:endParaRPr lang="en-US" sz="850" dirty="0"/>
          </a:p>
        </p:txBody>
      </p:sp>
      <p:sp>
        <p:nvSpPr>
          <p:cNvPr id="12" name="Text 10"/>
          <p:cNvSpPr/>
          <p:nvPr/>
        </p:nvSpPr>
        <p:spPr>
          <a:xfrm>
            <a:off x="6217920" y="987552"/>
            <a:ext cx="2560320" cy="256032"/>
          </a:xfrm>
          <a:prstGeom prst="rect">
            <a:avLst/>
          </a:prstGeom>
          <a:noFill/>
          <a:ln/>
        </p:spPr>
        <p:txBody>
          <a:bodyPr wrap="square" rtlCol="0" anchor="ctr"/>
          <a:lstStyle/>
          <a:p>
            <a:pPr indent="0" marL="0">
              <a:buNone/>
            </a:pPr>
            <a:r>
              <a:rPr lang="en-US" sz="900" b="1" dirty="0">
                <a:solidFill>
                  <a:srgbClr val="F7D447"/>
                </a:solidFill>
                <a:latin typeface="Calibri" pitchFamily="34" charset="0"/>
                <a:ea typeface="Calibri" pitchFamily="34" charset="-122"/>
                <a:cs typeface="Calibri" pitchFamily="34" charset="-120"/>
              </a:rPr>
              <a:t>WHAT IS NSS?</a:t>
            </a:r>
            <a:endParaRPr lang="en-US" sz="900" dirty="0"/>
          </a:p>
        </p:txBody>
      </p:sp>
      <p:sp>
        <p:nvSpPr>
          <p:cNvPr id="13" name="Text 11"/>
          <p:cNvSpPr/>
          <p:nvPr/>
        </p:nvSpPr>
        <p:spPr>
          <a:xfrm>
            <a:off x="6217920" y="1225296"/>
            <a:ext cx="5577840" cy="347472"/>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Net Sentiment Score (NSS) = % Positive mentions − % Negative mentions from social listening. Measures brand perception health on social media. NSS &gt;30 = strong; 10–30 = moderate; &lt;10 = weak/negative.</a:t>
            </a:r>
            <a:endParaRPr lang="en-US" sz="850" dirty="0"/>
          </a:p>
        </p:txBody>
      </p:sp>
      <p:sp>
        <p:nvSpPr>
          <p:cNvPr id="14" name="Shape 12"/>
          <p:cNvSpPr/>
          <p:nvPr/>
        </p:nvSpPr>
        <p:spPr>
          <a:xfrm>
            <a:off x="274320" y="1719072"/>
            <a:ext cx="1572768" cy="347472"/>
          </a:xfrm>
          <a:prstGeom prst="rect">
            <a:avLst/>
          </a:prstGeom>
          <a:solidFill>
            <a:srgbClr val="0F172A"/>
          </a:solidFill>
          <a:ln/>
        </p:spPr>
      </p:sp>
      <p:sp>
        <p:nvSpPr>
          <p:cNvPr id="15" name="Text 13"/>
          <p:cNvSpPr/>
          <p:nvPr/>
        </p:nvSpPr>
        <p:spPr>
          <a:xfrm>
            <a:off x="310896" y="1719072"/>
            <a:ext cx="1499616"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Platform</a:t>
            </a:r>
            <a:endParaRPr lang="en-US" sz="750" dirty="0"/>
          </a:p>
        </p:txBody>
      </p:sp>
      <p:sp>
        <p:nvSpPr>
          <p:cNvPr id="16" name="Shape 14"/>
          <p:cNvSpPr/>
          <p:nvPr/>
        </p:nvSpPr>
        <p:spPr>
          <a:xfrm>
            <a:off x="1874520" y="1719072"/>
            <a:ext cx="1115568" cy="347472"/>
          </a:xfrm>
          <a:prstGeom prst="rect">
            <a:avLst/>
          </a:prstGeom>
          <a:solidFill>
            <a:srgbClr val="0F172A"/>
          </a:solidFill>
          <a:ln/>
        </p:spPr>
      </p:sp>
      <p:sp>
        <p:nvSpPr>
          <p:cNvPr id="17" name="Text 15"/>
          <p:cNvSpPr/>
          <p:nvPr/>
        </p:nvSpPr>
        <p:spPr>
          <a:xfrm>
            <a:off x="1911096" y="1719072"/>
            <a:ext cx="1042416"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NPS Score</a:t>
            </a:r>
            <a:endParaRPr lang="en-US" sz="750" dirty="0"/>
          </a:p>
        </p:txBody>
      </p:sp>
      <p:sp>
        <p:nvSpPr>
          <p:cNvPr id="18" name="Shape 16"/>
          <p:cNvSpPr/>
          <p:nvPr/>
        </p:nvSpPr>
        <p:spPr>
          <a:xfrm>
            <a:off x="3017520" y="1719072"/>
            <a:ext cx="1005840" cy="347472"/>
          </a:xfrm>
          <a:prstGeom prst="rect">
            <a:avLst/>
          </a:prstGeom>
          <a:solidFill>
            <a:srgbClr val="0F172A"/>
          </a:solidFill>
          <a:ln/>
        </p:spPr>
      </p:sp>
      <p:sp>
        <p:nvSpPr>
          <p:cNvPr id="19" name="Text 17"/>
          <p:cNvSpPr/>
          <p:nvPr/>
        </p:nvSpPr>
        <p:spPr>
          <a:xfrm>
            <a:off x="3054096" y="1719072"/>
            <a:ext cx="932688"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Trend</a:t>
            </a:r>
            <a:endParaRPr lang="en-US" sz="750" dirty="0"/>
          </a:p>
        </p:txBody>
      </p:sp>
      <p:sp>
        <p:nvSpPr>
          <p:cNvPr id="20" name="Shape 18"/>
          <p:cNvSpPr/>
          <p:nvPr/>
        </p:nvSpPr>
        <p:spPr>
          <a:xfrm>
            <a:off x="4041648" y="1719072"/>
            <a:ext cx="1005840" cy="347472"/>
          </a:xfrm>
          <a:prstGeom prst="rect">
            <a:avLst/>
          </a:prstGeom>
          <a:solidFill>
            <a:srgbClr val="0F172A"/>
          </a:solidFill>
          <a:ln/>
        </p:spPr>
      </p:sp>
      <p:sp>
        <p:nvSpPr>
          <p:cNvPr id="21" name="Text 19"/>
          <p:cNvSpPr/>
          <p:nvPr/>
        </p:nvSpPr>
        <p:spPr>
          <a:xfrm>
            <a:off x="4078224" y="1719072"/>
            <a:ext cx="932688"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Promoters %</a:t>
            </a:r>
            <a:endParaRPr lang="en-US" sz="750" dirty="0"/>
          </a:p>
        </p:txBody>
      </p:sp>
      <p:sp>
        <p:nvSpPr>
          <p:cNvPr id="22" name="Shape 20"/>
          <p:cNvSpPr/>
          <p:nvPr/>
        </p:nvSpPr>
        <p:spPr>
          <a:xfrm>
            <a:off x="5074920" y="1719072"/>
            <a:ext cx="1005840" cy="347472"/>
          </a:xfrm>
          <a:prstGeom prst="rect">
            <a:avLst/>
          </a:prstGeom>
          <a:solidFill>
            <a:srgbClr val="0F172A"/>
          </a:solidFill>
          <a:ln/>
        </p:spPr>
      </p:sp>
      <p:sp>
        <p:nvSpPr>
          <p:cNvPr id="23" name="Text 21"/>
          <p:cNvSpPr/>
          <p:nvPr/>
        </p:nvSpPr>
        <p:spPr>
          <a:xfrm>
            <a:off x="5111496" y="1719072"/>
            <a:ext cx="932688"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Passives %</a:t>
            </a:r>
            <a:endParaRPr lang="en-US" sz="750" dirty="0"/>
          </a:p>
        </p:txBody>
      </p:sp>
      <p:sp>
        <p:nvSpPr>
          <p:cNvPr id="24" name="Shape 22"/>
          <p:cNvSpPr/>
          <p:nvPr/>
        </p:nvSpPr>
        <p:spPr>
          <a:xfrm>
            <a:off x="6108192" y="1719072"/>
            <a:ext cx="1005840" cy="347472"/>
          </a:xfrm>
          <a:prstGeom prst="rect">
            <a:avLst/>
          </a:prstGeom>
          <a:solidFill>
            <a:srgbClr val="0F172A"/>
          </a:solidFill>
          <a:ln/>
        </p:spPr>
      </p:sp>
      <p:sp>
        <p:nvSpPr>
          <p:cNvPr id="25" name="Text 23"/>
          <p:cNvSpPr/>
          <p:nvPr/>
        </p:nvSpPr>
        <p:spPr>
          <a:xfrm>
            <a:off x="6144768" y="1719072"/>
            <a:ext cx="932688"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Detractors %</a:t>
            </a:r>
            <a:endParaRPr lang="en-US" sz="750" dirty="0"/>
          </a:p>
        </p:txBody>
      </p:sp>
      <p:sp>
        <p:nvSpPr>
          <p:cNvPr id="26" name="Shape 24"/>
          <p:cNvSpPr/>
          <p:nvPr/>
        </p:nvSpPr>
        <p:spPr>
          <a:xfrm>
            <a:off x="7150608" y="1719072"/>
            <a:ext cx="804672" cy="347472"/>
          </a:xfrm>
          <a:prstGeom prst="rect">
            <a:avLst/>
          </a:prstGeom>
          <a:solidFill>
            <a:srgbClr val="0F172A"/>
          </a:solidFill>
          <a:ln/>
        </p:spPr>
      </p:sp>
      <p:sp>
        <p:nvSpPr>
          <p:cNvPr id="27" name="Text 25"/>
          <p:cNvSpPr/>
          <p:nvPr/>
        </p:nvSpPr>
        <p:spPr>
          <a:xfrm>
            <a:off x="7187184" y="1719072"/>
            <a:ext cx="731520"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NSS</a:t>
            </a:r>
            <a:endParaRPr lang="en-US" sz="750" dirty="0"/>
          </a:p>
        </p:txBody>
      </p:sp>
      <p:sp>
        <p:nvSpPr>
          <p:cNvPr id="28" name="Shape 26"/>
          <p:cNvSpPr/>
          <p:nvPr/>
        </p:nvSpPr>
        <p:spPr>
          <a:xfrm>
            <a:off x="7973568" y="1719072"/>
            <a:ext cx="822960" cy="347472"/>
          </a:xfrm>
          <a:prstGeom prst="rect">
            <a:avLst/>
          </a:prstGeom>
          <a:solidFill>
            <a:srgbClr val="0F172A"/>
          </a:solidFill>
          <a:ln/>
        </p:spPr>
      </p:sp>
      <p:sp>
        <p:nvSpPr>
          <p:cNvPr id="29" name="Text 27"/>
          <p:cNvSpPr/>
          <p:nvPr/>
        </p:nvSpPr>
        <p:spPr>
          <a:xfrm>
            <a:off x="8010144" y="1719072"/>
            <a:ext cx="749808"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NSS Trend</a:t>
            </a:r>
            <a:endParaRPr lang="en-US" sz="750" dirty="0"/>
          </a:p>
        </p:txBody>
      </p:sp>
      <p:sp>
        <p:nvSpPr>
          <p:cNvPr id="30" name="Shape 28"/>
          <p:cNvSpPr/>
          <p:nvPr/>
        </p:nvSpPr>
        <p:spPr>
          <a:xfrm>
            <a:off x="8823960" y="1719072"/>
            <a:ext cx="1554480" cy="347472"/>
          </a:xfrm>
          <a:prstGeom prst="rect">
            <a:avLst/>
          </a:prstGeom>
          <a:solidFill>
            <a:srgbClr val="0F172A"/>
          </a:solidFill>
          <a:ln/>
        </p:spPr>
      </p:sp>
      <p:sp>
        <p:nvSpPr>
          <p:cNvPr id="31" name="Text 29"/>
          <p:cNvSpPr/>
          <p:nvPr/>
        </p:nvSpPr>
        <p:spPr>
          <a:xfrm>
            <a:off x="8860536" y="1719072"/>
            <a:ext cx="1481328"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Source</a:t>
            </a:r>
            <a:endParaRPr lang="en-US" sz="750" dirty="0"/>
          </a:p>
        </p:txBody>
      </p:sp>
      <p:sp>
        <p:nvSpPr>
          <p:cNvPr id="32" name="Shape 30"/>
          <p:cNvSpPr/>
          <p:nvPr/>
        </p:nvSpPr>
        <p:spPr>
          <a:xfrm>
            <a:off x="10405872" y="1719072"/>
            <a:ext cx="1691640" cy="347472"/>
          </a:xfrm>
          <a:prstGeom prst="rect">
            <a:avLst/>
          </a:prstGeom>
          <a:solidFill>
            <a:srgbClr val="0F172A"/>
          </a:solidFill>
          <a:ln/>
        </p:spPr>
      </p:sp>
      <p:sp>
        <p:nvSpPr>
          <p:cNvPr id="33" name="Text 31"/>
          <p:cNvSpPr/>
          <p:nvPr/>
        </p:nvSpPr>
        <p:spPr>
          <a:xfrm>
            <a:off x="10442448" y="1719072"/>
            <a:ext cx="1618488" cy="347472"/>
          </a:xfrm>
          <a:prstGeom prst="rect">
            <a:avLst/>
          </a:prstGeom>
          <a:noFill/>
          <a:ln/>
        </p:spPr>
        <p:txBody>
          <a:bodyPr wrap="square" rtlCol="0" anchor="ctr"/>
          <a:lstStyle/>
          <a:p>
            <a:pPr algn="ctr" indent="0" marL="0">
              <a:buNone/>
            </a:pPr>
            <a:r>
              <a:rPr lang="en-US" sz="750" b="1" dirty="0">
                <a:solidFill>
                  <a:srgbClr val="F7D447"/>
                </a:solidFill>
                <a:latin typeface="Calibri" pitchFamily="34" charset="0"/>
                <a:ea typeface="Calibri" pitchFamily="34" charset="-122"/>
                <a:cs typeface="Calibri" pitchFamily="34" charset="-120"/>
              </a:rPr>
              <a:t>Key Insight</a:t>
            </a:r>
            <a:endParaRPr lang="en-US" sz="750" dirty="0"/>
          </a:p>
        </p:txBody>
      </p:sp>
      <p:sp>
        <p:nvSpPr>
          <p:cNvPr id="34" name="Shape 32"/>
          <p:cNvSpPr/>
          <p:nvPr/>
        </p:nvSpPr>
        <p:spPr>
          <a:xfrm>
            <a:off x="274320" y="2139696"/>
            <a:ext cx="11887200" cy="658368"/>
          </a:xfrm>
          <a:prstGeom prst="rect">
            <a:avLst/>
          </a:prstGeom>
          <a:solidFill>
            <a:srgbClr val="FFFFFF"/>
          </a:solidFill>
          <a:ln/>
        </p:spPr>
      </p:sp>
      <p:sp>
        <p:nvSpPr>
          <p:cNvPr id="35" name="Shape 33"/>
          <p:cNvSpPr/>
          <p:nvPr/>
        </p:nvSpPr>
        <p:spPr>
          <a:xfrm>
            <a:off x="274320" y="2139696"/>
            <a:ext cx="73152" cy="658368"/>
          </a:xfrm>
          <a:prstGeom prst="rect">
            <a:avLst/>
          </a:prstGeom>
          <a:solidFill>
            <a:srgbClr val="E50914"/>
          </a:solidFill>
          <a:ln/>
        </p:spPr>
      </p:sp>
      <p:sp>
        <p:nvSpPr>
          <p:cNvPr id="36" name="Text 34"/>
          <p:cNvSpPr/>
          <p:nvPr/>
        </p:nvSpPr>
        <p:spPr>
          <a:xfrm>
            <a:off x="384048" y="2304288"/>
            <a:ext cx="1371600" cy="32004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Netflix India</a:t>
            </a:r>
            <a:endParaRPr lang="en-US" sz="850" dirty="0"/>
          </a:p>
        </p:txBody>
      </p:sp>
      <p:sp>
        <p:nvSpPr>
          <p:cNvPr id="37" name="Shape 35"/>
          <p:cNvSpPr/>
          <p:nvPr/>
        </p:nvSpPr>
        <p:spPr>
          <a:xfrm>
            <a:off x="1920240" y="2212848"/>
            <a:ext cx="1005840" cy="502920"/>
          </a:xfrm>
          <a:prstGeom prst="rect">
            <a:avLst/>
          </a:prstGeom>
          <a:solidFill>
            <a:srgbClr val="22C55E"/>
          </a:solidFill>
          <a:ln/>
        </p:spPr>
      </p:sp>
      <p:sp>
        <p:nvSpPr>
          <p:cNvPr id="38" name="Text 36"/>
          <p:cNvSpPr/>
          <p:nvPr/>
        </p:nvSpPr>
        <p:spPr>
          <a:xfrm>
            <a:off x="1920240" y="2212848"/>
            <a:ext cx="1005840" cy="50292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59</a:t>
            </a:r>
            <a:endParaRPr lang="en-US" sz="2000" dirty="0"/>
          </a:p>
        </p:txBody>
      </p:sp>
      <p:sp>
        <p:nvSpPr>
          <p:cNvPr id="39" name="Text 37"/>
          <p:cNvSpPr/>
          <p:nvPr/>
        </p:nvSpPr>
        <p:spPr>
          <a:xfrm>
            <a:off x="3054096" y="2304288"/>
            <a:ext cx="932688" cy="320040"/>
          </a:xfrm>
          <a:prstGeom prst="rect">
            <a:avLst/>
          </a:prstGeom>
          <a:noFill/>
          <a:ln/>
        </p:spPr>
        <p:txBody>
          <a:bodyPr wrap="square" rtlCol="0" anchor="ctr"/>
          <a:lstStyle/>
          <a:p>
            <a:pPr algn="ctr" indent="0" marL="0">
              <a:buNone/>
            </a:pPr>
            <a:r>
              <a:rPr lang="en-US" sz="800" b="1" dirty="0">
                <a:solidFill>
                  <a:srgbClr val="EAB308"/>
                </a:solidFill>
                <a:latin typeface="Calibri" pitchFamily="34" charset="0"/>
                <a:ea typeface="Calibri" pitchFamily="34" charset="-122"/>
                <a:cs typeface="Calibri" pitchFamily="34" charset="-120"/>
              </a:rPr>
              <a:t>↔ Stable (2024)</a:t>
            </a:r>
            <a:endParaRPr lang="en-US" sz="800" dirty="0"/>
          </a:p>
        </p:txBody>
      </p:sp>
      <p:sp>
        <p:nvSpPr>
          <p:cNvPr id="40" name="Text 38"/>
          <p:cNvSpPr/>
          <p:nvPr/>
        </p:nvSpPr>
        <p:spPr>
          <a:xfrm>
            <a:off x="4078224" y="2304288"/>
            <a:ext cx="932688" cy="320040"/>
          </a:xfrm>
          <a:prstGeom prst="rect">
            <a:avLst/>
          </a:prstGeom>
          <a:noFill/>
          <a:ln/>
        </p:spPr>
        <p:txBody>
          <a:bodyPr wrap="square" rtlCol="0" anchor="ctr"/>
          <a:lstStyle/>
          <a:p>
            <a:pPr algn="ctr" indent="0" marL="0">
              <a:buNone/>
            </a:pPr>
            <a:r>
              <a:rPr lang="en-US" sz="950" b="1" dirty="0">
                <a:solidFill>
                  <a:srgbClr val="22C55E"/>
                </a:solidFill>
                <a:latin typeface="Calibri" pitchFamily="34" charset="0"/>
                <a:ea typeface="Calibri" pitchFamily="34" charset="-122"/>
                <a:cs typeface="Calibri" pitchFamily="34" charset="-120"/>
              </a:rPr>
              <a:t>59%</a:t>
            </a:r>
            <a:endParaRPr lang="en-US" sz="950" dirty="0"/>
          </a:p>
        </p:txBody>
      </p:sp>
      <p:sp>
        <p:nvSpPr>
          <p:cNvPr id="41" name="Text 39"/>
          <p:cNvSpPr/>
          <p:nvPr/>
        </p:nvSpPr>
        <p:spPr>
          <a:xfrm>
            <a:off x="5111496" y="2304288"/>
            <a:ext cx="932688" cy="320040"/>
          </a:xfrm>
          <a:prstGeom prst="rect">
            <a:avLst/>
          </a:prstGeom>
          <a:noFill/>
          <a:ln/>
        </p:spPr>
        <p:txBody>
          <a:bodyPr wrap="square" rtlCol="0" anchor="ctr"/>
          <a:lstStyle/>
          <a:p>
            <a:pPr algn="ctr" indent="0" marL="0">
              <a:buNone/>
            </a:pPr>
            <a:r>
              <a:rPr lang="en-US" sz="950" b="1" dirty="0">
                <a:solidFill>
                  <a:srgbClr val="94A3B8"/>
                </a:solidFill>
                <a:latin typeface="Calibri" pitchFamily="34" charset="0"/>
                <a:ea typeface="Calibri" pitchFamily="34" charset="-122"/>
                <a:cs typeface="Calibri" pitchFamily="34" charset="-120"/>
              </a:rPr>
              <a:t>25%</a:t>
            </a:r>
            <a:endParaRPr lang="en-US" sz="950" dirty="0"/>
          </a:p>
        </p:txBody>
      </p:sp>
      <p:sp>
        <p:nvSpPr>
          <p:cNvPr id="42" name="Text 40"/>
          <p:cNvSpPr/>
          <p:nvPr/>
        </p:nvSpPr>
        <p:spPr>
          <a:xfrm>
            <a:off x="6144768" y="2304288"/>
            <a:ext cx="932688" cy="320040"/>
          </a:xfrm>
          <a:prstGeom prst="rect">
            <a:avLst/>
          </a:prstGeom>
          <a:noFill/>
          <a:ln/>
        </p:spPr>
        <p:txBody>
          <a:bodyPr wrap="square" rtlCol="0" anchor="ctr"/>
          <a:lstStyle/>
          <a:p>
            <a:pPr algn="ctr" indent="0" marL="0">
              <a:buNone/>
            </a:pPr>
            <a:r>
              <a:rPr lang="en-US" sz="950" b="1" dirty="0">
                <a:solidFill>
                  <a:srgbClr val="EF4444"/>
                </a:solidFill>
                <a:latin typeface="Calibri" pitchFamily="34" charset="0"/>
                <a:ea typeface="Calibri" pitchFamily="34" charset="-122"/>
                <a:cs typeface="Calibri" pitchFamily="34" charset="-120"/>
              </a:rPr>
              <a:t>16%</a:t>
            </a:r>
            <a:endParaRPr lang="en-US" sz="950" dirty="0"/>
          </a:p>
        </p:txBody>
      </p:sp>
      <p:sp>
        <p:nvSpPr>
          <p:cNvPr id="43" name="Shape 41"/>
          <p:cNvSpPr/>
          <p:nvPr/>
        </p:nvSpPr>
        <p:spPr>
          <a:xfrm>
            <a:off x="7187184" y="2249424"/>
            <a:ext cx="713232" cy="438912"/>
          </a:xfrm>
          <a:prstGeom prst="rect">
            <a:avLst/>
          </a:prstGeom>
          <a:solidFill>
            <a:srgbClr val="22C55E"/>
          </a:solidFill>
          <a:ln/>
        </p:spPr>
      </p:sp>
      <p:sp>
        <p:nvSpPr>
          <p:cNvPr id="44" name="Text 42"/>
          <p:cNvSpPr/>
          <p:nvPr/>
        </p:nvSpPr>
        <p:spPr>
          <a:xfrm>
            <a:off x="7187184" y="2249424"/>
            <a:ext cx="713232" cy="43891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41</a:t>
            </a:r>
            <a:endParaRPr lang="en-US" sz="1600" dirty="0"/>
          </a:p>
        </p:txBody>
      </p:sp>
      <p:sp>
        <p:nvSpPr>
          <p:cNvPr id="45" name="Text 43"/>
          <p:cNvSpPr/>
          <p:nvPr/>
        </p:nvSpPr>
        <p:spPr>
          <a:xfrm>
            <a:off x="8010144" y="2304288"/>
            <a:ext cx="749808" cy="320040"/>
          </a:xfrm>
          <a:prstGeom prst="rect">
            <a:avLst/>
          </a:prstGeom>
          <a:noFill/>
          <a:ln/>
        </p:spPr>
        <p:txBody>
          <a:bodyPr wrap="square" rtlCol="0" anchor="ctr"/>
          <a:lstStyle/>
          <a:p>
            <a:pPr algn="ctr" indent="0" marL="0">
              <a:buNone/>
            </a:pPr>
            <a:r>
              <a:rPr lang="en-US" sz="800" b="1" dirty="0">
                <a:solidFill>
                  <a:srgbClr val="22C55E"/>
                </a:solidFill>
                <a:latin typeface="Calibri" pitchFamily="34" charset="0"/>
                <a:ea typeface="Calibri" pitchFamily="34" charset="-122"/>
                <a:cs typeface="Calibri" pitchFamily="34" charset="-120"/>
              </a:rPr>
              <a:t>↑ Strong</a:t>
            </a:r>
            <a:endParaRPr lang="en-US" sz="800" dirty="0"/>
          </a:p>
        </p:txBody>
      </p:sp>
      <p:sp>
        <p:nvSpPr>
          <p:cNvPr id="46" name="Text 44"/>
          <p:cNvSpPr/>
          <p:nvPr/>
        </p:nvSpPr>
        <p:spPr>
          <a:xfrm>
            <a:off x="8860536" y="2231136"/>
            <a:ext cx="1481328" cy="475488"/>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RedSeer India OTT Study (2021 baseline); Analysys Mason streaming NPS 2024 proxy</a:t>
            </a:r>
            <a:endParaRPr lang="en-US" sz="650" dirty="0"/>
          </a:p>
        </p:txBody>
      </p:sp>
      <p:sp>
        <p:nvSpPr>
          <p:cNvPr id="47" name="Text 45"/>
          <p:cNvSpPr/>
          <p:nvPr/>
        </p:nvSpPr>
        <p:spPr>
          <a:xfrm>
            <a:off x="10442448" y="2212848"/>
            <a:ext cx="1618488" cy="512064"/>
          </a:xfrm>
          <a:prstGeom prst="rect">
            <a:avLst/>
          </a:prstGeom>
          <a:noFill/>
          <a:ln/>
        </p:spPr>
        <p:txBody>
          <a:bodyPr wrap="square" rtlCol="0" anchor="ctr"/>
          <a:lstStyle/>
          <a:p>
            <a:pPr indent="0" marL="0">
              <a:buNone/>
            </a:pPr>
            <a:r>
              <a:rPr lang="en-US" sz="700" dirty="0">
                <a:solidFill>
                  <a:srgbClr val="334155"/>
                </a:solidFill>
                <a:latin typeface="Calibri" pitchFamily="34" charset="0"/>
                <a:ea typeface="Calibri" pitchFamily="34" charset="-122"/>
                <a:cs typeface="Calibri" pitchFamily="34" charset="-120"/>
              </a:rPr>
              <a:t>Industry-leading NPS driven by premium originals quality and brand trust. Password sharing crackdown caused slight dip in 2023 but recovered.</a:t>
            </a:r>
            <a:endParaRPr lang="en-US" sz="700" dirty="0"/>
          </a:p>
        </p:txBody>
      </p:sp>
      <p:sp>
        <p:nvSpPr>
          <p:cNvPr id="48" name="Shape 46"/>
          <p:cNvSpPr/>
          <p:nvPr/>
        </p:nvSpPr>
        <p:spPr>
          <a:xfrm>
            <a:off x="274320" y="2852928"/>
            <a:ext cx="11887200" cy="658368"/>
          </a:xfrm>
          <a:prstGeom prst="rect">
            <a:avLst/>
          </a:prstGeom>
          <a:solidFill>
            <a:srgbClr val="F8FAFC"/>
          </a:solidFill>
          <a:ln/>
        </p:spPr>
      </p:sp>
      <p:sp>
        <p:nvSpPr>
          <p:cNvPr id="49" name="Shape 47"/>
          <p:cNvSpPr/>
          <p:nvPr/>
        </p:nvSpPr>
        <p:spPr>
          <a:xfrm>
            <a:off x="274320" y="2852928"/>
            <a:ext cx="73152" cy="658368"/>
          </a:xfrm>
          <a:prstGeom prst="rect">
            <a:avLst/>
          </a:prstGeom>
          <a:solidFill>
            <a:srgbClr val="00A8E1"/>
          </a:solidFill>
          <a:ln/>
        </p:spPr>
      </p:sp>
      <p:sp>
        <p:nvSpPr>
          <p:cNvPr id="50" name="Text 48"/>
          <p:cNvSpPr/>
          <p:nvPr/>
        </p:nvSpPr>
        <p:spPr>
          <a:xfrm>
            <a:off x="384048" y="3017520"/>
            <a:ext cx="1371600" cy="32004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Amazon Prime Video</a:t>
            </a:r>
            <a:endParaRPr lang="en-US" sz="850" dirty="0"/>
          </a:p>
        </p:txBody>
      </p:sp>
      <p:sp>
        <p:nvSpPr>
          <p:cNvPr id="51" name="Shape 49"/>
          <p:cNvSpPr/>
          <p:nvPr/>
        </p:nvSpPr>
        <p:spPr>
          <a:xfrm>
            <a:off x="1920240" y="2926080"/>
            <a:ext cx="1005840" cy="502920"/>
          </a:xfrm>
          <a:prstGeom prst="rect">
            <a:avLst/>
          </a:prstGeom>
          <a:solidFill>
            <a:srgbClr val="22C55E"/>
          </a:solidFill>
          <a:ln/>
        </p:spPr>
      </p:sp>
      <p:sp>
        <p:nvSpPr>
          <p:cNvPr id="52" name="Text 50"/>
          <p:cNvSpPr/>
          <p:nvPr/>
        </p:nvSpPr>
        <p:spPr>
          <a:xfrm>
            <a:off x="1920240" y="2926080"/>
            <a:ext cx="1005840" cy="50292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53</a:t>
            </a:r>
            <a:endParaRPr lang="en-US" sz="2000" dirty="0"/>
          </a:p>
        </p:txBody>
      </p:sp>
      <p:sp>
        <p:nvSpPr>
          <p:cNvPr id="53" name="Text 51"/>
          <p:cNvSpPr/>
          <p:nvPr/>
        </p:nvSpPr>
        <p:spPr>
          <a:xfrm>
            <a:off x="3054096" y="3017520"/>
            <a:ext cx="932688" cy="320040"/>
          </a:xfrm>
          <a:prstGeom prst="rect">
            <a:avLst/>
          </a:prstGeom>
          <a:noFill/>
          <a:ln/>
        </p:spPr>
        <p:txBody>
          <a:bodyPr wrap="square"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 Slight decline (ads 2025)</a:t>
            </a:r>
            <a:endParaRPr lang="en-US" sz="800" dirty="0"/>
          </a:p>
        </p:txBody>
      </p:sp>
      <p:sp>
        <p:nvSpPr>
          <p:cNvPr id="54" name="Text 52"/>
          <p:cNvSpPr/>
          <p:nvPr/>
        </p:nvSpPr>
        <p:spPr>
          <a:xfrm>
            <a:off x="4078224" y="3017520"/>
            <a:ext cx="932688" cy="320040"/>
          </a:xfrm>
          <a:prstGeom prst="rect">
            <a:avLst/>
          </a:prstGeom>
          <a:noFill/>
          <a:ln/>
        </p:spPr>
        <p:txBody>
          <a:bodyPr wrap="square" rtlCol="0" anchor="ctr"/>
          <a:lstStyle/>
          <a:p>
            <a:pPr algn="ctr" indent="0" marL="0">
              <a:buNone/>
            </a:pPr>
            <a:r>
              <a:rPr lang="en-US" sz="950" b="1" dirty="0">
                <a:solidFill>
                  <a:srgbClr val="22C55E"/>
                </a:solidFill>
                <a:latin typeface="Calibri" pitchFamily="34" charset="0"/>
                <a:ea typeface="Calibri" pitchFamily="34" charset="-122"/>
                <a:cs typeface="Calibri" pitchFamily="34" charset="-120"/>
              </a:rPr>
              <a:t>53%</a:t>
            </a:r>
            <a:endParaRPr lang="en-US" sz="950" dirty="0"/>
          </a:p>
        </p:txBody>
      </p:sp>
      <p:sp>
        <p:nvSpPr>
          <p:cNvPr id="55" name="Text 53"/>
          <p:cNvSpPr/>
          <p:nvPr/>
        </p:nvSpPr>
        <p:spPr>
          <a:xfrm>
            <a:off x="5111496" y="3017520"/>
            <a:ext cx="932688" cy="320040"/>
          </a:xfrm>
          <a:prstGeom prst="rect">
            <a:avLst/>
          </a:prstGeom>
          <a:noFill/>
          <a:ln/>
        </p:spPr>
        <p:txBody>
          <a:bodyPr wrap="square" rtlCol="0" anchor="ctr"/>
          <a:lstStyle/>
          <a:p>
            <a:pPr algn="ctr" indent="0" marL="0">
              <a:buNone/>
            </a:pPr>
            <a:r>
              <a:rPr lang="en-US" sz="950" b="1" dirty="0">
                <a:solidFill>
                  <a:srgbClr val="94A3B8"/>
                </a:solidFill>
                <a:latin typeface="Calibri" pitchFamily="34" charset="0"/>
                <a:ea typeface="Calibri" pitchFamily="34" charset="-122"/>
                <a:cs typeface="Calibri" pitchFamily="34" charset="-120"/>
              </a:rPr>
              <a:t>27%</a:t>
            </a:r>
            <a:endParaRPr lang="en-US" sz="950" dirty="0"/>
          </a:p>
        </p:txBody>
      </p:sp>
      <p:sp>
        <p:nvSpPr>
          <p:cNvPr id="56" name="Text 54"/>
          <p:cNvSpPr/>
          <p:nvPr/>
        </p:nvSpPr>
        <p:spPr>
          <a:xfrm>
            <a:off x="6144768" y="3017520"/>
            <a:ext cx="932688" cy="320040"/>
          </a:xfrm>
          <a:prstGeom prst="rect">
            <a:avLst/>
          </a:prstGeom>
          <a:noFill/>
          <a:ln/>
        </p:spPr>
        <p:txBody>
          <a:bodyPr wrap="square" rtlCol="0" anchor="ctr"/>
          <a:lstStyle/>
          <a:p>
            <a:pPr algn="ctr" indent="0" marL="0">
              <a:buNone/>
            </a:pPr>
            <a:r>
              <a:rPr lang="en-US" sz="950" b="1" dirty="0">
                <a:solidFill>
                  <a:srgbClr val="EF4444"/>
                </a:solidFill>
                <a:latin typeface="Calibri" pitchFamily="34" charset="0"/>
                <a:ea typeface="Calibri" pitchFamily="34" charset="-122"/>
                <a:cs typeface="Calibri" pitchFamily="34" charset="-120"/>
              </a:rPr>
              <a:t>20%</a:t>
            </a:r>
            <a:endParaRPr lang="en-US" sz="950" dirty="0"/>
          </a:p>
        </p:txBody>
      </p:sp>
      <p:sp>
        <p:nvSpPr>
          <p:cNvPr id="57" name="Shape 55"/>
          <p:cNvSpPr/>
          <p:nvPr/>
        </p:nvSpPr>
        <p:spPr>
          <a:xfrm>
            <a:off x="7187184" y="2962656"/>
            <a:ext cx="713232" cy="438912"/>
          </a:xfrm>
          <a:prstGeom prst="rect">
            <a:avLst/>
          </a:prstGeom>
          <a:solidFill>
            <a:srgbClr val="22C55E"/>
          </a:solidFill>
          <a:ln/>
        </p:spPr>
      </p:sp>
      <p:sp>
        <p:nvSpPr>
          <p:cNvPr id="58" name="Text 56"/>
          <p:cNvSpPr/>
          <p:nvPr/>
        </p:nvSpPr>
        <p:spPr>
          <a:xfrm>
            <a:off x="7187184" y="2962656"/>
            <a:ext cx="713232" cy="43891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31</a:t>
            </a:r>
            <a:endParaRPr lang="en-US" sz="1600" dirty="0"/>
          </a:p>
        </p:txBody>
      </p:sp>
      <p:sp>
        <p:nvSpPr>
          <p:cNvPr id="59" name="Text 57"/>
          <p:cNvSpPr/>
          <p:nvPr/>
        </p:nvSpPr>
        <p:spPr>
          <a:xfrm>
            <a:off x="8010144" y="3017520"/>
            <a:ext cx="749808" cy="320040"/>
          </a:xfrm>
          <a:prstGeom prst="rect">
            <a:avLst/>
          </a:prstGeom>
          <a:noFill/>
          <a:ln/>
        </p:spPr>
        <p:txBody>
          <a:bodyPr wrap="square" rtlCol="0" anchor="ctr"/>
          <a:lstStyle/>
          <a:p>
            <a:pPr algn="ctr" indent="0" marL="0">
              <a:buNone/>
            </a:pPr>
            <a:r>
              <a:rPr lang="en-US" sz="800" b="1" dirty="0">
                <a:solidFill>
                  <a:srgbClr val="EAB308"/>
                </a:solidFill>
                <a:latin typeface="Calibri" pitchFamily="34" charset="0"/>
                <a:ea typeface="Calibri" pitchFamily="34" charset="-122"/>
                <a:cs typeface="Calibri" pitchFamily="34" charset="-120"/>
              </a:rPr>
              <a:t>↔ Moderate</a:t>
            </a:r>
            <a:endParaRPr lang="en-US" sz="800" dirty="0"/>
          </a:p>
        </p:txBody>
      </p:sp>
      <p:sp>
        <p:nvSpPr>
          <p:cNvPr id="60" name="Text 58"/>
          <p:cNvSpPr/>
          <p:nvPr/>
        </p:nvSpPr>
        <p:spPr>
          <a:xfrm>
            <a:off x="8860536" y="2944368"/>
            <a:ext cx="1481328" cy="475488"/>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RedSeer India OTT Study (2021 baseline); Amazon ads announcement backlash 2025</a:t>
            </a:r>
            <a:endParaRPr lang="en-US" sz="650" dirty="0"/>
          </a:p>
        </p:txBody>
      </p:sp>
      <p:sp>
        <p:nvSpPr>
          <p:cNvPr id="61" name="Text 59"/>
          <p:cNvSpPr/>
          <p:nvPr/>
        </p:nvSpPr>
        <p:spPr>
          <a:xfrm>
            <a:off x="10442448" y="2926080"/>
            <a:ext cx="1618488" cy="512064"/>
          </a:xfrm>
          <a:prstGeom prst="rect">
            <a:avLst/>
          </a:prstGeom>
          <a:noFill/>
          <a:ln/>
        </p:spPr>
        <p:txBody>
          <a:bodyPr wrap="square" rtlCol="0" anchor="ctr"/>
          <a:lstStyle/>
          <a:p>
            <a:pPr indent="0" marL="0">
              <a:buNone/>
            </a:pPr>
            <a:r>
              <a:rPr lang="en-US" sz="700" dirty="0">
                <a:solidFill>
                  <a:srgbClr val="334155"/>
                </a:solidFill>
                <a:latin typeface="Calibri" pitchFamily="34" charset="0"/>
                <a:ea typeface="Calibri" pitchFamily="34" charset="-122"/>
                <a:cs typeface="Calibri" pitchFamily="34" charset="-120"/>
              </a:rPr>
              <a:t>Strong NPS driven by value-for-money perception. Introduction of ads on paid tier in 2025 is expected to reduce NPS by 5–8 points.</a:t>
            </a:r>
            <a:endParaRPr lang="en-US" sz="700" dirty="0"/>
          </a:p>
        </p:txBody>
      </p:sp>
      <p:sp>
        <p:nvSpPr>
          <p:cNvPr id="62" name="Shape 60"/>
          <p:cNvSpPr/>
          <p:nvPr/>
        </p:nvSpPr>
        <p:spPr>
          <a:xfrm>
            <a:off x="274320" y="3566160"/>
            <a:ext cx="11887200" cy="658368"/>
          </a:xfrm>
          <a:prstGeom prst="rect">
            <a:avLst/>
          </a:prstGeom>
          <a:solidFill>
            <a:srgbClr val="FFFFFF"/>
          </a:solidFill>
          <a:ln/>
        </p:spPr>
      </p:sp>
      <p:sp>
        <p:nvSpPr>
          <p:cNvPr id="63" name="Shape 61"/>
          <p:cNvSpPr/>
          <p:nvPr/>
        </p:nvSpPr>
        <p:spPr>
          <a:xfrm>
            <a:off x="274320" y="3566160"/>
            <a:ext cx="73152" cy="658368"/>
          </a:xfrm>
          <a:prstGeom prst="rect">
            <a:avLst/>
          </a:prstGeom>
          <a:solidFill>
            <a:srgbClr val="1F80E0"/>
          </a:solidFill>
          <a:ln/>
        </p:spPr>
      </p:sp>
      <p:sp>
        <p:nvSpPr>
          <p:cNvPr id="64" name="Text 62"/>
          <p:cNvSpPr/>
          <p:nvPr/>
        </p:nvSpPr>
        <p:spPr>
          <a:xfrm>
            <a:off x="384048" y="3730752"/>
            <a:ext cx="1371600" cy="32004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JioHotstar</a:t>
            </a:r>
            <a:endParaRPr lang="en-US" sz="850" dirty="0"/>
          </a:p>
        </p:txBody>
      </p:sp>
      <p:sp>
        <p:nvSpPr>
          <p:cNvPr id="65" name="Shape 63"/>
          <p:cNvSpPr/>
          <p:nvPr/>
        </p:nvSpPr>
        <p:spPr>
          <a:xfrm>
            <a:off x="1920240" y="3639312"/>
            <a:ext cx="1005840" cy="502920"/>
          </a:xfrm>
          <a:prstGeom prst="rect">
            <a:avLst/>
          </a:prstGeom>
          <a:solidFill>
            <a:srgbClr val="EAB308"/>
          </a:solidFill>
          <a:ln/>
        </p:spPr>
      </p:sp>
      <p:sp>
        <p:nvSpPr>
          <p:cNvPr id="66" name="Text 64"/>
          <p:cNvSpPr/>
          <p:nvPr/>
        </p:nvSpPr>
        <p:spPr>
          <a:xfrm>
            <a:off x="1920240" y="3639312"/>
            <a:ext cx="1005840" cy="50292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38</a:t>
            </a:r>
            <a:endParaRPr lang="en-US" sz="2000" dirty="0"/>
          </a:p>
        </p:txBody>
      </p:sp>
      <p:sp>
        <p:nvSpPr>
          <p:cNvPr id="67" name="Text 65"/>
          <p:cNvSpPr/>
          <p:nvPr/>
        </p:nvSpPr>
        <p:spPr>
          <a:xfrm>
            <a:off x="3054096" y="3730752"/>
            <a:ext cx="932688" cy="320040"/>
          </a:xfrm>
          <a:prstGeom prst="rect">
            <a:avLst/>
          </a:prstGeom>
          <a:noFill/>
          <a:ln/>
        </p:spPr>
        <p:txBody>
          <a:bodyPr wrap="square"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 Post-merger friction</a:t>
            </a:r>
            <a:endParaRPr lang="en-US" sz="800" dirty="0"/>
          </a:p>
        </p:txBody>
      </p:sp>
      <p:sp>
        <p:nvSpPr>
          <p:cNvPr id="68" name="Text 66"/>
          <p:cNvSpPr/>
          <p:nvPr/>
        </p:nvSpPr>
        <p:spPr>
          <a:xfrm>
            <a:off x="4078224" y="3730752"/>
            <a:ext cx="932688" cy="320040"/>
          </a:xfrm>
          <a:prstGeom prst="rect">
            <a:avLst/>
          </a:prstGeom>
          <a:noFill/>
          <a:ln/>
        </p:spPr>
        <p:txBody>
          <a:bodyPr wrap="square" rtlCol="0" anchor="ctr"/>
          <a:lstStyle/>
          <a:p>
            <a:pPr algn="ctr" indent="0" marL="0">
              <a:buNone/>
            </a:pPr>
            <a:r>
              <a:rPr lang="en-US" sz="950" b="1" dirty="0">
                <a:solidFill>
                  <a:srgbClr val="22C55E"/>
                </a:solidFill>
                <a:latin typeface="Calibri" pitchFamily="34" charset="0"/>
                <a:ea typeface="Calibri" pitchFamily="34" charset="-122"/>
                <a:cs typeface="Calibri" pitchFamily="34" charset="-120"/>
              </a:rPr>
              <a:t>42%</a:t>
            </a:r>
            <a:endParaRPr lang="en-US" sz="950" dirty="0"/>
          </a:p>
        </p:txBody>
      </p:sp>
      <p:sp>
        <p:nvSpPr>
          <p:cNvPr id="69" name="Text 67"/>
          <p:cNvSpPr/>
          <p:nvPr/>
        </p:nvSpPr>
        <p:spPr>
          <a:xfrm>
            <a:off x="5111496" y="3730752"/>
            <a:ext cx="932688" cy="320040"/>
          </a:xfrm>
          <a:prstGeom prst="rect">
            <a:avLst/>
          </a:prstGeom>
          <a:noFill/>
          <a:ln/>
        </p:spPr>
        <p:txBody>
          <a:bodyPr wrap="square" rtlCol="0" anchor="ctr"/>
          <a:lstStyle/>
          <a:p>
            <a:pPr algn="ctr" indent="0" marL="0">
              <a:buNone/>
            </a:pPr>
            <a:r>
              <a:rPr lang="en-US" sz="950" b="1" dirty="0">
                <a:solidFill>
                  <a:srgbClr val="94A3B8"/>
                </a:solidFill>
                <a:latin typeface="Calibri" pitchFamily="34" charset="0"/>
                <a:ea typeface="Calibri" pitchFamily="34" charset="-122"/>
                <a:cs typeface="Calibri" pitchFamily="34" charset="-120"/>
              </a:rPr>
              <a:t>28%</a:t>
            </a:r>
            <a:endParaRPr lang="en-US" sz="950" dirty="0"/>
          </a:p>
        </p:txBody>
      </p:sp>
      <p:sp>
        <p:nvSpPr>
          <p:cNvPr id="70" name="Text 68"/>
          <p:cNvSpPr/>
          <p:nvPr/>
        </p:nvSpPr>
        <p:spPr>
          <a:xfrm>
            <a:off x="6144768" y="3730752"/>
            <a:ext cx="932688" cy="320040"/>
          </a:xfrm>
          <a:prstGeom prst="rect">
            <a:avLst/>
          </a:prstGeom>
          <a:noFill/>
          <a:ln/>
        </p:spPr>
        <p:txBody>
          <a:bodyPr wrap="square" rtlCol="0" anchor="ctr"/>
          <a:lstStyle/>
          <a:p>
            <a:pPr algn="ctr" indent="0" marL="0">
              <a:buNone/>
            </a:pPr>
            <a:r>
              <a:rPr lang="en-US" sz="950" b="1" dirty="0">
                <a:solidFill>
                  <a:srgbClr val="EF4444"/>
                </a:solidFill>
                <a:latin typeface="Calibri" pitchFamily="34" charset="0"/>
                <a:ea typeface="Calibri" pitchFamily="34" charset="-122"/>
                <a:cs typeface="Calibri" pitchFamily="34" charset="-120"/>
              </a:rPr>
              <a:t>30%</a:t>
            </a:r>
            <a:endParaRPr lang="en-US" sz="950" dirty="0"/>
          </a:p>
        </p:txBody>
      </p:sp>
      <p:sp>
        <p:nvSpPr>
          <p:cNvPr id="71" name="Shape 69"/>
          <p:cNvSpPr/>
          <p:nvPr/>
        </p:nvSpPr>
        <p:spPr>
          <a:xfrm>
            <a:off x="7187184" y="3675888"/>
            <a:ext cx="713232" cy="438912"/>
          </a:xfrm>
          <a:prstGeom prst="rect">
            <a:avLst/>
          </a:prstGeom>
          <a:solidFill>
            <a:srgbClr val="EF4444"/>
          </a:solidFill>
          <a:ln/>
        </p:spPr>
      </p:sp>
      <p:sp>
        <p:nvSpPr>
          <p:cNvPr id="72" name="Text 70"/>
          <p:cNvSpPr/>
          <p:nvPr/>
        </p:nvSpPr>
        <p:spPr>
          <a:xfrm>
            <a:off x="7187184" y="3675888"/>
            <a:ext cx="713232" cy="43891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12</a:t>
            </a:r>
            <a:endParaRPr lang="en-US" sz="1600" dirty="0"/>
          </a:p>
        </p:txBody>
      </p:sp>
      <p:sp>
        <p:nvSpPr>
          <p:cNvPr id="73" name="Text 71"/>
          <p:cNvSpPr/>
          <p:nvPr/>
        </p:nvSpPr>
        <p:spPr>
          <a:xfrm>
            <a:off x="8010144" y="3730752"/>
            <a:ext cx="749808" cy="320040"/>
          </a:xfrm>
          <a:prstGeom prst="rect">
            <a:avLst/>
          </a:prstGeom>
          <a:noFill/>
          <a:ln/>
        </p:spPr>
        <p:txBody>
          <a:bodyPr wrap="square"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 Weakening</a:t>
            </a:r>
            <a:endParaRPr lang="en-US" sz="800" dirty="0"/>
          </a:p>
        </p:txBody>
      </p:sp>
      <p:sp>
        <p:nvSpPr>
          <p:cNvPr id="74" name="Text 72"/>
          <p:cNvSpPr/>
          <p:nvPr/>
        </p:nvSpPr>
        <p:spPr>
          <a:xfrm>
            <a:off x="8860536" y="3657600"/>
            <a:ext cx="1481328" cy="475488"/>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RedSeer India OTT Study; post-merger user feedback analysis; m9.news Jan 2025</a:t>
            </a:r>
            <a:endParaRPr lang="en-US" sz="650" dirty="0"/>
          </a:p>
        </p:txBody>
      </p:sp>
      <p:sp>
        <p:nvSpPr>
          <p:cNvPr id="75" name="Text 73"/>
          <p:cNvSpPr/>
          <p:nvPr/>
        </p:nvSpPr>
        <p:spPr>
          <a:xfrm>
            <a:off x="10442448" y="3639312"/>
            <a:ext cx="1618488" cy="512064"/>
          </a:xfrm>
          <a:prstGeom prst="rect">
            <a:avLst/>
          </a:prstGeom>
          <a:noFill/>
          <a:ln/>
        </p:spPr>
        <p:txBody>
          <a:bodyPr wrap="square" rtlCol="0" anchor="ctr"/>
          <a:lstStyle/>
          <a:p>
            <a:pPr indent="0" marL="0">
              <a:buNone/>
            </a:pPr>
            <a:r>
              <a:rPr lang="en-US" sz="700" dirty="0">
                <a:solidFill>
                  <a:srgbClr val="334155"/>
                </a:solidFill>
                <a:latin typeface="Calibri" pitchFamily="34" charset="0"/>
                <a:ea typeface="Calibri" pitchFamily="34" charset="-122"/>
                <a:cs typeface="Calibri" pitchFamily="34" charset="-120"/>
              </a:rPr>
              <a:t>Cricket keeps NPS afloat. Heavy detractor volume from buffering complaints and ad experience on paid plans. Post-merger UI confusion has hurt brand loyalty.</a:t>
            </a:r>
            <a:endParaRPr lang="en-US" sz="700" dirty="0"/>
          </a:p>
        </p:txBody>
      </p:sp>
      <p:sp>
        <p:nvSpPr>
          <p:cNvPr id="76" name="Shape 74"/>
          <p:cNvSpPr/>
          <p:nvPr/>
        </p:nvSpPr>
        <p:spPr>
          <a:xfrm>
            <a:off x="274320" y="4279392"/>
            <a:ext cx="11887200" cy="658368"/>
          </a:xfrm>
          <a:prstGeom prst="rect">
            <a:avLst/>
          </a:prstGeom>
          <a:solidFill>
            <a:srgbClr val="F8FAFC"/>
          </a:solidFill>
          <a:ln/>
        </p:spPr>
      </p:sp>
      <p:sp>
        <p:nvSpPr>
          <p:cNvPr id="77" name="Shape 75"/>
          <p:cNvSpPr/>
          <p:nvPr/>
        </p:nvSpPr>
        <p:spPr>
          <a:xfrm>
            <a:off x="274320" y="4279392"/>
            <a:ext cx="73152" cy="658368"/>
          </a:xfrm>
          <a:prstGeom prst="rect">
            <a:avLst/>
          </a:prstGeom>
          <a:solidFill>
            <a:srgbClr val="DC2626"/>
          </a:solidFill>
          <a:ln/>
        </p:spPr>
      </p:sp>
      <p:sp>
        <p:nvSpPr>
          <p:cNvPr id="78" name="Text 76"/>
          <p:cNvSpPr/>
          <p:nvPr/>
        </p:nvSpPr>
        <p:spPr>
          <a:xfrm>
            <a:off x="384048" y="4443984"/>
            <a:ext cx="1371600" cy="32004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SonyLIV</a:t>
            </a:r>
            <a:endParaRPr lang="en-US" sz="850" dirty="0"/>
          </a:p>
        </p:txBody>
      </p:sp>
      <p:sp>
        <p:nvSpPr>
          <p:cNvPr id="79" name="Shape 77"/>
          <p:cNvSpPr/>
          <p:nvPr/>
        </p:nvSpPr>
        <p:spPr>
          <a:xfrm>
            <a:off x="1920240" y="4352544"/>
            <a:ext cx="1005840" cy="502920"/>
          </a:xfrm>
          <a:prstGeom prst="rect">
            <a:avLst/>
          </a:prstGeom>
          <a:solidFill>
            <a:srgbClr val="EAB308"/>
          </a:solidFill>
          <a:ln/>
        </p:spPr>
      </p:sp>
      <p:sp>
        <p:nvSpPr>
          <p:cNvPr id="80" name="Text 78"/>
          <p:cNvSpPr/>
          <p:nvPr/>
        </p:nvSpPr>
        <p:spPr>
          <a:xfrm>
            <a:off x="1920240" y="4352544"/>
            <a:ext cx="1005840" cy="50292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28</a:t>
            </a:r>
            <a:endParaRPr lang="en-US" sz="2000" dirty="0"/>
          </a:p>
        </p:txBody>
      </p:sp>
      <p:sp>
        <p:nvSpPr>
          <p:cNvPr id="81" name="Text 79"/>
          <p:cNvSpPr/>
          <p:nvPr/>
        </p:nvSpPr>
        <p:spPr>
          <a:xfrm>
            <a:off x="3054096" y="4443984"/>
            <a:ext cx="932688" cy="320040"/>
          </a:xfrm>
          <a:prstGeom prst="rect">
            <a:avLst/>
          </a:prstGeom>
          <a:noFill/>
          <a:ln/>
        </p:spPr>
        <p:txBody>
          <a:bodyPr wrap="square" rtlCol="0" anchor="ctr"/>
          <a:lstStyle/>
          <a:p>
            <a:pPr algn="ctr" indent="0" marL="0">
              <a:buNone/>
            </a:pPr>
            <a:r>
              <a:rPr lang="en-US" sz="800" b="1" dirty="0">
                <a:solidFill>
                  <a:srgbClr val="EAB308"/>
                </a:solidFill>
                <a:latin typeface="Calibri" pitchFamily="34" charset="0"/>
                <a:ea typeface="Calibri" pitchFamily="34" charset="-122"/>
                <a:cs typeface="Calibri" pitchFamily="34" charset="-120"/>
              </a:rPr>
              <a:t>↔ Stable</a:t>
            </a:r>
            <a:endParaRPr lang="en-US" sz="800" dirty="0"/>
          </a:p>
        </p:txBody>
      </p:sp>
      <p:sp>
        <p:nvSpPr>
          <p:cNvPr id="82" name="Text 80"/>
          <p:cNvSpPr/>
          <p:nvPr/>
        </p:nvSpPr>
        <p:spPr>
          <a:xfrm>
            <a:off x="4078224" y="4443984"/>
            <a:ext cx="932688" cy="320040"/>
          </a:xfrm>
          <a:prstGeom prst="rect">
            <a:avLst/>
          </a:prstGeom>
          <a:noFill/>
          <a:ln/>
        </p:spPr>
        <p:txBody>
          <a:bodyPr wrap="square" rtlCol="0" anchor="ctr"/>
          <a:lstStyle/>
          <a:p>
            <a:pPr algn="ctr" indent="0" marL="0">
              <a:buNone/>
            </a:pPr>
            <a:r>
              <a:rPr lang="en-US" sz="950" b="1" dirty="0">
                <a:solidFill>
                  <a:srgbClr val="22C55E"/>
                </a:solidFill>
                <a:latin typeface="Calibri" pitchFamily="34" charset="0"/>
                <a:ea typeface="Calibri" pitchFamily="34" charset="-122"/>
                <a:cs typeface="Calibri" pitchFamily="34" charset="-120"/>
              </a:rPr>
              <a:t>41%</a:t>
            </a:r>
            <a:endParaRPr lang="en-US" sz="950" dirty="0"/>
          </a:p>
        </p:txBody>
      </p:sp>
      <p:sp>
        <p:nvSpPr>
          <p:cNvPr id="83" name="Text 81"/>
          <p:cNvSpPr/>
          <p:nvPr/>
        </p:nvSpPr>
        <p:spPr>
          <a:xfrm>
            <a:off x="5111496" y="4443984"/>
            <a:ext cx="932688" cy="320040"/>
          </a:xfrm>
          <a:prstGeom prst="rect">
            <a:avLst/>
          </a:prstGeom>
          <a:noFill/>
          <a:ln/>
        </p:spPr>
        <p:txBody>
          <a:bodyPr wrap="square" rtlCol="0" anchor="ctr"/>
          <a:lstStyle/>
          <a:p>
            <a:pPr algn="ctr" indent="0" marL="0">
              <a:buNone/>
            </a:pPr>
            <a:r>
              <a:rPr lang="en-US" sz="950" b="1" dirty="0">
                <a:solidFill>
                  <a:srgbClr val="94A3B8"/>
                </a:solidFill>
                <a:latin typeface="Calibri" pitchFamily="34" charset="0"/>
                <a:ea typeface="Calibri" pitchFamily="34" charset="-122"/>
                <a:cs typeface="Calibri" pitchFamily="34" charset="-120"/>
              </a:rPr>
              <a:t>33%</a:t>
            </a:r>
            <a:endParaRPr lang="en-US" sz="950" dirty="0"/>
          </a:p>
        </p:txBody>
      </p:sp>
      <p:sp>
        <p:nvSpPr>
          <p:cNvPr id="84" name="Text 82"/>
          <p:cNvSpPr/>
          <p:nvPr/>
        </p:nvSpPr>
        <p:spPr>
          <a:xfrm>
            <a:off x="6144768" y="4443984"/>
            <a:ext cx="932688" cy="320040"/>
          </a:xfrm>
          <a:prstGeom prst="rect">
            <a:avLst/>
          </a:prstGeom>
          <a:noFill/>
          <a:ln/>
        </p:spPr>
        <p:txBody>
          <a:bodyPr wrap="square" rtlCol="0" anchor="ctr"/>
          <a:lstStyle/>
          <a:p>
            <a:pPr algn="ctr" indent="0" marL="0">
              <a:buNone/>
            </a:pPr>
            <a:r>
              <a:rPr lang="en-US" sz="950" b="1" dirty="0">
                <a:solidFill>
                  <a:srgbClr val="EF4444"/>
                </a:solidFill>
                <a:latin typeface="Calibri" pitchFamily="34" charset="0"/>
                <a:ea typeface="Calibri" pitchFamily="34" charset="-122"/>
                <a:cs typeface="Calibri" pitchFamily="34" charset="-120"/>
              </a:rPr>
              <a:t>31%</a:t>
            </a:r>
            <a:endParaRPr lang="en-US" sz="950" dirty="0"/>
          </a:p>
        </p:txBody>
      </p:sp>
      <p:sp>
        <p:nvSpPr>
          <p:cNvPr id="85" name="Shape 83"/>
          <p:cNvSpPr/>
          <p:nvPr/>
        </p:nvSpPr>
        <p:spPr>
          <a:xfrm>
            <a:off x="7187184" y="4389120"/>
            <a:ext cx="713232" cy="438912"/>
          </a:xfrm>
          <a:prstGeom prst="rect">
            <a:avLst/>
          </a:prstGeom>
          <a:solidFill>
            <a:srgbClr val="EAB308"/>
          </a:solidFill>
          <a:ln/>
        </p:spPr>
      </p:sp>
      <p:sp>
        <p:nvSpPr>
          <p:cNvPr id="86" name="Text 84"/>
          <p:cNvSpPr/>
          <p:nvPr/>
        </p:nvSpPr>
        <p:spPr>
          <a:xfrm>
            <a:off x="7187184" y="4389120"/>
            <a:ext cx="713232" cy="43891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15</a:t>
            </a:r>
            <a:endParaRPr lang="en-US" sz="1600" dirty="0"/>
          </a:p>
        </p:txBody>
      </p:sp>
      <p:sp>
        <p:nvSpPr>
          <p:cNvPr id="87" name="Text 85"/>
          <p:cNvSpPr/>
          <p:nvPr/>
        </p:nvSpPr>
        <p:spPr>
          <a:xfrm>
            <a:off x="8010144" y="4443984"/>
            <a:ext cx="749808" cy="320040"/>
          </a:xfrm>
          <a:prstGeom prst="rect">
            <a:avLst/>
          </a:prstGeom>
          <a:noFill/>
          <a:ln/>
        </p:spPr>
        <p:txBody>
          <a:bodyPr wrap="square" rtlCol="0" anchor="ctr"/>
          <a:lstStyle/>
          <a:p>
            <a:pPr algn="ctr" indent="0" marL="0">
              <a:buNone/>
            </a:pPr>
            <a:r>
              <a:rPr lang="en-US" sz="800" b="1" dirty="0">
                <a:solidFill>
                  <a:srgbClr val="EAB308"/>
                </a:solidFill>
                <a:latin typeface="Calibri" pitchFamily="34" charset="0"/>
                <a:ea typeface="Calibri" pitchFamily="34" charset="-122"/>
                <a:cs typeface="Calibri" pitchFamily="34" charset="-120"/>
              </a:rPr>
              <a:t>↔ Stable</a:t>
            </a:r>
            <a:endParaRPr lang="en-US" sz="800" dirty="0"/>
          </a:p>
        </p:txBody>
      </p:sp>
      <p:sp>
        <p:nvSpPr>
          <p:cNvPr id="88" name="Text 86"/>
          <p:cNvSpPr/>
          <p:nvPr/>
        </p:nvSpPr>
        <p:spPr>
          <a:xfrm>
            <a:off x="8860536" y="4370832"/>
            <a:ext cx="1481328" cy="475488"/>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RedSeer India OTT Study (2021); social pattern analysis 2024</a:t>
            </a:r>
            <a:endParaRPr lang="en-US" sz="650" dirty="0"/>
          </a:p>
        </p:txBody>
      </p:sp>
      <p:sp>
        <p:nvSpPr>
          <p:cNvPr id="89" name="Text 87"/>
          <p:cNvSpPr/>
          <p:nvPr/>
        </p:nvSpPr>
        <p:spPr>
          <a:xfrm>
            <a:off x="10442448" y="4352544"/>
            <a:ext cx="1618488" cy="512064"/>
          </a:xfrm>
          <a:prstGeom prst="rect">
            <a:avLst/>
          </a:prstGeom>
          <a:noFill/>
          <a:ln/>
        </p:spPr>
        <p:txBody>
          <a:bodyPr wrap="square" rtlCol="0" anchor="ctr"/>
          <a:lstStyle/>
          <a:p>
            <a:pPr indent="0" marL="0">
              <a:buNone/>
            </a:pPr>
            <a:r>
              <a:rPr lang="en-US" sz="700" dirty="0">
                <a:solidFill>
                  <a:srgbClr val="334155"/>
                </a:solidFill>
                <a:latin typeface="Calibri" pitchFamily="34" charset="0"/>
                <a:ea typeface="Calibri" pitchFamily="34" charset="-122"/>
                <a:cs typeface="Calibri" pitchFamily="34" charset="-120"/>
              </a:rPr>
              <a:t>NPS driven by event-based loyalty (WWE, cricket events). Low passive-to-promoter conversion. Strong originals (Scam series) boost NSS during launch windows.</a:t>
            </a:r>
            <a:endParaRPr lang="en-US" sz="700" dirty="0"/>
          </a:p>
        </p:txBody>
      </p:sp>
      <p:sp>
        <p:nvSpPr>
          <p:cNvPr id="90" name="Shape 88"/>
          <p:cNvSpPr/>
          <p:nvPr/>
        </p:nvSpPr>
        <p:spPr>
          <a:xfrm>
            <a:off x="274320" y="4992624"/>
            <a:ext cx="11887200" cy="658368"/>
          </a:xfrm>
          <a:prstGeom prst="rect">
            <a:avLst/>
          </a:prstGeom>
          <a:solidFill>
            <a:srgbClr val="FFFFFF"/>
          </a:solidFill>
          <a:ln/>
        </p:spPr>
      </p:sp>
      <p:sp>
        <p:nvSpPr>
          <p:cNvPr id="91" name="Shape 89"/>
          <p:cNvSpPr/>
          <p:nvPr/>
        </p:nvSpPr>
        <p:spPr>
          <a:xfrm>
            <a:off x="274320" y="4992624"/>
            <a:ext cx="73152" cy="658368"/>
          </a:xfrm>
          <a:prstGeom prst="rect">
            <a:avLst/>
          </a:prstGeom>
          <a:solidFill>
            <a:srgbClr val="7C3AED"/>
          </a:solidFill>
          <a:ln/>
        </p:spPr>
      </p:sp>
      <p:sp>
        <p:nvSpPr>
          <p:cNvPr id="92" name="Text 90"/>
          <p:cNvSpPr/>
          <p:nvPr/>
        </p:nvSpPr>
        <p:spPr>
          <a:xfrm>
            <a:off x="384048" y="5157216"/>
            <a:ext cx="1371600" cy="32004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ZEE5</a:t>
            </a:r>
            <a:endParaRPr lang="en-US" sz="850" dirty="0"/>
          </a:p>
        </p:txBody>
      </p:sp>
      <p:sp>
        <p:nvSpPr>
          <p:cNvPr id="93" name="Shape 91"/>
          <p:cNvSpPr/>
          <p:nvPr/>
        </p:nvSpPr>
        <p:spPr>
          <a:xfrm>
            <a:off x="1920240" y="5065776"/>
            <a:ext cx="1005840" cy="502920"/>
          </a:xfrm>
          <a:prstGeom prst="rect">
            <a:avLst/>
          </a:prstGeom>
          <a:solidFill>
            <a:srgbClr val="EF4444"/>
          </a:solidFill>
          <a:ln/>
        </p:spPr>
      </p:sp>
      <p:sp>
        <p:nvSpPr>
          <p:cNvPr id="94" name="Text 92"/>
          <p:cNvSpPr/>
          <p:nvPr/>
        </p:nvSpPr>
        <p:spPr>
          <a:xfrm>
            <a:off x="1920240" y="5065776"/>
            <a:ext cx="1005840" cy="50292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22</a:t>
            </a:r>
            <a:endParaRPr lang="en-US" sz="2000" dirty="0"/>
          </a:p>
        </p:txBody>
      </p:sp>
      <p:sp>
        <p:nvSpPr>
          <p:cNvPr id="95" name="Text 93"/>
          <p:cNvSpPr/>
          <p:nvPr/>
        </p:nvSpPr>
        <p:spPr>
          <a:xfrm>
            <a:off x="3054096" y="5157216"/>
            <a:ext cx="932688" cy="320040"/>
          </a:xfrm>
          <a:prstGeom prst="rect">
            <a:avLst/>
          </a:prstGeom>
          <a:noFill/>
          <a:ln/>
        </p:spPr>
        <p:txBody>
          <a:bodyPr wrap="square" rtlCol="0" anchor="ctr"/>
          <a:lstStyle/>
          <a:p>
            <a:pPr algn="ctr" indent="0" marL="0">
              <a:buNone/>
            </a:pPr>
            <a:r>
              <a:rPr lang="en-US" sz="800" b="1" dirty="0">
                <a:solidFill>
                  <a:srgbClr val="EAB308"/>
                </a:solidFill>
                <a:latin typeface="Calibri" pitchFamily="34" charset="0"/>
                <a:ea typeface="Calibri" pitchFamily="34" charset="-122"/>
                <a:cs typeface="Calibri" pitchFamily="34" charset="-120"/>
              </a:rPr>
              <a:t>↔ Flat</a:t>
            </a:r>
            <a:endParaRPr lang="en-US" sz="800" dirty="0"/>
          </a:p>
        </p:txBody>
      </p:sp>
      <p:sp>
        <p:nvSpPr>
          <p:cNvPr id="96" name="Text 94"/>
          <p:cNvSpPr/>
          <p:nvPr/>
        </p:nvSpPr>
        <p:spPr>
          <a:xfrm>
            <a:off x="4078224" y="5157216"/>
            <a:ext cx="932688" cy="320040"/>
          </a:xfrm>
          <a:prstGeom prst="rect">
            <a:avLst/>
          </a:prstGeom>
          <a:noFill/>
          <a:ln/>
        </p:spPr>
        <p:txBody>
          <a:bodyPr wrap="square" rtlCol="0" anchor="ctr"/>
          <a:lstStyle/>
          <a:p>
            <a:pPr algn="ctr" indent="0" marL="0">
              <a:buNone/>
            </a:pPr>
            <a:r>
              <a:rPr lang="en-US" sz="950" b="1" dirty="0">
                <a:solidFill>
                  <a:srgbClr val="22C55E"/>
                </a:solidFill>
                <a:latin typeface="Calibri" pitchFamily="34" charset="0"/>
                <a:ea typeface="Calibri" pitchFamily="34" charset="-122"/>
                <a:cs typeface="Calibri" pitchFamily="34" charset="-120"/>
              </a:rPr>
              <a:t>39%</a:t>
            </a:r>
            <a:endParaRPr lang="en-US" sz="950" dirty="0"/>
          </a:p>
        </p:txBody>
      </p:sp>
      <p:sp>
        <p:nvSpPr>
          <p:cNvPr id="97" name="Text 95"/>
          <p:cNvSpPr/>
          <p:nvPr/>
        </p:nvSpPr>
        <p:spPr>
          <a:xfrm>
            <a:off x="5111496" y="5157216"/>
            <a:ext cx="932688" cy="320040"/>
          </a:xfrm>
          <a:prstGeom prst="rect">
            <a:avLst/>
          </a:prstGeom>
          <a:noFill/>
          <a:ln/>
        </p:spPr>
        <p:txBody>
          <a:bodyPr wrap="square" rtlCol="0" anchor="ctr"/>
          <a:lstStyle/>
          <a:p>
            <a:pPr algn="ctr" indent="0" marL="0">
              <a:buNone/>
            </a:pPr>
            <a:r>
              <a:rPr lang="en-US" sz="950" b="1" dirty="0">
                <a:solidFill>
                  <a:srgbClr val="94A3B8"/>
                </a:solidFill>
                <a:latin typeface="Calibri" pitchFamily="34" charset="0"/>
                <a:ea typeface="Calibri" pitchFamily="34" charset="-122"/>
                <a:cs typeface="Calibri" pitchFamily="34" charset="-120"/>
              </a:rPr>
              <a:t>35%</a:t>
            </a:r>
            <a:endParaRPr lang="en-US" sz="950" dirty="0"/>
          </a:p>
        </p:txBody>
      </p:sp>
      <p:sp>
        <p:nvSpPr>
          <p:cNvPr id="98" name="Text 96"/>
          <p:cNvSpPr/>
          <p:nvPr/>
        </p:nvSpPr>
        <p:spPr>
          <a:xfrm>
            <a:off x="6144768" y="5157216"/>
            <a:ext cx="932688" cy="320040"/>
          </a:xfrm>
          <a:prstGeom prst="rect">
            <a:avLst/>
          </a:prstGeom>
          <a:noFill/>
          <a:ln/>
        </p:spPr>
        <p:txBody>
          <a:bodyPr wrap="square" rtlCol="0" anchor="ctr"/>
          <a:lstStyle/>
          <a:p>
            <a:pPr algn="ctr" indent="0" marL="0">
              <a:buNone/>
            </a:pPr>
            <a:r>
              <a:rPr lang="en-US" sz="950" b="1" dirty="0">
                <a:solidFill>
                  <a:srgbClr val="EF4444"/>
                </a:solidFill>
                <a:latin typeface="Calibri" pitchFamily="34" charset="0"/>
                <a:ea typeface="Calibri" pitchFamily="34" charset="-122"/>
                <a:cs typeface="Calibri" pitchFamily="34" charset="-120"/>
              </a:rPr>
              <a:t>39%</a:t>
            </a:r>
            <a:endParaRPr lang="en-US" sz="950" dirty="0"/>
          </a:p>
        </p:txBody>
      </p:sp>
      <p:sp>
        <p:nvSpPr>
          <p:cNvPr id="99" name="Shape 97"/>
          <p:cNvSpPr/>
          <p:nvPr/>
        </p:nvSpPr>
        <p:spPr>
          <a:xfrm>
            <a:off x="7187184" y="5102352"/>
            <a:ext cx="713232" cy="438912"/>
          </a:xfrm>
          <a:prstGeom prst="rect">
            <a:avLst/>
          </a:prstGeom>
          <a:solidFill>
            <a:srgbClr val="EF4444"/>
          </a:solidFill>
          <a:ln/>
        </p:spPr>
      </p:sp>
      <p:sp>
        <p:nvSpPr>
          <p:cNvPr id="100" name="Text 98"/>
          <p:cNvSpPr/>
          <p:nvPr/>
        </p:nvSpPr>
        <p:spPr>
          <a:xfrm>
            <a:off x="7187184" y="5102352"/>
            <a:ext cx="713232" cy="43891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13</a:t>
            </a:r>
            <a:endParaRPr lang="en-US" sz="1600" dirty="0"/>
          </a:p>
        </p:txBody>
      </p:sp>
      <p:sp>
        <p:nvSpPr>
          <p:cNvPr id="101" name="Text 99"/>
          <p:cNvSpPr/>
          <p:nvPr/>
        </p:nvSpPr>
        <p:spPr>
          <a:xfrm>
            <a:off x="8010144" y="5157216"/>
            <a:ext cx="749808" cy="320040"/>
          </a:xfrm>
          <a:prstGeom prst="rect">
            <a:avLst/>
          </a:prstGeom>
          <a:noFill/>
          <a:ln/>
        </p:spPr>
        <p:txBody>
          <a:bodyPr wrap="square" rtlCol="0" anchor="ctr"/>
          <a:lstStyle/>
          <a:p>
            <a:pPr algn="ctr" indent="0" marL="0">
              <a:buNone/>
            </a:pPr>
            <a:r>
              <a:rPr lang="en-US" sz="800" b="1" dirty="0">
                <a:solidFill>
                  <a:srgbClr val="EAB308"/>
                </a:solidFill>
                <a:latin typeface="Calibri" pitchFamily="34" charset="0"/>
                <a:ea typeface="Calibri" pitchFamily="34" charset="-122"/>
                <a:cs typeface="Calibri" pitchFamily="34" charset="-120"/>
              </a:rPr>
              <a:t>↔ Flat</a:t>
            </a:r>
            <a:endParaRPr lang="en-US" sz="800" dirty="0"/>
          </a:p>
        </p:txBody>
      </p:sp>
      <p:sp>
        <p:nvSpPr>
          <p:cNvPr id="102" name="Text 100"/>
          <p:cNvSpPr/>
          <p:nvPr/>
        </p:nvSpPr>
        <p:spPr>
          <a:xfrm>
            <a:off x="8860536" y="5084064"/>
            <a:ext cx="1481328" cy="475488"/>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RedSeer India OTT Study (2021); social listening pattern estimate 2024</a:t>
            </a:r>
            <a:endParaRPr lang="en-US" sz="650" dirty="0"/>
          </a:p>
        </p:txBody>
      </p:sp>
      <p:sp>
        <p:nvSpPr>
          <p:cNvPr id="103" name="Text 101"/>
          <p:cNvSpPr/>
          <p:nvPr/>
        </p:nvSpPr>
        <p:spPr>
          <a:xfrm>
            <a:off x="10442448" y="5065776"/>
            <a:ext cx="1618488" cy="512064"/>
          </a:xfrm>
          <a:prstGeom prst="rect">
            <a:avLst/>
          </a:prstGeom>
          <a:noFill/>
          <a:ln/>
        </p:spPr>
        <p:txBody>
          <a:bodyPr wrap="square" rtlCol="0" anchor="ctr"/>
          <a:lstStyle/>
          <a:p>
            <a:pPr indent="0" marL="0">
              <a:buNone/>
            </a:pPr>
            <a:r>
              <a:rPr lang="en-US" sz="700" dirty="0">
                <a:solidFill>
                  <a:srgbClr val="334155"/>
                </a:solidFill>
                <a:latin typeface="Calibri" pitchFamily="34" charset="0"/>
                <a:ea typeface="Calibri" pitchFamily="34" charset="-122"/>
                <a:cs typeface="Calibri" pitchFamily="34" charset="-120"/>
              </a:rPr>
              <a:t>Regional content drives loyalty in language-specific segments. Hindi-belt NPS is higher. Platform lacks breakout originals to drive promoter conversion nationally.</a:t>
            </a:r>
            <a:endParaRPr lang="en-US" sz="700" dirty="0"/>
          </a:p>
        </p:txBody>
      </p:sp>
      <p:sp>
        <p:nvSpPr>
          <p:cNvPr id="104" name="Shape 102"/>
          <p:cNvSpPr/>
          <p:nvPr/>
        </p:nvSpPr>
        <p:spPr>
          <a:xfrm>
            <a:off x="274320" y="5705856"/>
            <a:ext cx="11887200" cy="658368"/>
          </a:xfrm>
          <a:prstGeom prst="rect">
            <a:avLst/>
          </a:prstGeom>
          <a:solidFill>
            <a:srgbClr val="F8FAFC"/>
          </a:solidFill>
          <a:ln/>
        </p:spPr>
      </p:sp>
      <p:sp>
        <p:nvSpPr>
          <p:cNvPr id="105" name="Shape 103"/>
          <p:cNvSpPr/>
          <p:nvPr/>
        </p:nvSpPr>
        <p:spPr>
          <a:xfrm>
            <a:off x="274320" y="5705856"/>
            <a:ext cx="73152" cy="658368"/>
          </a:xfrm>
          <a:prstGeom prst="rect">
            <a:avLst/>
          </a:prstGeom>
          <a:solidFill>
            <a:srgbClr val="D4A800"/>
          </a:solidFill>
          <a:ln/>
        </p:spPr>
      </p:sp>
      <p:sp>
        <p:nvSpPr>
          <p:cNvPr id="106" name="Text 104"/>
          <p:cNvSpPr/>
          <p:nvPr/>
        </p:nvSpPr>
        <p:spPr>
          <a:xfrm>
            <a:off x="384048" y="5870448"/>
            <a:ext cx="1371600" cy="32004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DAZN (Global/India proxy)</a:t>
            </a:r>
            <a:endParaRPr lang="en-US" sz="850" dirty="0"/>
          </a:p>
        </p:txBody>
      </p:sp>
      <p:sp>
        <p:nvSpPr>
          <p:cNvPr id="107" name="Shape 105"/>
          <p:cNvSpPr/>
          <p:nvPr/>
        </p:nvSpPr>
        <p:spPr>
          <a:xfrm>
            <a:off x="1920240" y="5779008"/>
            <a:ext cx="1005840" cy="502920"/>
          </a:xfrm>
          <a:prstGeom prst="rect">
            <a:avLst/>
          </a:prstGeom>
          <a:solidFill>
            <a:srgbClr val="EF4444"/>
          </a:solidFill>
          <a:ln/>
        </p:spPr>
      </p:sp>
      <p:sp>
        <p:nvSpPr>
          <p:cNvPr id="108" name="Text 106"/>
          <p:cNvSpPr/>
          <p:nvPr/>
        </p:nvSpPr>
        <p:spPr>
          <a:xfrm>
            <a:off x="1920240" y="5779008"/>
            <a:ext cx="1005840" cy="502920"/>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10</a:t>
            </a:r>
            <a:endParaRPr lang="en-US" sz="2000" dirty="0"/>
          </a:p>
        </p:txBody>
      </p:sp>
      <p:sp>
        <p:nvSpPr>
          <p:cNvPr id="109" name="Text 107"/>
          <p:cNvSpPr/>
          <p:nvPr/>
        </p:nvSpPr>
        <p:spPr>
          <a:xfrm>
            <a:off x="3054096" y="5870448"/>
            <a:ext cx="932688" cy="320040"/>
          </a:xfrm>
          <a:prstGeom prst="rect">
            <a:avLst/>
          </a:prstGeom>
          <a:noFill/>
          <a:ln/>
        </p:spPr>
        <p:txBody>
          <a:bodyPr wrap="square" rtlCol="0" anchor="ctr"/>
          <a:lstStyle/>
          <a:p>
            <a:pPr algn="ctr" indent="0" marL="0">
              <a:buNone/>
            </a:pPr>
            <a:r>
              <a:rPr lang="en-US" sz="800" b="1" dirty="0">
                <a:solidFill>
                  <a:srgbClr val="22C55E"/>
                </a:solidFill>
                <a:latin typeface="Calibri" pitchFamily="34" charset="0"/>
                <a:ea typeface="Calibri" pitchFamily="34" charset="-122"/>
                <a:cs typeface="Calibri" pitchFamily="34" charset="-120"/>
              </a:rPr>
              <a:t>↑ Recovering post-2023 controversy</a:t>
            </a:r>
            <a:endParaRPr lang="en-US" sz="800" dirty="0"/>
          </a:p>
        </p:txBody>
      </p:sp>
      <p:sp>
        <p:nvSpPr>
          <p:cNvPr id="110" name="Text 108"/>
          <p:cNvSpPr/>
          <p:nvPr/>
        </p:nvSpPr>
        <p:spPr>
          <a:xfrm>
            <a:off x="4078224" y="5870448"/>
            <a:ext cx="932688" cy="320040"/>
          </a:xfrm>
          <a:prstGeom prst="rect">
            <a:avLst/>
          </a:prstGeom>
          <a:noFill/>
          <a:ln/>
        </p:spPr>
        <p:txBody>
          <a:bodyPr wrap="square" rtlCol="0" anchor="ctr"/>
          <a:lstStyle/>
          <a:p>
            <a:pPr algn="ctr" indent="0" marL="0">
              <a:buNone/>
            </a:pPr>
            <a:r>
              <a:rPr lang="en-US" sz="950" b="1" dirty="0">
                <a:solidFill>
                  <a:srgbClr val="22C55E"/>
                </a:solidFill>
                <a:latin typeface="Calibri" pitchFamily="34" charset="0"/>
                <a:ea typeface="Calibri" pitchFamily="34" charset="-122"/>
                <a:cs typeface="Calibri" pitchFamily="34" charset="-120"/>
              </a:rPr>
              <a:t>38%</a:t>
            </a:r>
            <a:endParaRPr lang="en-US" sz="950" dirty="0"/>
          </a:p>
        </p:txBody>
      </p:sp>
      <p:sp>
        <p:nvSpPr>
          <p:cNvPr id="111" name="Text 109"/>
          <p:cNvSpPr/>
          <p:nvPr/>
        </p:nvSpPr>
        <p:spPr>
          <a:xfrm>
            <a:off x="5111496" y="5870448"/>
            <a:ext cx="932688" cy="320040"/>
          </a:xfrm>
          <a:prstGeom prst="rect">
            <a:avLst/>
          </a:prstGeom>
          <a:noFill/>
          <a:ln/>
        </p:spPr>
        <p:txBody>
          <a:bodyPr wrap="square" rtlCol="0" anchor="ctr"/>
          <a:lstStyle/>
          <a:p>
            <a:pPr algn="ctr" indent="0" marL="0">
              <a:buNone/>
            </a:pPr>
            <a:r>
              <a:rPr lang="en-US" sz="950" b="1" dirty="0">
                <a:solidFill>
                  <a:srgbClr val="94A3B8"/>
                </a:solidFill>
                <a:latin typeface="Calibri" pitchFamily="34" charset="0"/>
                <a:ea typeface="Calibri" pitchFamily="34" charset="-122"/>
                <a:cs typeface="Calibri" pitchFamily="34" charset="-120"/>
              </a:rPr>
              <a:t>34%</a:t>
            </a:r>
            <a:endParaRPr lang="en-US" sz="950" dirty="0"/>
          </a:p>
        </p:txBody>
      </p:sp>
      <p:sp>
        <p:nvSpPr>
          <p:cNvPr id="112" name="Text 110"/>
          <p:cNvSpPr/>
          <p:nvPr/>
        </p:nvSpPr>
        <p:spPr>
          <a:xfrm>
            <a:off x="6144768" y="5870448"/>
            <a:ext cx="932688" cy="320040"/>
          </a:xfrm>
          <a:prstGeom prst="rect">
            <a:avLst/>
          </a:prstGeom>
          <a:noFill/>
          <a:ln/>
        </p:spPr>
        <p:txBody>
          <a:bodyPr wrap="square" rtlCol="0" anchor="ctr"/>
          <a:lstStyle/>
          <a:p>
            <a:pPr algn="ctr" indent="0" marL="0">
              <a:buNone/>
            </a:pPr>
            <a:r>
              <a:rPr lang="en-US" sz="950" b="1" dirty="0">
                <a:solidFill>
                  <a:srgbClr val="EF4444"/>
                </a:solidFill>
                <a:latin typeface="Calibri" pitchFamily="34" charset="0"/>
                <a:ea typeface="Calibri" pitchFamily="34" charset="-122"/>
                <a:cs typeface="Calibri" pitchFamily="34" charset="-120"/>
              </a:rPr>
              <a:t>52%</a:t>
            </a:r>
            <a:endParaRPr lang="en-US" sz="950" dirty="0"/>
          </a:p>
        </p:txBody>
      </p:sp>
      <p:sp>
        <p:nvSpPr>
          <p:cNvPr id="113" name="Shape 111"/>
          <p:cNvSpPr/>
          <p:nvPr/>
        </p:nvSpPr>
        <p:spPr>
          <a:xfrm>
            <a:off x="7187184" y="5815584"/>
            <a:ext cx="713232" cy="438912"/>
          </a:xfrm>
          <a:prstGeom prst="rect">
            <a:avLst/>
          </a:prstGeom>
          <a:solidFill>
            <a:srgbClr val="EF4444"/>
          </a:solidFill>
          <a:ln/>
        </p:spPr>
      </p:sp>
      <p:sp>
        <p:nvSpPr>
          <p:cNvPr id="114" name="Text 112"/>
          <p:cNvSpPr/>
          <p:nvPr/>
        </p:nvSpPr>
        <p:spPr>
          <a:xfrm>
            <a:off x="7187184" y="5815584"/>
            <a:ext cx="713232" cy="438912"/>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10</a:t>
            </a:r>
            <a:endParaRPr lang="en-US" sz="1600" dirty="0"/>
          </a:p>
        </p:txBody>
      </p:sp>
      <p:sp>
        <p:nvSpPr>
          <p:cNvPr id="115" name="Text 113"/>
          <p:cNvSpPr/>
          <p:nvPr/>
        </p:nvSpPr>
        <p:spPr>
          <a:xfrm>
            <a:off x="8010144" y="5870448"/>
            <a:ext cx="749808" cy="320040"/>
          </a:xfrm>
          <a:prstGeom prst="rect">
            <a:avLst/>
          </a:prstGeom>
          <a:noFill/>
          <a:ln/>
        </p:spPr>
        <p:txBody>
          <a:bodyPr wrap="square" rtlCol="0" anchor="ctr"/>
          <a:lstStyle/>
          <a:p>
            <a:pPr algn="ctr" indent="0" marL="0">
              <a:buNone/>
            </a:pPr>
            <a:r>
              <a:rPr lang="en-US" sz="800" b="1" dirty="0">
                <a:solidFill>
                  <a:srgbClr val="EAB308"/>
                </a:solidFill>
                <a:latin typeface="Calibri" pitchFamily="34" charset="0"/>
                <a:ea typeface="Calibri" pitchFamily="34" charset="-122"/>
                <a:cs typeface="Calibri" pitchFamily="34" charset="-120"/>
              </a:rPr>
              <a:t>↔ Borderline</a:t>
            </a:r>
            <a:endParaRPr lang="en-US" sz="800" dirty="0"/>
          </a:p>
        </p:txBody>
      </p:sp>
      <p:sp>
        <p:nvSpPr>
          <p:cNvPr id="116" name="Text 114"/>
          <p:cNvSpPr/>
          <p:nvPr/>
        </p:nvSpPr>
        <p:spPr>
          <a:xfrm>
            <a:off x="8860536" y="5797296"/>
            <a:ext cx="1481328" cy="475488"/>
          </a:xfrm>
          <a:prstGeom prst="rect">
            <a:avLst/>
          </a:prstGeom>
          <a:noFill/>
          <a:ln/>
        </p:spPr>
        <p:txBody>
          <a:bodyPr wrap="square" rtlCol="0" anchor="ctr"/>
          <a:lstStyle/>
          <a:p>
            <a:pPr indent="0" marL="0">
              <a:buNone/>
            </a:pPr>
            <a:r>
              <a:rPr lang="en-US" sz="650" i="1" dirty="0">
                <a:solidFill>
                  <a:srgbClr val="64748B"/>
                </a:solidFill>
                <a:latin typeface="Calibri" pitchFamily="34" charset="0"/>
                <a:ea typeface="Calibri" pitchFamily="34" charset="-122"/>
                <a:cs typeface="Calibri" pitchFamily="34" charset="-120"/>
              </a:rPr>
              <a:t>Trustpilot 36,765 reviews — promoter proxy (4–5★ = promoter, 1–2★ = detractor); India NPS NOT independently measured</a:t>
            </a:r>
            <a:endParaRPr lang="en-US" sz="650" dirty="0"/>
          </a:p>
        </p:txBody>
      </p:sp>
      <p:sp>
        <p:nvSpPr>
          <p:cNvPr id="117" name="Text 115"/>
          <p:cNvSpPr/>
          <p:nvPr/>
        </p:nvSpPr>
        <p:spPr>
          <a:xfrm>
            <a:off x="10442448" y="5779008"/>
            <a:ext cx="1618488" cy="512064"/>
          </a:xfrm>
          <a:prstGeom prst="rect">
            <a:avLst/>
          </a:prstGeom>
          <a:noFill/>
          <a:ln/>
        </p:spPr>
        <p:txBody>
          <a:bodyPr wrap="square" rtlCol="0" anchor="ctr"/>
          <a:lstStyle/>
          <a:p>
            <a:pPr indent="0" marL="0">
              <a:buNone/>
            </a:pPr>
            <a:r>
              <a:rPr lang="en-US" sz="700" dirty="0">
                <a:solidFill>
                  <a:srgbClr val="334155"/>
                </a:solidFill>
                <a:latin typeface="Calibri" pitchFamily="34" charset="0"/>
                <a:ea typeface="Calibri" pitchFamily="34" charset="-122"/>
                <a:cs typeface="Calibri" pitchFamily="34" charset="-120"/>
              </a:rPr>
              <a:t>⚠️ DAZN has no India-specific NPS. Global figure heavily impacted by 2023 billing controversy. Current Trustpilot 4.5★ (2025) suggests recovery but India perception is driven by low awareness, not negative experience.</a:t>
            </a:r>
            <a:endParaRPr lang="en-US" sz="700" dirty="0"/>
          </a:p>
        </p:txBody>
      </p:sp>
      <p:sp>
        <p:nvSpPr>
          <p:cNvPr id="118" name="Shape 116"/>
          <p:cNvSpPr/>
          <p:nvPr/>
        </p:nvSpPr>
        <p:spPr>
          <a:xfrm>
            <a:off x="274320" y="6419088"/>
            <a:ext cx="11612880" cy="219456"/>
          </a:xfrm>
          <a:prstGeom prst="rect">
            <a:avLst/>
          </a:prstGeom>
          <a:solidFill>
            <a:srgbClr val="FEF9C3"/>
          </a:solidFill>
          <a:ln/>
        </p:spPr>
      </p:sp>
      <p:sp>
        <p:nvSpPr>
          <p:cNvPr id="119" name="Text 117"/>
          <p:cNvSpPr/>
          <p:nvPr/>
        </p:nvSpPr>
        <p:spPr>
          <a:xfrm>
            <a:off x="365760" y="6428232"/>
            <a:ext cx="11430000" cy="201168"/>
          </a:xfrm>
          <a:prstGeom prst="rect">
            <a:avLst/>
          </a:prstGeom>
          <a:noFill/>
          <a:ln/>
        </p:spPr>
        <p:txBody>
          <a:bodyPr wrap="square" rtlCol="0" anchor="ctr"/>
          <a:lstStyle/>
          <a:p>
            <a:pPr indent="0" marL="0">
              <a:buNone/>
            </a:pPr>
            <a:r>
              <a:rPr lang="en-US" sz="750" b="1" dirty="0">
                <a:solidFill>
                  <a:srgbClr val="713F12"/>
                </a:solidFill>
                <a:latin typeface="Calibri" pitchFamily="34" charset="0"/>
                <a:ea typeface="Calibri" pitchFamily="34" charset="-122"/>
                <a:cs typeface="Calibri" pitchFamily="34" charset="-120"/>
              </a:rPr>
              <a:t>⚠️  DATA NOTE: NPS figures are proxy estimates from secondary research (RedSeer 2021 baseline, Analysys Mason 2024). DAZN India NPS is derived from Trustpilot review polarity — not a primary survey. These figures are directional. A dedicated primary NPS survey in India is strongly recommended before presenting to external stakeholders.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804672"/>
          </a:xfrm>
          <a:prstGeom prst="rect">
            <a:avLst/>
          </a:prstGeom>
          <a:solidFill>
            <a:srgbClr val="0F172A"/>
          </a:solidFill>
          <a:ln/>
        </p:spPr>
      </p:sp>
      <p:sp>
        <p:nvSpPr>
          <p:cNvPr id="3" name="Shape 1"/>
          <p:cNvSpPr/>
          <p:nvPr/>
        </p:nvSpPr>
        <p:spPr>
          <a:xfrm>
            <a:off x="0" y="786384"/>
            <a:ext cx="12161520" cy="64008"/>
          </a:xfrm>
          <a:prstGeom prst="rect">
            <a:avLst/>
          </a:prstGeom>
          <a:solidFill>
            <a:srgbClr val="F7D447"/>
          </a:solidFill>
          <a:ln/>
        </p:spPr>
      </p:sp>
      <p:sp>
        <p:nvSpPr>
          <p:cNvPr id="4" name="Text 2"/>
          <p:cNvSpPr/>
          <p:nvPr/>
        </p:nvSpPr>
        <p:spPr>
          <a:xfrm>
            <a:off x="365760" y="54864"/>
            <a:ext cx="8961120" cy="475488"/>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NPS Deep Dive — Promoter / Passive / Detractor Breakdown</a:t>
            </a:r>
            <a:endParaRPr lang="en-US" sz="2000" dirty="0"/>
          </a:p>
        </p:txBody>
      </p:sp>
      <p:sp>
        <p:nvSpPr>
          <p:cNvPr id="5" name="Text 3"/>
          <p:cNvSpPr/>
          <p:nvPr/>
        </p:nvSpPr>
        <p:spPr>
          <a:xfrm>
            <a:off x="365760" y="530352"/>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Visual comparison across all 6 platforms | Recommendation urgency for DAZN India</a:t>
            </a:r>
            <a:endParaRPr lang="en-US" sz="950" dirty="0"/>
          </a:p>
        </p:txBody>
      </p:sp>
      <p:sp>
        <p:nvSpPr>
          <p:cNvPr id="6" name="Text 4"/>
          <p:cNvSpPr/>
          <p:nvPr/>
        </p:nvSpPr>
        <p:spPr>
          <a:xfrm>
            <a:off x="9601200" y="228600"/>
            <a:ext cx="2377440" cy="320040"/>
          </a:xfrm>
          <a:prstGeom prst="rect">
            <a:avLst/>
          </a:prstGeom>
          <a:noFill/>
          <a:ln/>
        </p:spPr>
        <p:txBody>
          <a:bodyPr wrap="square" rtlCol="0" anchor="ctr"/>
          <a:lstStyle/>
          <a:p>
            <a:pPr algn="r" indent="0" marL="0">
              <a:buNone/>
            </a:pPr>
            <a:r>
              <a:rPr lang="en-US" sz="850" b="1" dirty="0">
                <a:solidFill>
                  <a:srgbClr val="F7D447"/>
                </a:solidFill>
                <a:latin typeface="Calibri" pitchFamily="34" charset="0"/>
                <a:ea typeface="Calibri" pitchFamily="34" charset="-122"/>
                <a:cs typeface="Calibri" pitchFamily="34" charset="-120"/>
              </a:rPr>
              <a:t>DAZN India  •  Social Listening Report 2025  •  Slide 8</a:t>
            </a:r>
            <a:endParaRPr lang="en-US" sz="850" dirty="0"/>
          </a:p>
        </p:txBody>
      </p:sp>
      <p:sp>
        <p:nvSpPr>
          <p:cNvPr id="7" name="Shape 5"/>
          <p:cNvSpPr/>
          <p:nvPr/>
        </p:nvSpPr>
        <p:spPr>
          <a:xfrm>
            <a:off x="0" y="6675120"/>
            <a:ext cx="12161520" cy="182880"/>
          </a:xfrm>
          <a:prstGeom prst="rect">
            <a:avLst/>
          </a:prstGeom>
          <a:solidFill>
            <a:srgbClr val="0F172A"/>
          </a:solidFill>
          <a:ln/>
        </p:spPr>
      </p:sp>
      <p:sp>
        <p:nvSpPr>
          <p:cNvPr id="8" name="Text 6"/>
          <p:cNvSpPr/>
          <p:nvPr/>
        </p:nvSpPr>
        <p:spPr>
          <a:xfrm>
            <a:off x="274320" y="6684264"/>
            <a:ext cx="11612880" cy="15544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Confidential — For Internal Management Use Only</a:t>
            </a:r>
            <a:endParaRPr lang="en-US" sz="750" dirty="0"/>
          </a:p>
        </p:txBody>
      </p:sp>
      <p:sp>
        <p:nvSpPr>
          <p:cNvPr id="9" name="Shape 7"/>
          <p:cNvSpPr/>
          <p:nvPr/>
        </p:nvSpPr>
        <p:spPr>
          <a:xfrm>
            <a:off x="256032" y="960120"/>
            <a:ext cx="1874520" cy="559612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10" name="Shape 8"/>
          <p:cNvSpPr/>
          <p:nvPr/>
        </p:nvSpPr>
        <p:spPr>
          <a:xfrm>
            <a:off x="256032" y="960120"/>
            <a:ext cx="1874520" cy="73152"/>
          </a:xfrm>
          <a:prstGeom prst="rect">
            <a:avLst/>
          </a:prstGeom>
          <a:solidFill>
            <a:srgbClr val="E50914"/>
          </a:solidFill>
          <a:ln/>
        </p:spPr>
      </p:sp>
      <p:sp>
        <p:nvSpPr>
          <p:cNvPr id="11" name="Shape 9"/>
          <p:cNvSpPr/>
          <p:nvPr/>
        </p:nvSpPr>
        <p:spPr>
          <a:xfrm>
            <a:off x="256032" y="1005840"/>
            <a:ext cx="1874520" cy="658368"/>
          </a:xfrm>
          <a:prstGeom prst="rect">
            <a:avLst/>
          </a:prstGeom>
          <a:solidFill>
            <a:srgbClr val="0F172A"/>
          </a:solidFill>
          <a:ln/>
        </p:spPr>
      </p:sp>
      <p:sp>
        <p:nvSpPr>
          <p:cNvPr id="12" name="Text 10"/>
          <p:cNvSpPr/>
          <p:nvPr/>
        </p:nvSpPr>
        <p:spPr>
          <a:xfrm>
            <a:off x="310896" y="1060704"/>
            <a:ext cx="1755648" cy="329184"/>
          </a:xfrm>
          <a:prstGeom prst="rect">
            <a:avLst/>
          </a:prstGeom>
          <a:noFill/>
          <a:ln/>
        </p:spPr>
        <p:txBody>
          <a:bodyPr wrap="square"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Netflix</a:t>
            </a:r>
            <a:endParaRPr lang="en-US" sz="1200" dirty="0"/>
          </a:p>
        </p:txBody>
      </p:sp>
      <p:sp>
        <p:nvSpPr>
          <p:cNvPr id="13" name="Text 11"/>
          <p:cNvSpPr/>
          <p:nvPr/>
        </p:nvSpPr>
        <p:spPr>
          <a:xfrm>
            <a:off x="310896" y="1389888"/>
            <a:ext cx="1755648" cy="219456"/>
          </a:xfrm>
          <a:prstGeom prst="rect">
            <a:avLst/>
          </a:prstGeom>
          <a:noFill/>
          <a:ln/>
        </p:spPr>
        <p:txBody>
          <a:bodyPr wrap="square" rtlCol="0" anchor="ctr"/>
          <a:lstStyle/>
          <a:p>
            <a:pPr algn="ctr" indent="0" marL="0">
              <a:buNone/>
            </a:pPr>
            <a:r>
              <a:rPr lang="en-US" sz="850" b="1" dirty="0">
                <a:solidFill>
                  <a:srgbClr val="E50914"/>
                </a:solidFill>
                <a:latin typeface="Calibri" pitchFamily="34" charset="0"/>
                <a:ea typeface="Calibri" pitchFamily="34" charset="-122"/>
                <a:cs typeface="Calibri" pitchFamily="34" charset="-120"/>
              </a:rPr>
              <a:t>Industry Leader</a:t>
            </a:r>
            <a:endParaRPr lang="en-US" sz="850" dirty="0"/>
          </a:p>
        </p:txBody>
      </p:sp>
      <p:sp>
        <p:nvSpPr>
          <p:cNvPr id="14" name="Shape 12"/>
          <p:cNvSpPr/>
          <p:nvPr/>
        </p:nvSpPr>
        <p:spPr>
          <a:xfrm>
            <a:off x="621792" y="1783080"/>
            <a:ext cx="1143000" cy="804672"/>
          </a:xfrm>
          <a:prstGeom prst="rect">
            <a:avLst/>
          </a:prstGeom>
          <a:solidFill>
            <a:srgbClr val="22C55E"/>
          </a:solidFill>
          <a:ln/>
        </p:spPr>
      </p:sp>
      <p:sp>
        <p:nvSpPr>
          <p:cNvPr id="15" name="Text 13"/>
          <p:cNvSpPr/>
          <p:nvPr/>
        </p:nvSpPr>
        <p:spPr>
          <a:xfrm>
            <a:off x="621792" y="1810512"/>
            <a:ext cx="1143000" cy="530352"/>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59</a:t>
            </a:r>
            <a:endParaRPr lang="en-US" sz="3600" dirty="0"/>
          </a:p>
        </p:txBody>
      </p:sp>
      <p:sp>
        <p:nvSpPr>
          <p:cNvPr id="16" name="Text 14"/>
          <p:cNvSpPr/>
          <p:nvPr/>
        </p:nvSpPr>
        <p:spPr>
          <a:xfrm>
            <a:off x="621792" y="2340864"/>
            <a:ext cx="1143000" cy="2286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NPS</a:t>
            </a:r>
            <a:endParaRPr lang="en-US" sz="900" dirty="0"/>
          </a:p>
        </p:txBody>
      </p:sp>
      <p:sp>
        <p:nvSpPr>
          <p:cNvPr id="17" name="Text 15"/>
          <p:cNvSpPr/>
          <p:nvPr/>
        </p:nvSpPr>
        <p:spPr>
          <a:xfrm>
            <a:off x="310896" y="2761488"/>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Promoters</a:t>
            </a:r>
            <a:endParaRPr lang="en-US" sz="750" dirty="0"/>
          </a:p>
        </p:txBody>
      </p:sp>
      <p:sp>
        <p:nvSpPr>
          <p:cNvPr id="18" name="Text 16"/>
          <p:cNvSpPr/>
          <p:nvPr/>
        </p:nvSpPr>
        <p:spPr>
          <a:xfrm>
            <a:off x="1124712" y="2761488"/>
            <a:ext cx="914400" cy="228600"/>
          </a:xfrm>
          <a:prstGeom prst="rect">
            <a:avLst/>
          </a:prstGeom>
          <a:noFill/>
          <a:ln/>
        </p:spPr>
        <p:txBody>
          <a:bodyPr wrap="square"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59%</a:t>
            </a:r>
            <a:endParaRPr lang="en-US" sz="850" dirty="0"/>
          </a:p>
        </p:txBody>
      </p:sp>
      <p:sp>
        <p:nvSpPr>
          <p:cNvPr id="19" name="Shape 17"/>
          <p:cNvSpPr/>
          <p:nvPr/>
        </p:nvSpPr>
        <p:spPr>
          <a:xfrm>
            <a:off x="310896" y="3008376"/>
            <a:ext cx="998068" cy="292608"/>
          </a:xfrm>
          <a:prstGeom prst="rect">
            <a:avLst/>
          </a:prstGeom>
          <a:solidFill>
            <a:srgbClr val="22C55E"/>
          </a:solidFill>
          <a:ln/>
        </p:spPr>
      </p:sp>
      <p:sp>
        <p:nvSpPr>
          <p:cNvPr id="20" name="Text 18"/>
          <p:cNvSpPr/>
          <p:nvPr/>
        </p:nvSpPr>
        <p:spPr>
          <a:xfrm>
            <a:off x="329184" y="3026664"/>
            <a:ext cx="924916"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59%</a:t>
            </a:r>
            <a:endParaRPr lang="en-US" sz="800" dirty="0"/>
          </a:p>
        </p:txBody>
      </p:sp>
      <p:sp>
        <p:nvSpPr>
          <p:cNvPr id="21" name="Text 19"/>
          <p:cNvSpPr/>
          <p:nvPr/>
        </p:nvSpPr>
        <p:spPr>
          <a:xfrm>
            <a:off x="310896" y="3474720"/>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Passives</a:t>
            </a:r>
            <a:endParaRPr lang="en-US" sz="750" dirty="0"/>
          </a:p>
        </p:txBody>
      </p:sp>
      <p:sp>
        <p:nvSpPr>
          <p:cNvPr id="22" name="Text 20"/>
          <p:cNvSpPr/>
          <p:nvPr/>
        </p:nvSpPr>
        <p:spPr>
          <a:xfrm>
            <a:off x="1124712" y="3474720"/>
            <a:ext cx="914400" cy="228600"/>
          </a:xfrm>
          <a:prstGeom prst="rect">
            <a:avLst/>
          </a:prstGeom>
          <a:noFill/>
          <a:ln/>
        </p:spPr>
        <p:txBody>
          <a:bodyPr wrap="square" rtlCol="0" anchor="ctr"/>
          <a:lstStyle/>
          <a:p>
            <a:pPr algn="r" indent="0" marL="0">
              <a:buNone/>
            </a:pPr>
            <a:r>
              <a:rPr lang="en-US" sz="850" b="1" dirty="0">
                <a:solidFill>
                  <a:srgbClr val="94A3B8"/>
                </a:solidFill>
                <a:latin typeface="Calibri" pitchFamily="34" charset="0"/>
                <a:ea typeface="Calibri" pitchFamily="34" charset="-122"/>
                <a:cs typeface="Calibri" pitchFamily="34" charset="-120"/>
              </a:rPr>
              <a:t>25%</a:t>
            </a:r>
            <a:endParaRPr lang="en-US" sz="850" dirty="0"/>
          </a:p>
        </p:txBody>
      </p:sp>
      <p:sp>
        <p:nvSpPr>
          <p:cNvPr id="23" name="Shape 21"/>
          <p:cNvSpPr/>
          <p:nvPr/>
        </p:nvSpPr>
        <p:spPr>
          <a:xfrm>
            <a:off x="310896" y="3721608"/>
            <a:ext cx="422910" cy="292608"/>
          </a:xfrm>
          <a:prstGeom prst="rect">
            <a:avLst/>
          </a:prstGeom>
          <a:solidFill>
            <a:srgbClr val="94A3B8"/>
          </a:solidFill>
          <a:ln/>
        </p:spPr>
      </p:sp>
      <p:sp>
        <p:nvSpPr>
          <p:cNvPr id="24" name="Text 22"/>
          <p:cNvSpPr/>
          <p:nvPr/>
        </p:nvSpPr>
        <p:spPr>
          <a:xfrm>
            <a:off x="329184" y="3739896"/>
            <a:ext cx="349758"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25%</a:t>
            </a:r>
            <a:endParaRPr lang="en-US" sz="800" dirty="0"/>
          </a:p>
        </p:txBody>
      </p:sp>
      <p:sp>
        <p:nvSpPr>
          <p:cNvPr id="25" name="Text 23"/>
          <p:cNvSpPr/>
          <p:nvPr/>
        </p:nvSpPr>
        <p:spPr>
          <a:xfrm>
            <a:off x="310896" y="4187952"/>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Detractors</a:t>
            </a:r>
            <a:endParaRPr lang="en-US" sz="750" dirty="0"/>
          </a:p>
        </p:txBody>
      </p:sp>
      <p:sp>
        <p:nvSpPr>
          <p:cNvPr id="26" name="Text 24"/>
          <p:cNvSpPr/>
          <p:nvPr/>
        </p:nvSpPr>
        <p:spPr>
          <a:xfrm>
            <a:off x="1124712" y="4187952"/>
            <a:ext cx="914400" cy="228600"/>
          </a:xfrm>
          <a:prstGeom prst="rect">
            <a:avLst/>
          </a:prstGeom>
          <a:noFill/>
          <a:ln/>
        </p:spPr>
        <p:txBody>
          <a:bodyPr wrap="square" rtlCol="0" anchor="ctr"/>
          <a:lstStyle/>
          <a:p>
            <a:pPr algn="r" indent="0" marL="0">
              <a:buNone/>
            </a:pPr>
            <a:r>
              <a:rPr lang="en-US" sz="850" b="1" dirty="0">
                <a:solidFill>
                  <a:srgbClr val="EF4444"/>
                </a:solidFill>
                <a:latin typeface="Calibri" pitchFamily="34" charset="0"/>
                <a:ea typeface="Calibri" pitchFamily="34" charset="-122"/>
                <a:cs typeface="Calibri" pitchFamily="34" charset="-120"/>
              </a:rPr>
              <a:t>16%</a:t>
            </a:r>
            <a:endParaRPr lang="en-US" sz="850" dirty="0"/>
          </a:p>
        </p:txBody>
      </p:sp>
      <p:sp>
        <p:nvSpPr>
          <p:cNvPr id="27" name="Shape 25"/>
          <p:cNvSpPr/>
          <p:nvPr/>
        </p:nvSpPr>
        <p:spPr>
          <a:xfrm>
            <a:off x="310896" y="4434840"/>
            <a:ext cx="270662" cy="292608"/>
          </a:xfrm>
          <a:prstGeom prst="rect">
            <a:avLst/>
          </a:prstGeom>
          <a:solidFill>
            <a:srgbClr val="EF4444"/>
          </a:solidFill>
          <a:ln/>
        </p:spPr>
      </p:sp>
      <p:sp>
        <p:nvSpPr>
          <p:cNvPr id="28" name="Text 26"/>
          <p:cNvSpPr/>
          <p:nvPr/>
        </p:nvSpPr>
        <p:spPr>
          <a:xfrm>
            <a:off x="310896" y="4974336"/>
            <a:ext cx="1783080" cy="566928"/>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Premium originals drive promoter advocacy. India's most recommended OTT.</a:t>
            </a:r>
            <a:endParaRPr lang="en-US" sz="800" dirty="0"/>
          </a:p>
        </p:txBody>
      </p:sp>
      <p:sp>
        <p:nvSpPr>
          <p:cNvPr id="29" name="Shape 27"/>
          <p:cNvSpPr/>
          <p:nvPr/>
        </p:nvSpPr>
        <p:spPr>
          <a:xfrm>
            <a:off x="2258568" y="960120"/>
            <a:ext cx="1874520" cy="559612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30" name="Shape 28"/>
          <p:cNvSpPr/>
          <p:nvPr/>
        </p:nvSpPr>
        <p:spPr>
          <a:xfrm>
            <a:off x="2258568" y="960120"/>
            <a:ext cx="1874520" cy="73152"/>
          </a:xfrm>
          <a:prstGeom prst="rect">
            <a:avLst/>
          </a:prstGeom>
          <a:solidFill>
            <a:srgbClr val="00A8E1"/>
          </a:solidFill>
          <a:ln/>
        </p:spPr>
      </p:sp>
      <p:sp>
        <p:nvSpPr>
          <p:cNvPr id="31" name="Shape 29"/>
          <p:cNvSpPr/>
          <p:nvPr/>
        </p:nvSpPr>
        <p:spPr>
          <a:xfrm>
            <a:off x="2258568" y="1005840"/>
            <a:ext cx="1874520" cy="658368"/>
          </a:xfrm>
          <a:prstGeom prst="rect">
            <a:avLst/>
          </a:prstGeom>
          <a:solidFill>
            <a:srgbClr val="0F172A"/>
          </a:solidFill>
          <a:ln/>
        </p:spPr>
      </p:sp>
      <p:sp>
        <p:nvSpPr>
          <p:cNvPr id="32" name="Text 30"/>
          <p:cNvSpPr/>
          <p:nvPr/>
        </p:nvSpPr>
        <p:spPr>
          <a:xfrm>
            <a:off x="2313432" y="1060704"/>
            <a:ext cx="1755648" cy="329184"/>
          </a:xfrm>
          <a:prstGeom prst="rect">
            <a:avLst/>
          </a:prstGeom>
          <a:noFill/>
          <a:ln/>
        </p:spPr>
        <p:txBody>
          <a:bodyPr wrap="square"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Amazon Prime</a:t>
            </a:r>
            <a:endParaRPr lang="en-US" sz="1200" dirty="0"/>
          </a:p>
        </p:txBody>
      </p:sp>
      <p:sp>
        <p:nvSpPr>
          <p:cNvPr id="33" name="Text 31"/>
          <p:cNvSpPr/>
          <p:nvPr/>
        </p:nvSpPr>
        <p:spPr>
          <a:xfrm>
            <a:off x="2313432" y="1389888"/>
            <a:ext cx="1755648" cy="219456"/>
          </a:xfrm>
          <a:prstGeom prst="rect">
            <a:avLst/>
          </a:prstGeom>
          <a:noFill/>
          <a:ln/>
        </p:spPr>
        <p:txBody>
          <a:bodyPr wrap="square" rtlCol="0" anchor="ctr"/>
          <a:lstStyle/>
          <a:p>
            <a:pPr algn="ctr" indent="0" marL="0">
              <a:buNone/>
            </a:pPr>
            <a:r>
              <a:rPr lang="en-US" sz="850" b="1" dirty="0">
                <a:solidFill>
                  <a:srgbClr val="00A8E1"/>
                </a:solidFill>
                <a:latin typeface="Calibri" pitchFamily="34" charset="0"/>
                <a:ea typeface="Calibri" pitchFamily="34" charset="-122"/>
                <a:cs typeface="Calibri" pitchFamily="34" charset="-120"/>
              </a:rPr>
              <a:t>Strong</a:t>
            </a:r>
            <a:endParaRPr lang="en-US" sz="850" dirty="0"/>
          </a:p>
        </p:txBody>
      </p:sp>
      <p:sp>
        <p:nvSpPr>
          <p:cNvPr id="34" name="Shape 32"/>
          <p:cNvSpPr/>
          <p:nvPr/>
        </p:nvSpPr>
        <p:spPr>
          <a:xfrm>
            <a:off x="2624328" y="1783080"/>
            <a:ext cx="1143000" cy="804672"/>
          </a:xfrm>
          <a:prstGeom prst="rect">
            <a:avLst/>
          </a:prstGeom>
          <a:solidFill>
            <a:srgbClr val="22C55E"/>
          </a:solidFill>
          <a:ln/>
        </p:spPr>
      </p:sp>
      <p:sp>
        <p:nvSpPr>
          <p:cNvPr id="35" name="Text 33"/>
          <p:cNvSpPr/>
          <p:nvPr/>
        </p:nvSpPr>
        <p:spPr>
          <a:xfrm>
            <a:off x="2624328" y="1810512"/>
            <a:ext cx="1143000" cy="530352"/>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53</a:t>
            </a:r>
            <a:endParaRPr lang="en-US" sz="3600" dirty="0"/>
          </a:p>
        </p:txBody>
      </p:sp>
      <p:sp>
        <p:nvSpPr>
          <p:cNvPr id="36" name="Text 34"/>
          <p:cNvSpPr/>
          <p:nvPr/>
        </p:nvSpPr>
        <p:spPr>
          <a:xfrm>
            <a:off x="2624328" y="2340864"/>
            <a:ext cx="1143000" cy="2286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NPS</a:t>
            </a:r>
            <a:endParaRPr lang="en-US" sz="900" dirty="0"/>
          </a:p>
        </p:txBody>
      </p:sp>
      <p:sp>
        <p:nvSpPr>
          <p:cNvPr id="37" name="Text 35"/>
          <p:cNvSpPr/>
          <p:nvPr/>
        </p:nvSpPr>
        <p:spPr>
          <a:xfrm>
            <a:off x="2313432" y="2761488"/>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Promoters</a:t>
            </a:r>
            <a:endParaRPr lang="en-US" sz="750" dirty="0"/>
          </a:p>
        </p:txBody>
      </p:sp>
      <p:sp>
        <p:nvSpPr>
          <p:cNvPr id="38" name="Text 36"/>
          <p:cNvSpPr/>
          <p:nvPr/>
        </p:nvSpPr>
        <p:spPr>
          <a:xfrm>
            <a:off x="3127248" y="2761488"/>
            <a:ext cx="914400" cy="228600"/>
          </a:xfrm>
          <a:prstGeom prst="rect">
            <a:avLst/>
          </a:prstGeom>
          <a:noFill/>
          <a:ln/>
        </p:spPr>
        <p:txBody>
          <a:bodyPr wrap="square"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53%</a:t>
            </a:r>
            <a:endParaRPr lang="en-US" sz="850" dirty="0"/>
          </a:p>
        </p:txBody>
      </p:sp>
      <p:sp>
        <p:nvSpPr>
          <p:cNvPr id="39" name="Shape 37"/>
          <p:cNvSpPr/>
          <p:nvPr/>
        </p:nvSpPr>
        <p:spPr>
          <a:xfrm>
            <a:off x="2313432" y="3008376"/>
            <a:ext cx="896569" cy="292608"/>
          </a:xfrm>
          <a:prstGeom prst="rect">
            <a:avLst/>
          </a:prstGeom>
          <a:solidFill>
            <a:srgbClr val="22C55E"/>
          </a:solidFill>
          <a:ln/>
        </p:spPr>
      </p:sp>
      <p:sp>
        <p:nvSpPr>
          <p:cNvPr id="40" name="Text 38"/>
          <p:cNvSpPr/>
          <p:nvPr/>
        </p:nvSpPr>
        <p:spPr>
          <a:xfrm>
            <a:off x="2331720" y="3026664"/>
            <a:ext cx="823417"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53%</a:t>
            </a:r>
            <a:endParaRPr lang="en-US" sz="800" dirty="0"/>
          </a:p>
        </p:txBody>
      </p:sp>
      <p:sp>
        <p:nvSpPr>
          <p:cNvPr id="41" name="Text 39"/>
          <p:cNvSpPr/>
          <p:nvPr/>
        </p:nvSpPr>
        <p:spPr>
          <a:xfrm>
            <a:off x="2313432" y="3474720"/>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Passives</a:t>
            </a:r>
            <a:endParaRPr lang="en-US" sz="750" dirty="0"/>
          </a:p>
        </p:txBody>
      </p:sp>
      <p:sp>
        <p:nvSpPr>
          <p:cNvPr id="42" name="Text 40"/>
          <p:cNvSpPr/>
          <p:nvPr/>
        </p:nvSpPr>
        <p:spPr>
          <a:xfrm>
            <a:off x="3127248" y="3474720"/>
            <a:ext cx="914400" cy="228600"/>
          </a:xfrm>
          <a:prstGeom prst="rect">
            <a:avLst/>
          </a:prstGeom>
          <a:noFill/>
          <a:ln/>
        </p:spPr>
        <p:txBody>
          <a:bodyPr wrap="square" rtlCol="0" anchor="ctr"/>
          <a:lstStyle/>
          <a:p>
            <a:pPr algn="r" indent="0" marL="0">
              <a:buNone/>
            </a:pPr>
            <a:r>
              <a:rPr lang="en-US" sz="850" b="1" dirty="0">
                <a:solidFill>
                  <a:srgbClr val="94A3B8"/>
                </a:solidFill>
                <a:latin typeface="Calibri" pitchFamily="34" charset="0"/>
                <a:ea typeface="Calibri" pitchFamily="34" charset="-122"/>
                <a:cs typeface="Calibri" pitchFamily="34" charset="-120"/>
              </a:rPr>
              <a:t>27%</a:t>
            </a:r>
            <a:endParaRPr lang="en-US" sz="850" dirty="0"/>
          </a:p>
        </p:txBody>
      </p:sp>
      <p:sp>
        <p:nvSpPr>
          <p:cNvPr id="43" name="Shape 41"/>
          <p:cNvSpPr/>
          <p:nvPr/>
        </p:nvSpPr>
        <p:spPr>
          <a:xfrm>
            <a:off x="2313432" y="3721608"/>
            <a:ext cx="456743" cy="292608"/>
          </a:xfrm>
          <a:prstGeom prst="rect">
            <a:avLst/>
          </a:prstGeom>
          <a:solidFill>
            <a:srgbClr val="94A3B8"/>
          </a:solidFill>
          <a:ln/>
        </p:spPr>
      </p:sp>
      <p:sp>
        <p:nvSpPr>
          <p:cNvPr id="44" name="Text 42"/>
          <p:cNvSpPr/>
          <p:nvPr/>
        </p:nvSpPr>
        <p:spPr>
          <a:xfrm>
            <a:off x="2331720" y="3739896"/>
            <a:ext cx="383591"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27%</a:t>
            </a:r>
            <a:endParaRPr lang="en-US" sz="800" dirty="0"/>
          </a:p>
        </p:txBody>
      </p:sp>
      <p:sp>
        <p:nvSpPr>
          <p:cNvPr id="45" name="Text 43"/>
          <p:cNvSpPr/>
          <p:nvPr/>
        </p:nvSpPr>
        <p:spPr>
          <a:xfrm>
            <a:off x="2313432" y="4187952"/>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Detractors</a:t>
            </a:r>
            <a:endParaRPr lang="en-US" sz="750" dirty="0"/>
          </a:p>
        </p:txBody>
      </p:sp>
      <p:sp>
        <p:nvSpPr>
          <p:cNvPr id="46" name="Text 44"/>
          <p:cNvSpPr/>
          <p:nvPr/>
        </p:nvSpPr>
        <p:spPr>
          <a:xfrm>
            <a:off x="3127248" y="4187952"/>
            <a:ext cx="914400" cy="228600"/>
          </a:xfrm>
          <a:prstGeom prst="rect">
            <a:avLst/>
          </a:prstGeom>
          <a:noFill/>
          <a:ln/>
        </p:spPr>
        <p:txBody>
          <a:bodyPr wrap="square" rtlCol="0" anchor="ctr"/>
          <a:lstStyle/>
          <a:p>
            <a:pPr algn="r" indent="0" marL="0">
              <a:buNone/>
            </a:pPr>
            <a:r>
              <a:rPr lang="en-US" sz="850" b="1" dirty="0">
                <a:solidFill>
                  <a:srgbClr val="EF4444"/>
                </a:solidFill>
                <a:latin typeface="Calibri" pitchFamily="34" charset="0"/>
                <a:ea typeface="Calibri" pitchFamily="34" charset="-122"/>
                <a:cs typeface="Calibri" pitchFamily="34" charset="-120"/>
              </a:rPr>
              <a:t>20%</a:t>
            </a:r>
            <a:endParaRPr lang="en-US" sz="850" dirty="0"/>
          </a:p>
        </p:txBody>
      </p:sp>
      <p:sp>
        <p:nvSpPr>
          <p:cNvPr id="47" name="Shape 45"/>
          <p:cNvSpPr/>
          <p:nvPr/>
        </p:nvSpPr>
        <p:spPr>
          <a:xfrm>
            <a:off x="2313432" y="4434840"/>
            <a:ext cx="338328" cy="292608"/>
          </a:xfrm>
          <a:prstGeom prst="rect">
            <a:avLst/>
          </a:prstGeom>
          <a:solidFill>
            <a:srgbClr val="EF4444"/>
          </a:solidFill>
          <a:ln/>
        </p:spPr>
      </p:sp>
      <p:sp>
        <p:nvSpPr>
          <p:cNvPr id="48" name="Text 46"/>
          <p:cNvSpPr/>
          <p:nvPr/>
        </p:nvSpPr>
        <p:spPr>
          <a:xfrm>
            <a:off x="2331720" y="4453128"/>
            <a:ext cx="265176"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20%</a:t>
            </a:r>
            <a:endParaRPr lang="en-US" sz="800" dirty="0"/>
          </a:p>
        </p:txBody>
      </p:sp>
      <p:sp>
        <p:nvSpPr>
          <p:cNvPr id="49" name="Text 47"/>
          <p:cNvSpPr/>
          <p:nvPr/>
        </p:nvSpPr>
        <p:spPr>
          <a:xfrm>
            <a:off x="2313432" y="4974336"/>
            <a:ext cx="1783080" cy="566928"/>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Value bundle is key driver. Watch ads rollout impact in 2025.</a:t>
            </a:r>
            <a:endParaRPr lang="en-US" sz="800" dirty="0"/>
          </a:p>
        </p:txBody>
      </p:sp>
      <p:sp>
        <p:nvSpPr>
          <p:cNvPr id="50" name="Shape 48"/>
          <p:cNvSpPr/>
          <p:nvPr/>
        </p:nvSpPr>
        <p:spPr>
          <a:xfrm>
            <a:off x="4261104" y="960120"/>
            <a:ext cx="1874520" cy="559612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51" name="Shape 49"/>
          <p:cNvSpPr/>
          <p:nvPr/>
        </p:nvSpPr>
        <p:spPr>
          <a:xfrm>
            <a:off x="4261104" y="960120"/>
            <a:ext cx="1874520" cy="73152"/>
          </a:xfrm>
          <a:prstGeom prst="rect">
            <a:avLst/>
          </a:prstGeom>
          <a:solidFill>
            <a:srgbClr val="1F80E0"/>
          </a:solidFill>
          <a:ln/>
        </p:spPr>
      </p:sp>
      <p:sp>
        <p:nvSpPr>
          <p:cNvPr id="52" name="Shape 50"/>
          <p:cNvSpPr/>
          <p:nvPr/>
        </p:nvSpPr>
        <p:spPr>
          <a:xfrm>
            <a:off x="4261104" y="1005840"/>
            <a:ext cx="1874520" cy="658368"/>
          </a:xfrm>
          <a:prstGeom prst="rect">
            <a:avLst/>
          </a:prstGeom>
          <a:solidFill>
            <a:srgbClr val="0F172A"/>
          </a:solidFill>
          <a:ln/>
        </p:spPr>
      </p:sp>
      <p:sp>
        <p:nvSpPr>
          <p:cNvPr id="53" name="Text 51"/>
          <p:cNvSpPr/>
          <p:nvPr/>
        </p:nvSpPr>
        <p:spPr>
          <a:xfrm>
            <a:off x="4315968" y="1060704"/>
            <a:ext cx="1755648" cy="329184"/>
          </a:xfrm>
          <a:prstGeom prst="rect">
            <a:avLst/>
          </a:prstGeom>
          <a:noFill/>
          <a:ln/>
        </p:spPr>
        <p:txBody>
          <a:bodyPr wrap="square"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JioHotstar</a:t>
            </a:r>
            <a:endParaRPr lang="en-US" sz="1200" dirty="0"/>
          </a:p>
        </p:txBody>
      </p:sp>
      <p:sp>
        <p:nvSpPr>
          <p:cNvPr id="54" name="Text 52"/>
          <p:cNvSpPr/>
          <p:nvPr/>
        </p:nvSpPr>
        <p:spPr>
          <a:xfrm>
            <a:off x="4315968" y="1389888"/>
            <a:ext cx="1755648" cy="219456"/>
          </a:xfrm>
          <a:prstGeom prst="rect">
            <a:avLst/>
          </a:prstGeom>
          <a:noFill/>
          <a:ln/>
        </p:spPr>
        <p:txBody>
          <a:bodyPr wrap="square" rtlCol="0" anchor="ctr"/>
          <a:lstStyle/>
          <a:p>
            <a:pPr algn="ctr" indent="0" marL="0">
              <a:buNone/>
            </a:pPr>
            <a:r>
              <a:rPr lang="en-US" sz="850" b="1" dirty="0">
                <a:solidFill>
                  <a:srgbClr val="1F80E0"/>
                </a:solidFill>
                <a:latin typeface="Calibri" pitchFamily="34" charset="0"/>
                <a:ea typeface="Calibri" pitchFamily="34" charset="-122"/>
                <a:cs typeface="Calibri" pitchFamily="34" charset="-120"/>
              </a:rPr>
              <a:t>At Risk</a:t>
            </a:r>
            <a:endParaRPr lang="en-US" sz="850" dirty="0"/>
          </a:p>
        </p:txBody>
      </p:sp>
      <p:sp>
        <p:nvSpPr>
          <p:cNvPr id="55" name="Shape 53"/>
          <p:cNvSpPr/>
          <p:nvPr/>
        </p:nvSpPr>
        <p:spPr>
          <a:xfrm>
            <a:off x="4626864" y="1783080"/>
            <a:ext cx="1143000" cy="804672"/>
          </a:xfrm>
          <a:prstGeom prst="rect">
            <a:avLst/>
          </a:prstGeom>
          <a:solidFill>
            <a:srgbClr val="EAB308"/>
          </a:solidFill>
          <a:ln/>
        </p:spPr>
      </p:sp>
      <p:sp>
        <p:nvSpPr>
          <p:cNvPr id="56" name="Text 54"/>
          <p:cNvSpPr/>
          <p:nvPr/>
        </p:nvSpPr>
        <p:spPr>
          <a:xfrm>
            <a:off x="4626864" y="1810512"/>
            <a:ext cx="1143000" cy="530352"/>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38</a:t>
            </a:r>
            <a:endParaRPr lang="en-US" sz="3600" dirty="0"/>
          </a:p>
        </p:txBody>
      </p:sp>
      <p:sp>
        <p:nvSpPr>
          <p:cNvPr id="57" name="Text 55"/>
          <p:cNvSpPr/>
          <p:nvPr/>
        </p:nvSpPr>
        <p:spPr>
          <a:xfrm>
            <a:off x="4626864" y="2340864"/>
            <a:ext cx="1143000" cy="2286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NPS</a:t>
            </a:r>
            <a:endParaRPr lang="en-US" sz="900" dirty="0"/>
          </a:p>
        </p:txBody>
      </p:sp>
      <p:sp>
        <p:nvSpPr>
          <p:cNvPr id="58" name="Text 56"/>
          <p:cNvSpPr/>
          <p:nvPr/>
        </p:nvSpPr>
        <p:spPr>
          <a:xfrm>
            <a:off x="4315968" y="2761488"/>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Promoters</a:t>
            </a:r>
            <a:endParaRPr lang="en-US" sz="750" dirty="0"/>
          </a:p>
        </p:txBody>
      </p:sp>
      <p:sp>
        <p:nvSpPr>
          <p:cNvPr id="59" name="Text 57"/>
          <p:cNvSpPr/>
          <p:nvPr/>
        </p:nvSpPr>
        <p:spPr>
          <a:xfrm>
            <a:off x="5129784" y="2761488"/>
            <a:ext cx="914400" cy="228600"/>
          </a:xfrm>
          <a:prstGeom prst="rect">
            <a:avLst/>
          </a:prstGeom>
          <a:noFill/>
          <a:ln/>
        </p:spPr>
        <p:txBody>
          <a:bodyPr wrap="square"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42%</a:t>
            </a:r>
            <a:endParaRPr lang="en-US" sz="850" dirty="0"/>
          </a:p>
        </p:txBody>
      </p:sp>
      <p:sp>
        <p:nvSpPr>
          <p:cNvPr id="60" name="Shape 58"/>
          <p:cNvSpPr/>
          <p:nvPr/>
        </p:nvSpPr>
        <p:spPr>
          <a:xfrm>
            <a:off x="4315968" y="3008376"/>
            <a:ext cx="710489" cy="292608"/>
          </a:xfrm>
          <a:prstGeom prst="rect">
            <a:avLst/>
          </a:prstGeom>
          <a:solidFill>
            <a:srgbClr val="22C55E"/>
          </a:solidFill>
          <a:ln/>
        </p:spPr>
      </p:sp>
      <p:sp>
        <p:nvSpPr>
          <p:cNvPr id="61" name="Text 59"/>
          <p:cNvSpPr/>
          <p:nvPr/>
        </p:nvSpPr>
        <p:spPr>
          <a:xfrm>
            <a:off x="4334256" y="3026664"/>
            <a:ext cx="637337"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42%</a:t>
            </a:r>
            <a:endParaRPr lang="en-US" sz="800" dirty="0"/>
          </a:p>
        </p:txBody>
      </p:sp>
      <p:sp>
        <p:nvSpPr>
          <p:cNvPr id="62" name="Text 60"/>
          <p:cNvSpPr/>
          <p:nvPr/>
        </p:nvSpPr>
        <p:spPr>
          <a:xfrm>
            <a:off x="4315968" y="3474720"/>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Passives</a:t>
            </a:r>
            <a:endParaRPr lang="en-US" sz="750" dirty="0"/>
          </a:p>
        </p:txBody>
      </p:sp>
      <p:sp>
        <p:nvSpPr>
          <p:cNvPr id="63" name="Text 61"/>
          <p:cNvSpPr/>
          <p:nvPr/>
        </p:nvSpPr>
        <p:spPr>
          <a:xfrm>
            <a:off x="5129784" y="3474720"/>
            <a:ext cx="914400" cy="228600"/>
          </a:xfrm>
          <a:prstGeom prst="rect">
            <a:avLst/>
          </a:prstGeom>
          <a:noFill/>
          <a:ln/>
        </p:spPr>
        <p:txBody>
          <a:bodyPr wrap="square" rtlCol="0" anchor="ctr"/>
          <a:lstStyle/>
          <a:p>
            <a:pPr algn="r" indent="0" marL="0">
              <a:buNone/>
            </a:pPr>
            <a:r>
              <a:rPr lang="en-US" sz="850" b="1" dirty="0">
                <a:solidFill>
                  <a:srgbClr val="94A3B8"/>
                </a:solidFill>
                <a:latin typeface="Calibri" pitchFamily="34" charset="0"/>
                <a:ea typeface="Calibri" pitchFamily="34" charset="-122"/>
                <a:cs typeface="Calibri" pitchFamily="34" charset="-120"/>
              </a:rPr>
              <a:t>28%</a:t>
            </a:r>
            <a:endParaRPr lang="en-US" sz="850" dirty="0"/>
          </a:p>
        </p:txBody>
      </p:sp>
      <p:sp>
        <p:nvSpPr>
          <p:cNvPr id="64" name="Shape 62"/>
          <p:cNvSpPr/>
          <p:nvPr/>
        </p:nvSpPr>
        <p:spPr>
          <a:xfrm>
            <a:off x="4315968" y="3721608"/>
            <a:ext cx="473659" cy="292608"/>
          </a:xfrm>
          <a:prstGeom prst="rect">
            <a:avLst/>
          </a:prstGeom>
          <a:solidFill>
            <a:srgbClr val="94A3B8"/>
          </a:solidFill>
          <a:ln/>
        </p:spPr>
      </p:sp>
      <p:sp>
        <p:nvSpPr>
          <p:cNvPr id="65" name="Text 63"/>
          <p:cNvSpPr/>
          <p:nvPr/>
        </p:nvSpPr>
        <p:spPr>
          <a:xfrm>
            <a:off x="4334256" y="3739896"/>
            <a:ext cx="400507"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28%</a:t>
            </a:r>
            <a:endParaRPr lang="en-US" sz="800" dirty="0"/>
          </a:p>
        </p:txBody>
      </p:sp>
      <p:sp>
        <p:nvSpPr>
          <p:cNvPr id="66" name="Text 64"/>
          <p:cNvSpPr/>
          <p:nvPr/>
        </p:nvSpPr>
        <p:spPr>
          <a:xfrm>
            <a:off x="4315968" y="4187952"/>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Detractors</a:t>
            </a:r>
            <a:endParaRPr lang="en-US" sz="750" dirty="0"/>
          </a:p>
        </p:txBody>
      </p:sp>
      <p:sp>
        <p:nvSpPr>
          <p:cNvPr id="67" name="Text 65"/>
          <p:cNvSpPr/>
          <p:nvPr/>
        </p:nvSpPr>
        <p:spPr>
          <a:xfrm>
            <a:off x="5129784" y="4187952"/>
            <a:ext cx="914400" cy="228600"/>
          </a:xfrm>
          <a:prstGeom prst="rect">
            <a:avLst/>
          </a:prstGeom>
          <a:noFill/>
          <a:ln/>
        </p:spPr>
        <p:txBody>
          <a:bodyPr wrap="square" rtlCol="0" anchor="ctr"/>
          <a:lstStyle/>
          <a:p>
            <a:pPr algn="r" indent="0" marL="0">
              <a:buNone/>
            </a:pPr>
            <a:r>
              <a:rPr lang="en-US" sz="850" b="1" dirty="0">
                <a:solidFill>
                  <a:srgbClr val="EF4444"/>
                </a:solidFill>
                <a:latin typeface="Calibri" pitchFamily="34" charset="0"/>
                <a:ea typeface="Calibri" pitchFamily="34" charset="-122"/>
                <a:cs typeface="Calibri" pitchFamily="34" charset="-120"/>
              </a:rPr>
              <a:t>30%</a:t>
            </a:r>
            <a:endParaRPr lang="en-US" sz="850" dirty="0"/>
          </a:p>
        </p:txBody>
      </p:sp>
      <p:sp>
        <p:nvSpPr>
          <p:cNvPr id="68" name="Shape 66"/>
          <p:cNvSpPr/>
          <p:nvPr/>
        </p:nvSpPr>
        <p:spPr>
          <a:xfrm>
            <a:off x="4315968" y="4434840"/>
            <a:ext cx="507492" cy="292608"/>
          </a:xfrm>
          <a:prstGeom prst="rect">
            <a:avLst/>
          </a:prstGeom>
          <a:solidFill>
            <a:srgbClr val="EF4444"/>
          </a:solidFill>
          <a:ln/>
        </p:spPr>
      </p:sp>
      <p:sp>
        <p:nvSpPr>
          <p:cNvPr id="69" name="Text 67"/>
          <p:cNvSpPr/>
          <p:nvPr/>
        </p:nvSpPr>
        <p:spPr>
          <a:xfrm>
            <a:off x="4334256" y="4453128"/>
            <a:ext cx="43434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30%</a:t>
            </a:r>
            <a:endParaRPr lang="en-US" sz="800" dirty="0"/>
          </a:p>
        </p:txBody>
      </p:sp>
      <p:sp>
        <p:nvSpPr>
          <p:cNvPr id="70" name="Text 68"/>
          <p:cNvSpPr/>
          <p:nvPr/>
        </p:nvSpPr>
        <p:spPr>
          <a:xfrm>
            <a:off x="4315968" y="4974336"/>
            <a:ext cx="1783080" cy="566928"/>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Cricket inflates NPS but merger friction &amp; buffering creating detractors.</a:t>
            </a:r>
            <a:endParaRPr lang="en-US" sz="800" dirty="0"/>
          </a:p>
        </p:txBody>
      </p:sp>
      <p:sp>
        <p:nvSpPr>
          <p:cNvPr id="71" name="Shape 69"/>
          <p:cNvSpPr/>
          <p:nvPr/>
        </p:nvSpPr>
        <p:spPr>
          <a:xfrm>
            <a:off x="6263640" y="960120"/>
            <a:ext cx="1874520" cy="559612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72" name="Shape 70"/>
          <p:cNvSpPr/>
          <p:nvPr/>
        </p:nvSpPr>
        <p:spPr>
          <a:xfrm>
            <a:off x="6263640" y="960120"/>
            <a:ext cx="1874520" cy="73152"/>
          </a:xfrm>
          <a:prstGeom prst="rect">
            <a:avLst/>
          </a:prstGeom>
          <a:solidFill>
            <a:srgbClr val="DC2626"/>
          </a:solidFill>
          <a:ln/>
        </p:spPr>
      </p:sp>
      <p:sp>
        <p:nvSpPr>
          <p:cNvPr id="73" name="Shape 71"/>
          <p:cNvSpPr/>
          <p:nvPr/>
        </p:nvSpPr>
        <p:spPr>
          <a:xfrm>
            <a:off x="6263640" y="1005840"/>
            <a:ext cx="1874520" cy="658368"/>
          </a:xfrm>
          <a:prstGeom prst="rect">
            <a:avLst/>
          </a:prstGeom>
          <a:solidFill>
            <a:srgbClr val="0F172A"/>
          </a:solidFill>
          <a:ln/>
        </p:spPr>
      </p:sp>
      <p:sp>
        <p:nvSpPr>
          <p:cNvPr id="74" name="Text 72"/>
          <p:cNvSpPr/>
          <p:nvPr/>
        </p:nvSpPr>
        <p:spPr>
          <a:xfrm>
            <a:off x="6318504" y="1060704"/>
            <a:ext cx="1755648" cy="329184"/>
          </a:xfrm>
          <a:prstGeom prst="rect">
            <a:avLst/>
          </a:prstGeom>
          <a:noFill/>
          <a:ln/>
        </p:spPr>
        <p:txBody>
          <a:bodyPr wrap="square"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SonyLIV</a:t>
            </a:r>
            <a:endParaRPr lang="en-US" sz="1200" dirty="0"/>
          </a:p>
        </p:txBody>
      </p:sp>
      <p:sp>
        <p:nvSpPr>
          <p:cNvPr id="75" name="Text 73"/>
          <p:cNvSpPr/>
          <p:nvPr/>
        </p:nvSpPr>
        <p:spPr>
          <a:xfrm>
            <a:off x="6318504" y="1389888"/>
            <a:ext cx="1755648" cy="219456"/>
          </a:xfrm>
          <a:prstGeom prst="rect">
            <a:avLst/>
          </a:prstGeom>
          <a:noFill/>
          <a:ln/>
        </p:spPr>
        <p:txBody>
          <a:bodyPr wrap="square" rtlCol="0" anchor="ctr"/>
          <a:lstStyle/>
          <a:p>
            <a:pPr algn="ctr" indent="0" marL="0">
              <a:buNone/>
            </a:pPr>
            <a:r>
              <a:rPr lang="en-US" sz="850" b="1" dirty="0">
                <a:solidFill>
                  <a:srgbClr val="DC2626"/>
                </a:solidFill>
                <a:latin typeface="Calibri" pitchFamily="34" charset="0"/>
                <a:ea typeface="Calibri" pitchFamily="34" charset="-122"/>
                <a:cs typeface="Calibri" pitchFamily="34" charset="-120"/>
              </a:rPr>
              <a:t>Moderate</a:t>
            </a:r>
            <a:endParaRPr lang="en-US" sz="850" dirty="0"/>
          </a:p>
        </p:txBody>
      </p:sp>
      <p:sp>
        <p:nvSpPr>
          <p:cNvPr id="76" name="Shape 74"/>
          <p:cNvSpPr/>
          <p:nvPr/>
        </p:nvSpPr>
        <p:spPr>
          <a:xfrm>
            <a:off x="6629400" y="1783080"/>
            <a:ext cx="1143000" cy="804672"/>
          </a:xfrm>
          <a:prstGeom prst="rect">
            <a:avLst/>
          </a:prstGeom>
          <a:solidFill>
            <a:srgbClr val="F59E0B"/>
          </a:solidFill>
          <a:ln/>
        </p:spPr>
      </p:sp>
      <p:sp>
        <p:nvSpPr>
          <p:cNvPr id="77" name="Text 75"/>
          <p:cNvSpPr/>
          <p:nvPr/>
        </p:nvSpPr>
        <p:spPr>
          <a:xfrm>
            <a:off x="6629400" y="1810512"/>
            <a:ext cx="1143000" cy="530352"/>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28</a:t>
            </a:r>
            <a:endParaRPr lang="en-US" sz="3600" dirty="0"/>
          </a:p>
        </p:txBody>
      </p:sp>
      <p:sp>
        <p:nvSpPr>
          <p:cNvPr id="78" name="Text 76"/>
          <p:cNvSpPr/>
          <p:nvPr/>
        </p:nvSpPr>
        <p:spPr>
          <a:xfrm>
            <a:off x="6629400" y="2340864"/>
            <a:ext cx="1143000" cy="2286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NPS</a:t>
            </a:r>
            <a:endParaRPr lang="en-US" sz="900" dirty="0"/>
          </a:p>
        </p:txBody>
      </p:sp>
      <p:sp>
        <p:nvSpPr>
          <p:cNvPr id="79" name="Text 77"/>
          <p:cNvSpPr/>
          <p:nvPr/>
        </p:nvSpPr>
        <p:spPr>
          <a:xfrm>
            <a:off x="6318504" y="2761488"/>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Promoters</a:t>
            </a:r>
            <a:endParaRPr lang="en-US" sz="750" dirty="0"/>
          </a:p>
        </p:txBody>
      </p:sp>
      <p:sp>
        <p:nvSpPr>
          <p:cNvPr id="80" name="Text 78"/>
          <p:cNvSpPr/>
          <p:nvPr/>
        </p:nvSpPr>
        <p:spPr>
          <a:xfrm>
            <a:off x="7132320" y="2761488"/>
            <a:ext cx="914400" cy="228600"/>
          </a:xfrm>
          <a:prstGeom prst="rect">
            <a:avLst/>
          </a:prstGeom>
          <a:noFill/>
          <a:ln/>
        </p:spPr>
        <p:txBody>
          <a:bodyPr wrap="square"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41%</a:t>
            </a:r>
            <a:endParaRPr lang="en-US" sz="850" dirty="0"/>
          </a:p>
        </p:txBody>
      </p:sp>
      <p:sp>
        <p:nvSpPr>
          <p:cNvPr id="81" name="Shape 79"/>
          <p:cNvSpPr/>
          <p:nvPr/>
        </p:nvSpPr>
        <p:spPr>
          <a:xfrm>
            <a:off x="6318504" y="3008376"/>
            <a:ext cx="693572" cy="292608"/>
          </a:xfrm>
          <a:prstGeom prst="rect">
            <a:avLst/>
          </a:prstGeom>
          <a:solidFill>
            <a:srgbClr val="22C55E"/>
          </a:solidFill>
          <a:ln/>
        </p:spPr>
      </p:sp>
      <p:sp>
        <p:nvSpPr>
          <p:cNvPr id="82" name="Text 80"/>
          <p:cNvSpPr/>
          <p:nvPr/>
        </p:nvSpPr>
        <p:spPr>
          <a:xfrm>
            <a:off x="6336792" y="3026664"/>
            <a:ext cx="620420"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41%</a:t>
            </a:r>
            <a:endParaRPr lang="en-US" sz="800" dirty="0"/>
          </a:p>
        </p:txBody>
      </p:sp>
      <p:sp>
        <p:nvSpPr>
          <p:cNvPr id="83" name="Text 81"/>
          <p:cNvSpPr/>
          <p:nvPr/>
        </p:nvSpPr>
        <p:spPr>
          <a:xfrm>
            <a:off x="6318504" y="3474720"/>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Passives</a:t>
            </a:r>
            <a:endParaRPr lang="en-US" sz="750" dirty="0"/>
          </a:p>
        </p:txBody>
      </p:sp>
      <p:sp>
        <p:nvSpPr>
          <p:cNvPr id="84" name="Text 82"/>
          <p:cNvSpPr/>
          <p:nvPr/>
        </p:nvSpPr>
        <p:spPr>
          <a:xfrm>
            <a:off x="7132320" y="3474720"/>
            <a:ext cx="914400" cy="228600"/>
          </a:xfrm>
          <a:prstGeom prst="rect">
            <a:avLst/>
          </a:prstGeom>
          <a:noFill/>
          <a:ln/>
        </p:spPr>
        <p:txBody>
          <a:bodyPr wrap="square" rtlCol="0" anchor="ctr"/>
          <a:lstStyle/>
          <a:p>
            <a:pPr algn="r" indent="0" marL="0">
              <a:buNone/>
            </a:pPr>
            <a:r>
              <a:rPr lang="en-US" sz="850" b="1" dirty="0">
                <a:solidFill>
                  <a:srgbClr val="94A3B8"/>
                </a:solidFill>
                <a:latin typeface="Calibri" pitchFamily="34" charset="0"/>
                <a:ea typeface="Calibri" pitchFamily="34" charset="-122"/>
                <a:cs typeface="Calibri" pitchFamily="34" charset="-120"/>
              </a:rPr>
              <a:t>33%</a:t>
            </a:r>
            <a:endParaRPr lang="en-US" sz="850" dirty="0"/>
          </a:p>
        </p:txBody>
      </p:sp>
      <p:sp>
        <p:nvSpPr>
          <p:cNvPr id="85" name="Shape 83"/>
          <p:cNvSpPr/>
          <p:nvPr/>
        </p:nvSpPr>
        <p:spPr>
          <a:xfrm>
            <a:off x="6318504" y="3721608"/>
            <a:ext cx="558241" cy="292608"/>
          </a:xfrm>
          <a:prstGeom prst="rect">
            <a:avLst/>
          </a:prstGeom>
          <a:solidFill>
            <a:srgbClr val="94A3B8"/>
          </a:solidFill>
          <a:ln/>
        </p:spPr>
      </p:sp>
      <p:sp>
        <p:nvSpPr>
          <p:cNvPr id="86" name="Text 84"/>
          <p:cNvSpPr/>
          <p:nvPr/>
        </p:nvSpPr>
        <p:spPr>
          <a:xfrm>
            <a:off x="6336792" y="3739896"/>
            <a:ext cx="485089"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33%</a:t>
            </a:r>
            <a:endParaRPr lang="en-US" sz="800" dirty="0"/>
          </a:p>
        </p:txBody>
      </p:sp>
      <p:sp>
        <p:nvSpPr>
          <p:cNvPr id="87" name="Text 85"/>
          <p:cNvSpPr/>
          <p:nvPr/>
        </p:nvSpPr>
        <p:spPr>
          <a:xfrm>
            <a:off x="6318504" y="4187952"/>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Detractors</a:t>
            </a:r>
            <a:endParaRPr lang="en-US" sz="750" dirty="0"/>
          </a:p>
        </p:txBody>
      </p:sp>
      <p:sp>
        <p:nvSpPr>
          <p:cNvPr id="88" name="Text 86"/>
          <p:cNvSpPr/>
          <p:nvPr/>
        </p:nvSpPr>
        <p:spPr>
          <a:xfrm>
            <a:off x="7132320" y="4187952"/>
            <a:ext cx="914400" cy="228600"/>
          </a:xfrm>
          <a:prstGeom prst="rect">
            <a:avLst/>
          </a:prstGeom>
          <a:noFill/>
          <a:ln/>
        </p:spPr>
        <p:txBody>
          <a:bodyPr wrap="square" rtlCol="0" anchor="ctr"/>
          <a:lstStyle/>
          <a:p>
            <a:pPr algn="r" indent="0" marL="0">
              <a:buNone/>
            </a:pPr>
            <a:r>
              <a:rPr lang="en-US" sz="850" b="1" dirty="0">
                <a:solidFill>
                  <a:srgbClr val="EF4444"/>
                </a:solidFill>
                <a:latin typeface="Calibri" pitchFamily="34" charset="0"/>
                <a:ea typeface="Calibri" pitchFamily="34" charset="-122"/>
                <a:cs typeface="Calibri" pitchFamily="34" charset="-120"/>
              </a:rPr>
              <a:t>31%</a:t>
            </a:r>
            <a:endParaRPr lang="en-US" sz="850" dirty="0"/>
          </a:p>
        </p:txBody>
      </p:sp>
      <p:sp>
        <p:nvSpPr>
          <p:cNvPr id="89" name="Shape 87"/>
          <p:cNvSpPr/>
          <p:nvPr/>
        </p:nvSpPr>
        <p:spPr>
          <a:xfrm>
            <a:off x="6318504" y="4434840"/>
            <a:ext cx="524408" cy="292608"/>
          </a:xfrm>
          <a:prstGeom prst="rect">
            <a:avLst/>
          </a:prstGeom>
          <a:solidFill>
            <a:srgbClr val="EF4444"/>
          </a:solidFill>
          <a:ln/>
        </p:spPr>
      </p:sp>
      <p:sp>
        <p:nvSpPr>
          <p:cNvPr id="90" name="Text 88"/>
          <p:cNvSpPr/>
          <p:nvPr/>
        </p:nvSpPr>
        <p:spPr>
          <a:xfrm>
            <a:off x="6336792" y="4453128"/>
            <a:ext cx="451256"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31%</a:t>
            </a:r>
            <a:endParaRPr lang="en-US" sz="800" dirty="0"/>
          </a:p>
        </p:txBody>
      </p:sp>
      <p:sp>
        <p:nvSpPr>
          <p:cNvPr id="91" name="Text 89"/>
          <p:cNvSpPr/>
          <p:nvPr/>
        </p:nvSpPr>
        <p:spPr>
          <a:xfrm>
            <a:off x="6318504" y="4974336"/>
            <a:ext cx="1783080" cy="566928"/>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Event-driven loyalty. Low baseline. Strong originals strategy needed.</a:t>
            </a:r>
            <a:endParaRPr lang="en-US" sz="800" dirty="0"/>
          </a:p>
        </p:txBody>
      </p:sp>
      <p:sp>
        <p:nvSpPr>
          <p:cNvPr id="92" name="Shape 90"/>
          <p:cNvSpPr/>
          <p:nvPr/>
        </p:nvSpPr>
        <p:spPr>
          <a:xfrm>
            <a:off x="8266176" y="960120"/>
            <a:ext cx="1874520" cy="559612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93" name="Shape 91"/>
          <p:cNvSpPr/>
          <p:nvPr/>
        </p:nvSpPr>
        <p:spPr>
          <a:xfrm>
            <a:off x="8266176" y="960120"/>
            <a:ext cx="1874520" cy="73152"/>
          </a:xfrm>
          <a:prstGeom prst="rect">
            <a:avLst/>
          </a:prstGeom>
          <a:solidFill>
            <a:srgbClr val="7C3AED"/>
          </a:solidFill>
          <a:ln/>
        </p:spPr>
      </p:sp>
      <p:sp>
        <p:nvSpPr>
          <p:cNvPr id="94" name="Shape 92"/>
          <p:cNvSpPr/>
          <p:nvPr/>
        </p:nvSpPr>
        <p:spPr>
          <a:xfrm>
            <a:off x="8266176" y="1005840"/>
            <a:ext cx="1874520" cy="658368"/>
          </a:xfrm>
          <a:prstGeom prst="rect">
            <a:avLst/>
          </a:prstGeom>
          <a:solidFill>
            <a:srgbClr val="0F172A"/>
          </a:solidFill>
          <a:ln/>
        </p:spPr>
      </p:sp>
      <p:sp>
        <p:nvSpPr>
          <p:cNvPr id="95" name="Text 93"/>
          <p:cNvSpPr/>
          <p:nvPr/>
        </p:nvSpPr>
        <p:spPr>
          <a:xfrm>
            <a:off x="8321040" y="1060704"/>
            <a:ext cx="1755648" cy="329184"/>
          </a:xfrm>
          <a:prstGeom prst="rect">
            <a:avLst/>
          </a:prstGeom>
          <a:noFill/>
          <a:ln/>
        </p:spPr>
        <p:txBody>
          <a:bodyPr wrap="square"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ZEE5</a:t>
            </a:r>
            <a:endParaRPr lang="en-US" sz="1200" dirty="0"/>
          </a:p>
        </p:txBody>
      </p:sp>
      <p:sp>
        <p:nvSpPr>
          <p:cNvPr id="96" name="Text 94"/>
          <p:cNvSpPr/>
          <p:nvPr/>
        </p:nvSpPr>
        <p:spPr>
          <a:xfrm>
            <a:off x="8321040" y="1389888"/>
            <a:ext cx="1755648" cy="219456"/>
          </a:xfrm>
          <a:prstGeom prst="rect">
            <a:avLst/>
          </a:prstGeom>
          <a:noFill/>
          <a:ln/>
        </p:spPr>
        <p:txBody>
          <a:bodyPr wrap="square" rtlCol="0" anchor="ctr"/>
          <a:lstStyle/>
          <a:p>
            <a:pPr algn="ctr" indent="0" marL="0">
              <a:buNone/>
            </a:pPr>
            <a:r>
              <a:rPr lang="en-US" sz="850" b="1" dirty="0">
                <a:solidFill>
                  <a:srgbClr val="7C3AED"/>
                </a:solidFill>
                <a:latin typeface="Calibri" pitchFamily="34" charset="0"/>
                <a:ea typeface="Calibri" pitchFamily="34" charset="-122"/>
                <a:cs typeface="Calibri" pitchFamily="34" charset="-120"/>
              </a:rPr>
              <a:t>Weak</a:t>
            </a:r>
            <a:endParaRPr lang="en-US" sz="850" dirty="0"/>
          </a:p>
        </p:txBody>
      </p:sp>
      <p:sp>
        <p:nvSpPr>
          <p:cNvPr id="97" name="Shape 95"/>
          <p:cNvSpPr/>
          <p:nvPr/>
        </p:nvSpPr>
        <p:spPr>
          <a:xfrm>
            <a:off x="8631936" y="1783080"/>
            <a:ext cx="1143000" cy="804672"/>
          </a:xfrm>
          <a:prstGeom prst="rect">
            <a:avLst/>
          </a:prstGeom>
          <a:solidFill>
            <a:srgbClr val="F59E0B"/>
          </a:solidFill>
          <a:ln/>
        </p:spPr>
      </p:sp>
      <p:sp>
        <p:nvSpPr>
          <p:cNvPr id="98" name="Text 96"/>
          <p:cNvSpPr/>
          <p:nvPr/>
        </p:nvSpPr>
        <p:spPr>
          <a:xfrm>
            <a:off x="8631936" y="1810512"/>
            <a:ext cx="1143000" cy="530352"/>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22</a:t>
            </a:r>
            <a:endParaRPr lang="en-US" sz="3600" dirty="0"/>
          </a:p>
        </p:txBody>
      </p:sp>
      <p:sp>
        <p:nvSpPr>
          <p:cNvPr id="99" name="Text 97"/>
          <p:cNvSpPr/>
          <p:nvPr/>
        </p:nvSpPr>
        <p:spPr>
          <a:xfrm>
            <a:off x="8631936" y="2340864"/>
            <a:ext cx="1143000" cy="2286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NPS</a:t>
            </a:r>
            <a:endParaRPr lang="en-US" sz="900" dirty="0"/>
          </a:p>
        </p:txBody>
      </p:sp>
      <p:sp>
        <p:nvSpPr>
          <p:cNvPr id="100" name="Text 98"/>
          <p:cNvSpPr/>
          <p:nvPr/>
        </p:nvSpPr>
        <p:spPr>
          <a:xfrm>
            <a:off x="8321040" y="2761488"/>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Promoters</a:t>
            </a:r>
            <a:endParaRPr lang="en-US" sz="750" dirty="0"/>
          </a:p>
        </p:txBody>
      </p:sp>
      <p:sp>
        <p:nvSpPr>
          <p:cNvPr id="101" name="Text 99"/>
          <p:cNvSpPr/>
          <p:nvPr/>
        </p:nvSpPr>
        <p:spPr>
          <a:xfrm>
            <a:off x="9134856" y="2761488"/>
            <a:ext cx="914400" cy="228600"/>
          </a:xfrm>
          <a:prstGeom prst="rect">
            <a:avLst/>
          </a:prstGeom>
          <a:noFill/>
          <a:ln/>
        </p:spPr>
        <p:txBody>
          <a:bodyPr wrap="square"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39%</a:t>
            </a:r>
            <a:endParaRPr lang="en-US" sz="850" dirty="0"/>
          </a:p>
        </p:txBody>
      </p:sp>
      <p:sp>
        <p:nvSpPr>
          <p:cNvPr id="102" name="Shape 100"/>
          <p:cNvSpPr/>
          <p:nvPr/>
        </p:nvSpPr>
        <p:spPr>
          <a:xfrm>
            <a:off x="8321040" y="3008376"/>
            <a:ext cx="659740" cy="292608"/>
          </a:xfrm>
          <a:prstGeom prst="rect">
            <a:avLst/>
          </a:prstGeom>
          <a:solidFill>
            <a:srgbClr val="22C55E"/>
          </a:solidFill>
          <a:ln/>
        </p:spPr>
      </p:sp>
      <p:sp>
        <p:nvSpPr>
          <p:cNvPr id="103" name="Text 101"/>
          <p:cNvSpPr/>
          <p:nvPr/>
        </p:nvSpPr>
        <p:spPr>
          <a:xfrm>
            <a:off x="8339328" y="3026664"/>
            <a:ext cx="586588"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39%</a:t>
            </a:r>
            <a:endParaRPr lang="en-US" sz="800" dirty="0"/>
          </a:p>
        </p:txBody>
      </p:sp>
      <p:sp>
        <p:nvSpPr>
          <p:cNvPr id="104" name="Text 102"/>
          <p:cNvSpPr/>
          <p:nvPr/>
        </p:nvSpPr>
        <p:spPr>
          <a:xfrm>
            <a:off x="8321040" y="3474720"/>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Passives</a:t>
            </a:r>
            <a:endParaRPr lang="en-US" sz="750" dirty="0"/>
          </a:p>
        </p:txBody>
      </p:sp>
      <p:sp>
        <p:nvSpPr>
          <p:cNvPr id="105" name="Text 103"/>
          <p:cNvSpPr/>
          <p:nvPr/>
        </p:nvSpPr>
        <p:spPr>
          <a:xfrm>
            <a:off x="9134856" y="3474720"/>
            <a:ext cx="914400" cy="228600"/>
          </a:xfrm>
          <a:prstGeom prst="rect">
            <a:avLst/>
          </a:prstGeom>
          <a:noFill/>
          <a:ln/>
        </p:spPr>
        <p:txBody>
          <a:bodyPr wrap="square" rtlCol="0" anchor="ctr"/>
          <a:lstStyle/>
          <a:p>
            <a:pPr algn="r" indent="0" marL="0">
              <a:buNone/>
            </a:pPr>
            <a:r>
              <a:rPr lang="en-US" sz="850" b="1" dirty="0">
                <a:solidFill>
                  <a:srgbClr val="94A3B8"/>
                </a:solidFill>
                <a:latin typeface="Calibri" pitchFamily="34" charset="0"/>
                <a:ea typeface="Calibri" pitchFamily="34" charset="-122"/>
                <a:cs typeface="Calibri" pitchFamily="34" charset="-120"/>
              </a:rPr>
              <a:t>35%</a:t>
            </a:r>
            <a:endParaRPr lang="en-US" sz="850" dirty="0"/>
          </a:p>
        </p:txBody>
      </p:sp>
      <p:sp>
        <p:nvSpPr>
          <p:cNvPr id="106" name="Shape 104"/>
          <p:cNvSpPr/>
          <p:nvPr/>
        </p:nvSpPr>
        <p:spPr>
          <a:xfrm>
            <a:off x="8321040" y="3721608"/>
            <a:ext cx="592074" cy="292608"/>
          </a:xfrm>
          <a:prstGeom prst="rect">
            <a:avLst/>
          </a:prstGeom>
          <a:solidFill>
            <a:srgbClr val="94A3B8"/>
          </a:solidFill>
          <a:ln/>
        </p:spPr>
      </p:sp>
      <p:sp>
        <p:nvSpPr>
          <p:cNvPr id="107" name="Text 105"/>
          <p:cNvSpPr/>
          <p:nvPr/>
        </p:nvSpPr>
        <p:spPr>
          <a:xfrm>
            <a:off x="8339328" y="3739896"/>
            <a:ext cx="518922"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35%</a:t>
            </a:r>
            <a:endParaRPr lang="en-US" sz="800" dirty="0"/>
          </a:p>
        </p:txBody>
      </p:sp>
      <p:sp>
        <p:nvSpPr>
          <p:cNvPr id="108" name="Text 106"/>
          <p:cNvSpPr/>
          <p:nvPr/>
        </p:nvSpPr>
        <p:spPr>
          <a:xfrm>
            <a:off x="8321040" y="4187952"/>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Detractors</a:t>
            </a:r>
            <a:endParaRPr lang="en-US" sz="750" dirty="0"/>
          </a:p>
        </p:txBody>
      </p:sp>
      <p:sp>
        <p:nvSpPr>
          <p:cNvPr id="109" name="Text 107"/>
          <p:cNvSpPr/>
          <p:nvPr/>
        </p:nvSpPr>
        <p:spPr>
          <a:xfrm>
            <a:off x="9134856" y="4187952"/>
            <a:ext cx="914400" cy="228600"/>
          </a:xfrm>
          <a:prstGeom prst="rect">
            <a:avLst/>
          </a:prstGeom>
          <a:noFill/>
          <a:ln/>
        </p:spPr>
        <p:txBody>
          <a:bodyPr wrap="square" rtlCol="0" anchor="ctr"/>
          <a:lstStyle/>
          <a:p>
            <a:pPr algn="r" indent="0" marL="0">
              <a:buNone/>
            </a:pPr>
            <a:r>
              <a:rPr lang="en-US" sz="850" b="1" dirty="0">
                <a:solidFill>
                  <a:srgbClr val="EF4444"/>
                </a:solidFill>
                <a:latin typeface="Calibri" pitchFamily="34" charset="0"/>
                <a:ea typeface="Calibri" pitchFamily="34" charset="-122"/>
                <a:cs typeface="Calibri" pitchFamily="34" charset="-120"/>
              </a:rPr>
              <a:t>39%</a:t>
            </a:r>
            <a:endParaRPr lang="en-US" sz="850" dirty="0"/>
          </a:p>
        </p:txBody>
      </p:sp>
      <p:sp>
        <p:nvSpPr>
          <p:cNvPr id="110" name="Shape 108"/>
          <p:cNvSpPr/>
          <p:nvPr/>
        </p:nvSpPr>
        <p:spPr>
          <a:xfrm>
            <a:off x="8321040" y="4434840"/>
            <a:ext cx="659740" cy="292608"/>
          </a:xfrm>
          <a:prstGeom prst="rect">
            <a:avLst/>
          </a:prstGeom>
          <a:solidFill>
            <a:srgbClr val="EF4444"/>
          </a:solidFill>
          <a:ln/>
        </p:spPr>
      </p:sp>
      <p:sp>
        <p:nvSpPr>
          <p:cNvPr id="111" name="Text 109"/>
          <p:cNvSpPr/>
          <p:nvPr/>
        </p:nvSpPr>
        <p:spPr>
          <a:xfrm>
            <a:off x="8339328" y="4453128"/>
            <a:ext cx="586588"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39%</a:t>
            </a:r>
            <a:endParaRPr lang="en-US" sz="800" dirty="0"/>
          </a:p>
        </p:txBody>
      </p:sp>
      <p:sp>
        <p:nvSpPr>
          <p:cNvPr id="112" name="Text 110"/>
          <p:cNvSpPr/>
          <p:nvPr/>
        </p:nvSpPr>
        <p:spPr>
          <a:xfrm>
            <a:off x="8321040" y="4974336"/>
            <a:ext cx="1783080" cy="566928"/>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Regional depth helps but no national breakout content to convert passives.</a:t>
            </a:r>
            <a:endParaRPr lang="en-US" sz="800" dirty="0"/>
          </a:p>
        </p:txBody>
      </p:sp>
      <p:sp>
        <p:nvSpPr>
          <p:cNvPr id="113" name="Shape 111"/>
          <p:cNvSpPr/>
          <p:nvPr/>
        </p:nvSpPr>
        <p:spPr>
          <a:xfrm>
            <a:off x="10268712" y="960120"/>
            <a:ext cx="1874520" cy="559612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114" name="Shape 112"/>
          <p:cNvSpPr/>
          <p:nvPr/>
        </p:nvSpPr>
        <p:spPr>
          <a:xfrm>
            <a:off x="10268712" y="960120"/>
            <a:ext cx="1874520" cy="73152"/>
          </a:xfrm>
          <a:prstGeom prst="rect">
            <a:avLst/>
          </a:prstGeom>
          <a:solidFill>
            <a:srgbClr val="D4A800"/>
          </a:solidFill>
          <a:ln/>
        </p:spPr>
      </p:sp>
      <p:sp>
        <p:nvSpPr>
          <p:cNvPr id="115" name="Shape 113"/>
          <p:cNvSpPr/>
          <p:nvPr/>
        </p:nvSpPr>
        <p:spPr>
          <a:xfrm>
            <a:off x="10268712" y="1005840"/>
            <a:ext cx="1874520" cy="658368"/>
          </a:xfrm>
          <a:prstGeom prst="rect">
            <a:avLst/>
          </a:prstGeom>
          <a:solidFill>
            <a:srgbClr val="0F172A"/>
          </a:solidFill>
          <a:ln/>
        </p:spPr>
      </p:sp>
      <p:sp>
        <p:nvSpPr>
          <p:cNvPr id="116" name="Text 114"/>
          <p:cNvSpPr/>
          <p:nvPr/>
        </p:nvSpPr>
        <p:spPr>
          <a:xfrm>
            <a:off x="10323576" y="1060704"/>
            <a:ext cx="1755648" cy="329184"/>
          </a:xfrm>
          <a:prstGeom prst="rect">
            <a:avLst/>
          </a:prstGeom>
          <a:noFill/>
          <a:ln/>
        </p:spPr>
        <p:txBody>
          <a:bodyPr wrap="square"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DAZN</a:t>
            </a:r>
            <a:endParaRPr lang="en-US" sz="1200" dirty="0"/>
          </a:p>
        </p:txBody>
      </p:sp>
      <p:sp>
        <p:nvSpPr>
          <p:cNvPr id="117" name="Text 115"/>
          <p:cNvSpPr/>
          <p:nvPr/>
        </p:nvSpPr>
        <p:spPr>
          <a:xfrm>
            <a:off x="10323576" y="1389888"/>
            <a:ext cx="1755648" cy="219456"/>
          </a:xfrm>
          <a:prstGeom prst="rect">
            <a:avLst/>
          </a:prstGeom>
          <a:noFill/>
          <a:ln/>
        </p:spPr>
        <p:txBody>
          <a:bodyPr wrap="square" rtlCol="0" anchor="ctr"/>
          <a:lstStyle/>
          <a:p>
            <a:pPr algn="ctr" indent="0" marL="0">
              <a:buNone/>
            </a:pPr>
            <a:r>
              <a:rPr lang="en-US" sz="850" b="1" dirty="0">
                <a:solidFill>
                  <a:srgbClr val="D4A800"/>
                </a:solidFill>
                <a:latin typeface="Calibri" pitchFamily="34" charset="0"/>
                <a:ea typeface="Calibri" pitchFamily="34" charset="-122"/>
                <a:cs typeface="Calibri" pitchFamily="34" charset="-120"/>
              </a:rPr>
              <a:t>⚠️ Critical</a:t>
            </a:r>
            <a:endParaRPr lang="en-US" sz="850" dirty="0"/>
          </a:p>
        </p:txBody>
      </p:sp>
      <p:sp>
        <p:nvSpPr>
          <p:cNvPr id="118" name="Shape 116"/>
          <p:cNvSpPr/>
          <p:nvPr/>
        </p:nvSpPr>
        <p:spPr>
          <a:xfrm>
            <a:off x="10634472" y="1783080"/>
            <a:ext cx="1143000" cy="804672"/>
          </a:xfrm>
          <a:prstGeom prst="rect">
            <a:avLst/>
          </a:prstGeom>
          <a:solidFill>
            <a:srgbClr val="EF4444"/>
          </a:solidFill>
          <a:ln/>
        </p:spPr>
      </p:sp>
      <p:sp>
        <p:nvSpPr>
          <p:cNvPr id="119" name="Text 117"/>
          <p:cNvSpPr/>
          <p:nvPr/>
        </p:nvSpPr>
        <p:spPr>
          <a:xfrm>
            <a:off x="10634472" y="1810512"/>
            <a:ext cx="1143000" cy="530352"/>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10</a:t>
            </a:r>
            <a:endParaRPr lang="en-US" sz="3600" dirty="0"/>
          </a:p>
        </p:txBody>
      </p:sp>
      <p:sp>
        <p:nvSpPr>
          <p:cNvPr id="120" name="Text 118"/>
          <p:cNvSpPr/>
          <p:nvPr/>
        </p:nvSpPr>
        <p:spPr>
          <a:xfrm>
            <a:off x="10634472" y="2340864"/>
            <a:ext cx="1143000" cy="22860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NPS</a:t>
            </a:r>
            <a:endParaRPr lang="en-US" sz="900" dirty="0"/>
          </a:p>
        </p:txBody>
      </p:sp>
      <p:sp>
        <p:nvSpPr>
          <p:cNvPr id="121" name="Text 119"/>
          <p:cNvSpPr/>
          <p:nvPr/>
        </p:nvSpPr>
        <p:spPr>
          <a:xfrm>
            <a:off x="10323576" y="2761488"/>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Promoters</a:t>
            </a:r>
            <a:endParaRPr lang="en-US" sz="750" dirty="0"/>
          </a:p>
        </p:txBody>
      </p:sp>
      <p:sp>
        <p:nvSpPr>
          <p:cNvPr id="122" name="Text 120"/>
          <p:cNvSpPr/>
          <p:nvPr/>
        </p:nvSpPr>
        <p:spPr>
          <a:xfrm>
            <a:off x="11137392" y="2761488"/>
            <a:ext cx="914400" cy="228600"/>
          </a:xfrm>
          <a:prstGeom prst="rect">
            <a:avLst/>
          </a:prstGeom>
          <a:noFill/>
          <a:ln/>
        </p:spPr>
        <p:txBody>
          <a:bodyPr wrap="square"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38%</a:t>
            </a:r>
            <a:endParaRPr lang="en-US" sz="850" dirty="0"/>
          </a:p>
        </p:txBody>
      </p:sp>
      <p:sp>
        <p:nvSpPr>
          <p:cNvPr id="123" name="Shape 121"/>
          <p:cNvSpPr/>
          <p:nvPr/>
        </p:nvSpPr>
        <p:spPr>
          <a:xfrm>
            <a:off x="10323576" y="3008376"/>
            <a:ext cx="642823" cy="292608"/>
          </a:xfrm>
          <a:prstGeom prst="rect">
            <a:avLst/>
          </a:prstGeom>
          <a:solidFill>
            <a:srgbClr val="22C55E"/>
          </a:solidFill>
          <a:ln/>
        </p:spPr>
      </p:sp>
      <p:sp>
        <p:nvSpPr>
          <p:cNvPr id="124" name="Text 122"/>
          <p:cNvSpPr/>
          <p:nvPr/>
        </p:nvSpPr>
        <p:spPr>
          <a:xfrm>
            <a:off x="10341864" y="3026664"/>
            <a:ext cx="569671"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38%</a:t>
            </a:r>
            <a:endParaRPr lang="en-US" sz="800" dirty="0"/>
          </a:p>
        </p:txBody>
      </p:sp>
      <p:sp>
        <p:nvSpPr>
          <p:cNvPr id="125" name="Text 123"/>
          <p:cNvSpPr/>
          <p:nvPr/>
        </p:nvSpPr>
        <p:spPr>
          <a:xfrm>
            <a:off x="10323576" y="3474720"/>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Passives</a:t>
            </a:r>
            <a:endParaRPr lang="en-US" sz="750" dirty="0"/>
          </a:p>
        </p:txBody>
      </p:sp>
      <p:sp>
        <p:nvSpPr>
          <p:cNvPr id="126" name="Text 124"/>
          <p:cNvSpPr/>
          <p:nvPr/>
        </p:nvSpPr>
        <p:spPr>
          <a:xfrm>
            <a:off x="11137392" y="3474720"/>
            <a:ext cx="914400" cy="228600"/>
          </a:xfrm>
          <a:prstGeom prst="rect">
            <a:avLst/>
          </a:prstGeom>
          <a:noFill/>
          <a:ln/>
        </p:spPr>
        <p:txBody>
          <a:bodyPr wrap="square" rtlCol="0" anchor="ctr"/>
          <a:lstStyle/>
          <a:p>
            <a:pPr algn="r" indent="0" marL="0">
              <a:buNone/>
            </a:pPr>
            <a:r>
              <a:rPr lang="en-US" sz="850" b="1" dirty="0">
                <a:solidFill>
                  <a:srgbClr val="94A3B8"/>
                </a:solidFill>
                <a:latin typeface="Calibri" pitchFamily="34" charset="0"/>
                <a:ea typeface="Calibri" pitchFamily="34" charset="-122"/>
                <a:cs typeface="Calibri" pitchFamily="34" charset="-120"/>
              </a:rPr>
              <a:t>34%</a:t>
            </a:r>
            <a:endParaRPr lang="en-US" sz="850" dirty="0"/>
          </a:p>
        </p:txBody>
      </p:sp>
      <p:sp>
        <p:nvSpPr>
          <p:cNvPr id="127" name="Shape 125"/>
          <p:cNvSpPr/>
          <p:nvPr/>
        </p:nvSpPr>
        <p:spPr>
          <a:xfrm>
            <a:off x="10323576" y="3721608"/>
            <a:ext cx="575158" cy="292608"/>
          </a:xfrm>
          <a:prstGeom prst="rect">
            <a:avLst/>
          </a:prstGeom>
          <a:solidFill>
            <a:srgbClr val="94A3B8"/>
          </a:solidFill>
          <a:ln/>
        </p:spPr>
      </p:sp>
      <p:sp>
        <p:nvSpPr>
          <p:cNvPr id="128" name="Text 126"/>
          <p:cNvSpPr/>
          <p:nvPr/>
        </p:nvSpPr>
        <p:spPr>
          <a:xfrm>
            <a:off x="10341864" y="3739896"/>
            <a:ext cx="502006"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34%</a:t>
            </a:r>
            <a:endParaRPr lang="en-US" sz="800" dirty="0"/>
          </a:p>
        </p:txBody>
      </p:sp>
      <p:sp>
        <p:nvSpPr>
          <p:cNvPr id="129" name="Text 127"/>
          <p:cNvSpPr/>
          <p:nvPr/>
        </p:nvSpPr>
        <p:spPr>
          <a:xfrm>
            <a:off x="10323576" y="4187952"/>
            <a:ext cx="914400" cy="228600"/>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Detractors</a:t>
            </a:r>
            <a:endParaRPr lang="en-US" sz="750" dirty="0"/>
          </a:p>
        </p:txBody>
      </p:sp>
      <p:sp>
        <p:nvSpPr>
          <p:cNvPr id="130" name="Text 128"/>
          <p:cNvSpPr/>
          <p:nvPr/>
        </p:nvSpPr>
        <p:spPr>
          <a:xfrm>
            <a:off x="11137392" y="4187952"/>
            <a:ext cx="914400" cy="228600"/>
          </a:xfrm>
          <a:prstGeom prst="rect">
            <a:avLst/>
          </a:prstGeom>
          <a:noFill/>
          <a:ln/>
        </p:spPr>
        <p:txBody>
          <a:bodyPr wrap="square" rtlCol="0" anchor="ctr"/>
          <a:lstStyle/>
          <a:p>
            <a:pPr algn="r" indent="0" marL="0">
              <a:buNone/>
            </a:pPr>
            <a:r>
              <a:rPr lang="en-US" sz="850" b="1" dirty="0">
                <a:solidFill>
                  <a:srgbClr val="EF4444"/>
                </a:solidFill>
                <a:latin typeface="Calibri" pitchFamily="34" charset="0"/>
                <a:ea typeface="Calibri" pitchFamily="34" charset="-122"/>
                <a:cs typeface="Calibri" pitchFamily="34" charset="-120"/>
              </a:rPr>
              <a:t>52%</a:t>
            </a:r>
            <a:endParaRPr lang="en-US" sz="850" dirty="0"/>
          </a:p>
        </p:txBody>
      </p:sp>
      <p:sp>
        <p:nvSpPr>
          <p:cNvPr id="131" name="Shape 129"/>
          <p:cNvSpPr/>
          <p:nvPr/>
        </p:nvSpPr>
        <p:spPr>
          <a:xfrm>
            <a:off x="10323576" y="4434840"/>
            <a:ext cx="879653" cy="292608"/>
          </a:xfrm>
          <a:prstGeom prst="rect">
            <a:avLst/>
          </a:prstGeom>
          <a:solidFill>
            <a:srgbClr val="EF4444"/>
          </a:solidFill>
          <a:ln/>
        </p:spPr>
      </p:sp>
      <p:sp>
        <p:nvSpPr>
          <p:cNvPr id="132" name="Text 130"/>
          <p:cNvSpPr/>
          <p:nvPr/>
        </p:nvSpPr>
        <p:spPr>
          <a:xfrm>
            <a:off x="10341864" y="4453128"/>
            <a:ext cx="806501" cy="256032"/>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52%</a:t>
            </a:r>
            <a:endParaRPr lang="en-US" sz="800" dirty="0"/>
          </a:p>
        </p:txBody>
      </p:sp>
      <p:sp>
        <p:nvSpPr>
          <p:cNvPr id="133" name="Text 131"/>
          <p:cNvSpPr/>
          <p:nvPr/>
        </p:nvSpPr>
        <p:spPr>
          <a:xfrm>
            <a:off x="10323576" y="4974336"/>
            <a:ext cx="1783080" cy="566928"/>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High detractor load from global billing issues. India has NO primary NPS data.</a:t>
            </a:r>
            <a:endParaRPr lang="en-US" sz="800" dirty="0"/>
          </a:p>
        </p:txBody>
      </p:sp>
      <p:sp>
        <p:nvSpPr>
          <p:cNvPr id="134" name="Shape 132"/>
          <p:cNvSpPr/>
          <p:nvPr/>
        </p:nvSpPr>
        <p:spPr>
          <a:xfrm>
            <a:off x="274320" y="6419088"/>
            <a:ext cx="11612880" cy="237744"/>
          </a:xfrm>
          <a:prstGeom prst="rect">
            <a:avLst/>
          </a:prstGeom>
          <a:solidFill>
            <a:srgbClr val="0F172A"/>
          </a:solidFill>
          <a:ln/>
        </p:spPr>
      </p:sp>
      <p:sp>
        <p:nvSpPr>
          <p:cNvPr id="135" name="Shape 133"/>
          <p:cNvSpPr/>
          <p:nvPr/>
        </p:nvSpPr>
        <p:spPr>
          <a:xfrm>
            <a:off x="274320" y="6419088"/>
            <a:ext cx="11612880" cy="36576"/>
          </a:xfrm>
          <a:prstGeom prst="rect">
            <a:avLst/>
          </a:prstGeom>
          <a:solidFill>
            <a:srgbClr val="F7D447"/>
          </a:solidFill>
          <a:ln/>
        </p:spPr>
      </p:sp>
      <p:sp>
        <p:nvSpPr>
          <p:cNvPr id="136" name="Text 134"/>
          <p:cNvSpPr/>
          <p:nvPr/>
        </p:nvSpPr>
        <p:spPr>
          <a:xfrm>
            <a:off x="384048" y="6455664"/>
            <a:ext cx="11430000" cy="182880"/>
          </a:xfrm>
          <a:prstGeom prst="rect">
            <a:avLst/>
          </a:prstGeom>
          <a:noFill/>
          <a:ln/>
        </p:spPr>
        <p:txBody>
          <a:bodyPr wrap="square" rtlCol="0" anchor="ctr"/>
          <a:lstStyle/>
          <a:p>
            <a:pPr indent="0" marL="0">
              <a:buNone/>
            </a:pPr>
            <a:r>
              <a:rPr lang="en-US" sz="800" b="1" dirty="0">
                <a:solidFill>
                  <a:srgbClr val="F7D447"/>
                </a:solidFill>
                <a:latin typeface="Calibri" pitchFamily="34" charset="0"/>
                <a:ea typeface="Calibri" pitchFamily="34" charset="-122"/>
                <a:cs typeface="Calibri" pitchFamily="34" charset="-120"/>
              </a:rPr>
              <a:t>🎯  DAZN India Action Required: NPS of +10 (global proxy) is significantly below industry benchmark. Primary driver of detractors: billing trust issues. India-specific NPS is unmeasured — this is a critical gap. Recommended: Deploy NPS survey to Indian user base within 60 days.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804672"/>
          </a:xfrm>
          <a:prstGeom prst="rect">
            <a:avLst/>
          </a:prstGeom>
          <a:solidFill>
            <a:srgbClr val="0F172A"/>
          </a:solidFill>
          <a:ln/>
        </p:spPr>
      </p:sp>
      <p:sp>
        <p:nvSpPr>
          <p:cNvPr id="3" name="Shape 1"/>
          <p:cNvSpPr/>
          <p:nvPr/>
        </p:nvSpPr>
        <p:spPr>
          <a:xfrm>
            <a:off x="0" y="786384"/>
            <a:ext cx="12161520" cy="64008"/>
          </a:xfrm>
          <a:prstGeom prst="rect">
            <a:avLst/>
          </a:prstGeom>
          <a:solidFill>
            <a:srgbClr val="F7D447"/>
          </a:solidFill>
          <a:ln/>
        </p:spPr>
      </p:sp>
      <p:sp>
        <p:nvSpPr>
          <p:cNvPr id="4" name="Text 2"/>
          <p:cNvSpPr/>
          <p:nvPr/>
        </p:nvSpPr>
        <p:spPr>
          <a:xfrm>
            <a:off x="365760" y="54864"/>
            <a:ext cx="8961120" cy="475488"/>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NSS (Net Sentiment Score) — Social Media Health Dashboard</a:t>
            </a:r>
            <a:endParaRPr lang="en-US" sz="2000" dirty="0"/>
          </a:p>
        </p:txBody>
      </p:sp>
      <p:sp>
        <p:nvSpPr>
          <p:cNvPr id="5" name="Text 3"/>
          <p:cNvSpPr/>
          <p:nvPr/>
        </p:nvSpPr>
        <p:spPr>
          <a:xfrm>
            <a:off x="365760" y="530352"/>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NSS = % Positive Mentions − % Negative Mentions | Source: Social listening pattern analysis, App Store, Trustpilot | 2024–2025</a:t>
            </a:r>
            <a:endParaRPr lang="en-US" sz="950" dirty="0"/>
          </a:p>
        </p:txBody>
      </p:sp>
      <p:sp>
        <p:nvSpPr>
          <p:cNvPr id="6" name="Text 4"/>
          <p:cNvSpPr/>
          <p:nvPr/>
        </p:nvSpPr>
        <p:spPr>
          <a:xfrm>
            <a:off x="9601200" y="228600"/>
            <a:ext cx="2377440" cy="320040"/>
          </a:xfrm>
          <a:prstGeom prst="rect">
            <a:avLst/>
          </a:prstGeom>
          <a:noFill/>
          <a:ln/>
        </p:spPr>
        <p:txBody>
          <a:bodyPr wrap="square" rtlCol="0" anchor="ctr"/>
          <a:lstStyle/>
          <a:p>
            <a:pPr algn="r" indent="0" marL="0">
              <a:buNone/>
            </a:pPr>
            <a:r>
              <a:rPr lang="en-US" sz="850" b="1" dirty="0">
                <a:solidFill>
                  <a:srgbClr val="F7D447"/>
                </a:solidFill>
                <a:latin typeface="Calibri" pitchFamily="34" charset="0"/>
                <a:ea typeface="Calibri" pitchFamily="34" charset="-122"/>
                <a:cs typeface="Calibri" pitchFamily="34" charset="-120"/>
              </a:rPr>
              <a:t>DAZN India  •  Social Listening Report 2025  •  Slide 9</a:t>
            </a:r>
            <a:endParaRPr lang="en-US" sz="850" dirty="0"/>
          </a:p>
        </p:txBody>
      </p:sp>
      <p:sp>
        <p:nvSpPr>
          <p:cNvPr id="7" name="Shape 5"/>
          <p:cNvSpPr/>
          <p:nvPr/>
        </p:nvSpPr>
        <p:spPr>
          <a:xfrm>
            <a:off x="0" y="6675120"/>
            <a:ext cx="12161520" cy="182880"/>
          </a:xfrm>
          <a:prstGeom prst="rect">
            <a:avLst/>
          </a:prstGeom>
          <a:solidFill>
            <a:srgbClr val="0F172A"/>
          </a:solidFill>
          <a:ln/>
        </p:spPr>
      </p:sp>
      <p:sp>
        <p:nvSpPr>
          <p:cNvPr id="8" name="Text 6"/>
          <p:cNvSpPr/>
          <p:nvPr/>
        </p:nvSpPr>
        <p:spPr>
          <a:xfrm>
            <a:off x="274320" y="6684264"/>
            <a:ext cx="11612880" cy="15544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Confidential — For Internal Management Use Only</a:t>
            </a:r>
            <a:endParaRPr lang="en-US" sz="750" dirty="0"/>
          </a:p>
        </p:txBody>
      </p:sp>
      <p:sp>
        <p:nvSpPr>
          <p:cNvPr id="9" name="Shape 7"/>
          <p:cNvSpPr/>
          <p:nvPr/>
        </p:nvSpPr>
        <p:spPr>
          <a:xfrm>
            <a:off x="274320" y="960120"/>
            <a:ext cx="11612880" cy="402336"/>
          </a:xfrm>
          <a:prstGeom prst="rect">
            <a:avLst/>
          </a:prstGeom>
          <a:solidFill>
            <a:srgbClr val="1E293B"/>
          </a:solidFill>
          <a:ln/>
        </p:spPr>
      </p:sp>
      <p:sp>
        <p:nvSpPr>
          <p:cNvPr id="10" name="Text 8"/>
          <p:cNvSpPr/>
          <p:nvPr/>
        </p:nvSpPr>
        <p:spPr>
          <a:xfrm>
            <a:off x="411480" y="978408"/>
            <a:ext cx="11338560" cy="36576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NSS measures overall brand health on social media. A positive NSS means more people speak positively about a brand than negatively. NSS &gt; 30 = Healthy brand. 10–30 = Moderate. &lt; 10 = Brand reputation risk. DAZN India's NSS of +10 (borderline) reflects global trust issues, not deep negative India experience.</a:t>
            </a:r>
            <a:endParaRPr lang="en-US" sz="900" dirty="0"/>
          </a:p>
        </p:txBody>
      </p:sp>
      <p:sp>
        <p:nvSpPr>
          <p:cNvPr id="11" name="Shape 9"/>
          <p:cNvSpPr/>
          <p:nvPr/>
        </p:nvSpPr>
        <p:spPr>
          <a:xfrm>
            <a:off x="274320" y="1463040"/>
            <a:ext cx="1874520" cy="51023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12" name="Shape 10"/>
          <p:cNvSpPr/>
          <p:nvPr/>
        </p:nvSpPr>
        <p:spPr>
          <a:xfrm>
            <a:off x="274320" y="1463040"/>
            <a:ext cx="1874520" cy="73152"/>
          </a:xfrm>
          <a:prstGeom prst="rect">
            <a:avLst/>
          </a:prstGeom>
          <a:solidFill>
            <a:srgbClr val="E50914"/>
          </a:solidFill>
          <a:ln/>
        </p:spPr>
      </p:sp>
      <p:sp>
        <p:nvSpPr>
          <p:cNvPr id="13" name="Shape 11"/>
          <p:cNvSpPr/>
          <p:nvPr/>
        </p:nvSpPr>
        <p:spPr>
          <a:xfrm>
            <a:off x="274320" y="1508760"/>
            <a:ext cx="1874520" cy="530352"/>
          </a:xfrm>
          <a:prstGeom prst="rect">
            <a:avLst/>
          </a:prstGeom>
          <a:solidFill>
            <a:srgbClr val="0F172A"/>
          </a:solidFill>
          <a:ln/>
        </p:spPr>
      </p:sp>
      <p:sp>
        <p:nvSpPr>
          <p:cNvPr id="14" name="Text 12"/>
          <p:cNvSpPr/>
          <p:nvPr/>
        </p:nvSpPr>
        <p:spPr>
          <a:xfrm>
            <a:off x="329184" y="1545336"/>
            <a:ext cx="1755648" cy="274320"/>
          </a:xfrm>
          <a:prstGeom prst="rect">
            <a:avLst/>
          </a:prstGeom>
          <a:noFill/>
          <a:ln/>
        </p:spPr>
        <p:txBody>
          <a:bodyPr wrap="square"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Netflix India</a:t>
            </a:r>
            <a:endParaRPr lang="en-US" sz="1000" dirty="0"/>
          </a:p>
        </p:txBody>
      </p:sp>
      <p:sp>
        <p:nvSpPr>
          <p:cNvPr id="15" name="Text 13"/>
          <p:cNvSpPr/>
          <p:nvPr/>
        </p:nvSpPr>
        <p:spPr>
          <a:xfrm>
            <a:off x="329184" y="1828800"/>
            <a:ext cx="1755648" cy="182880"/>
          </a:xfrm>
          <a:prstGeom prst="rect">
            <a:avLst/>
          </a:prstGeom>
          <a:noFill/>
          <a:ln/>
        </p:spPr>
        <p:txBody>
          <a:bodyPr wrap="square" rtlCol="0" anchor="ctr"/>
          <a:lstStyle/>
          <a:p>
            <a:pPr algn="ctr" indent="0" marL="0">
              <a:buNone/>
            </a:pPr>
            <a:r>
              <a:rPr lang="en-US" sz="750" b="1" dirty="0">
                <a:solidFill>
                  <a:srgbClr val="E50914"/>
                </a:solidFill>
                <a:latin typeface="Calibri" pitchFamily="34" charset="0"/>
                <a:ea typeface="Calibri" pitchFamily="34" charset="-122"/>
                <a:cs typeface="Calibri" pitchFamily="34" charset="-120"/>
              </a:rPr>
              <a:t>Industry Best</a:t>
            </a:r>
            <a:endParaRPr lang="en-US" sz="750" dirty="0"/>
          </a:p>
        </p:txBody>
      </p:sp>
      <p:sp>
        <p:nvSpPr>
          <p:cNvPr id="16" name="Shape 14"/>
          <p:cNvSpPr/>
          <p:nvPr/>
        </p:nvSpPr>
        <p:spPr>
          <a:xfrm>
            <a:off x="594360" y="2103120"/>
            <a:ext cx="1234440" cy="731520"/>
          </a:xfrm>
          <a:prstGeom prst="rect">
            <a:avLst/>
          </a:prstGeom>
          <a:solidFill>
            <a:srgbClr val="22C55E"/>
          </a:solidFill>
          <a:ln/>
        </p:spPr>
      </p:sp>
      <p:sp>
        <p:nvSpPr>
          <p:cNvPr id="17" name="Text 15"/>
          <p:cNvSpPr/>
          <p:nvPr/>
        </p:nvSpPr>
        <p:spPr>
          <a:xfrm>
            <a:off x="594360" y="2121408"/>
            <a:ext cx="1234440" cy="530352"/>
          </a:xfrm>
          <a:prstGeom prst="rect">
            <a:avLst/>
          </a:prstGeom>
          <a:noFill/>
          <a:ln/>
        </p:spPr>
        <p:txBody>
          <a:bodyPr wrap="square" rtlCol="0" anchor="ctr"/>
          <a:lstStyle/>
          <a:p>
            <a:pPr algn="ctr" indent="0" marL="0">
              <a:buNone/>
            </a:pPr>
            <a:r>
              <a:rPr lang="en-US" sz="3000" b="1" dirty="0">
                <a:solidFill>
                  <a:srgbClr val="FFFFFF"/>
                </a:solidFill>
                <a:latin typeface="Arial Black" pitchFamily="34" charset="0"/>
                <a:ea typeface="Arial Black" pitchFamily="34" charset="-122"/>
                <a:cs typeface="Arial Black" pitchFamily="34" charset="-120"/>
              </a:rPr>
              <a:t>+41</a:t>
            </a:r>
            <a:endParaRPr lang="en-US" sz="3000" dirty="0"/>
          </a:p>
        </p:txBody>
      </p:sp>
      <p:sp>
        <p:nvSpPr>
          <p:cNvPr id="18" name="Text 16"/>
          <p:cNvSpPr/>
          <p:nvPr/>
        </p:nvSpPr>
        <p:spPr>
          <a:xfrm>
            <a:off x="594360" y="2651760"/>
            <a:ext cx="1234440" cy="18288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NSS</a:t>
            </a:r>
            <a:endParaRPr lang="en-US" sz="850" dirty="0"/>
          </a:p>
        </p:txBody>
      </p:sp>
      <p:sp>
        <p:nvSpPr>
          <p:cNvPr id="19" name="Text 17"/>
          <p:cNvSpPr/>
          <p:nvPr/>
        </p:nvSpPr>
        <p:spPr>
          <a:xfrm>
            <a:off x="329184" y="2944368"/>
            <a:ext cx="1755648" cy="228600"/>
          </a:xfrm>
          <a:prstGeom prst="rect">
            <a:avLst/>
          </a:prstGeom>
          <a:noFill/>
          <a:ln/>
        </p:spPr>
        <p:txBody>
          <a:bodyPr wrap="square" rtlCol="0" anchor="ctr"/>
          <a:lstStyle/>
          <a:p>
            <a:pPr algn="ctr" indent="0" marL="0">
              <a:buNone/>
            </a:pPr>
            <a:r>
              <a:rPr lang="en-US" sz="850" b="1" dirty="0">
                <a:solidFill>
                  <a:srgbClr val="22C55E"/>
                </a:solidFill>
                <a:latin typeface="Calibri" pitchFamily="34" charset="0"/>
                <a:ea typeface="Calibri" pitchFamily="34" charset="-122"/>
                <a:cs typeface="Calibri" pitchFamily="34" charset="-120"/>
              </a:rPr>
              <a:t>✅ 58% Positive</a:t>
            </a:r>
            <a:endParaRPr lang="en-US" sz="850" dirty="0"/>
          </a:p>
        </p:txBody>
      </p:sp>
      <p:sp>
        <p:nvSpPr>
          <p:cNvPr id="20" name="Text 18"/>
          <p:cNvSpPr/>
          <p:nvPr/>
        </p:nvSpPr>
        <p:spPr>
          <a:xfrm>
            <a:off x="329184" y="3200400"/>
            <a:ext cx="1755648" cy="228600"/>
          </a:xfrm>
          <a:prstGeom prst="rect">
            <a:avLst/>
          </a:prstGeom>
          <a:noFill/>
          <a:ln/>
        </p:spPr>
        <p:txBody>
          <a:bodyPr wrap="square" rtlCol="0" anchor="ctr"/>
          <a:lstStyle/>
          <a:p>
            <a:pPr algn="ctr" indent="0" marL="0">
              <a:buNone/>
            </a:pPr>
            <a:r>
              <a:rPr lang="en-US" sz="850" b="1" dirty="0">
                <a:solidFill>
                  <a:srgbClr val="EF4444"/>
                </a:solidFill>
                <a:latin typeface="Calibri" pitchFamily="34" charset="0"/>
                <a:ea typeface="Calibri" pitchFamily="34" charset="-122"/>
                <a:cs typeface="Calibri" pitchFamily="34" charset="-120"/>
              </a:rPr>
              <a:t>❌ 17% Negative</a:t>
            </a:r>
            <a:endParaRPr lang="en-US" sz="850" dirty="0"/>
          </a:p>
        </p:txBody>
      </p:sp>
      <p:sp>
        <p:nvSpPr>
          <p:cNvPr id="21" name="Text 19"/>
          <p:cNvSpPr/>
          <p:nvPr/>
        </p:nvSpPr>
        <p:spPr>
          <a:xfrm>
            <a:off x="329184" y="3456432"/>
            <a:ext cx="1755648" cy="201168"/>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Vol: 1.5M/mo</a:t>
            </a:r>
            <a:endParaRPr lang="en-US" sz="800" dirty="0"/>
          </a:p>
        </p:txBody>
      </p:sp>
      <p:sp>
        <p:nvSpPr>
          <p:cNvPr id="22" name="Text 20"/>
          <p:cNvSpPr/>
          <p:nvPr/>
        </p:nvSpPr>
        <p:spPr>
          <a:xfrm>
            <a:off x="329184" y="3712464"/>
            <a:ext cx="1755648" cy="219456"/>
          </a:xfrm>
          <a:prstGeom prst="rect">
            <a:avLst/>
          </a:prstGeom>
          <a:noFill/>
          <a:ln/>
        </p:spPr>
        <p:txBody>
          <a:bodyPr wrap="square" rtlCol="0" anchor="ctr"/>
          <a:lstStyle/>
          <a:p>
            <a:pPr indent="0" marL="0">
              <a:buNone/>
            </a:pPr>
            <a:r>
              <a:rPr lang="en-US" sz="750" b="1" dirty="0">
                <a:solidFill>
                  <a:srgbClr val="22C55E"/>
                </a:solidFill>
                <a:latin typeface="Calibri" pitchFamily="34" charset="0"/>
                <a:ea typeface="Calibri" pitchFamily="34" charset="-122"/>
                <a:cs typeface="Calibri" pitchFamily="34" charset="-120"/>
              </a:rPr>
              <a:t>↑ NSS Drivers</a:t>
            </a:r>
            <a:endParaRPr lang="en-US" sz="750" dirty="0"/>
          </a:p>
        </p:txBody>
      </p:sp>
      <p:sp>
        <p:nvSpPr>
          <p:cNvPr id="23" name="Text 21"/>
          <p:cNvSpPr/>
          <p:nvPr/>
        </p:nvSpPr>
        <p:spPr>
          <a:xfrm>
            <a:off x="347472" y="393192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Viral show launches</a:t>
            </a:r>
            <a:endParaRPr lang="en-US" sz="750" dirty="0"/>
          </a:p>
        </p:txBody>
      </p:sp>
      <p:sp>
        <p:nvSpPr>
          <p:cNvPr id="24" name="Text 22"/>
          <p:cNvSpPr/>
          <p:nvPr/>
        </p:nvSpPr>
        <p:spPr>
          <a:xfrm>
            <a:off x="347472" y="4169664"/>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Cast promotions</a:t>
            </a:r>
            <a:endParaRPr lang="en-US" sz="750" dirty="0"/>
          </a:p>
        </p:txBody>
      </p:sp>
      <p:sp>
        <p:nvSpPr>
          <p:cNvPr id="25" name="Text 23"/>
          <p:cNvSpPr/>
          <p:nvPr/>
        </p:nvSpPr>
        <p:spPr>
          <a:xfrm>
            <a:off x="347472" y="4407408"/>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Premium UX</a:t>
            </a:r>
            <a:endParaRPr lang="en-US" sz="750" dirty="0"/>
          </a:p>
        </p:txBody>
      </p:sp>
      <p:sp>
        <p:nvSpPr>
          <p:cNvPr id="26" name="Text 24"/>
          <p:cNvSpPr/>
          <p:nvPr/>
        </p:nvSpPr>
        <p:spPr>
          <a:xfrm>
            <a:off x="329184" y="4663440"/>
            <a:ext cx="1755648" cy="219456"/>
          </a:xfrm>
          <a:prstGeom prst="rect">
            <a:avLst/>
          </a:prstGeom>
          <a:noFill/>
          <a:ln/>
        </p:spPr>
        <p:txBody>
          <a:bodyPr wrap="square" rtlCol="0" anchor="ctr"/>
          <a:lstStyle/>
          <a:p>
            <a:pPr indent="0" marL="0">
              <a:buNone/>
            </a:pPr>
            <a:r>
              <a:rPr lang="en-US" sz="750" b="1" dirty="0">
                <a:solidFill>
                  <a:srgbClr val="EF4444"/>
                </a:solidFill>
                <a:latin typeface="Calibri" pitchFamily="34" charset="0"/>
                <a:ea typeface="Calibri" pitchFamily="34" charset="-122"/>
                <a:cs typeface="Calibri" pitchFamily="34" charset="-120"/>
              </a:rPr>
              <a:t>↓ NSS Risks</a:t>
            </a:r>
            <a:endParaRPr lang="en-US" sz="750" dirty="0"/>
          </a:p>
        </p:txBody>
      </p:sp>
      <p:sp>
        <p:nvSpPr>
          <p:cNvPr id="27" name="Text 25"/>
          <p:cNvSpPr/>
          <p:nvPr/>
        </p:nvSpPr>
        <p:spPr>
          <a:xfrm>
            <a:off x="347472" y="4882896"/>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Pricing backlash</a:t>
            </a:r>
            <a:endParaRPr lang="en-US" sz="750" dirty="0"/>
          </a:p>
        </p:txBody>
      </p:sp>
      <p:sp>
        <p:nvSpPr>
          <p:cNvPr id="28" name="Text 26"/>
          <p:cNvSpPr/>
          <p:nvPr/>
        </p:nvSpPr>
        <p:spPr>
          <a:xfrm>
            <a:off x="347472" y="512064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Password ban</a:t>
            </a:r>
            <a:endParaRPr lang="en-US" sz="750" dirty="0"/>
          </a:p>
        </p:txBody>
      </p:sp>
      <p:sp>
        <p:nvSpPr>
          <p:cNvPr id="29" name="Shape 27"/>
          <p:cNvSpPr/>
          <p:nvPr/>
        </p:nvSpPr>
        <p:spPr>
          <a:xfrm>
            <a:off x="329184" y="5394960"/>
            <a:ext cx="1737360" cy="219456"/>
          </a:xfrm>
          <a:prstGeom prst="rect">
            <a:avLst/>
          </a:prstGeom>
          <a:solidFill>
            <a:srgbClr val="DCFCE7"/>
          </a:solidFill>
          <a:ln/>
        </p:spPr>
      </p:sp>
      <p:sp>
        <p:nvSpPr>
          <p:cNvPr id="30" name="Text 28"/>
          <p:cNvSpPr/>
          <p:nvPr/>
        </p:nvSpPr>
        <p:spPr>
          <a:xfrm>
            <a:off x="347472" y="5413248"/>
            <a:ext cx="1700784" cy="182880"/>
          </a:xfrm>
          <a:prstGeom prst="rect">
            <a:avLst/>
          </a:prstGeom>
          <a:noFill/>
          <a:ln/>
        </p:spPr>
        <p:txBody>
          <a:bodyPr wrap="square" rtlCol="0" anchor="ctr"/>
          <a:lstStyle/>
          <a:p>
            <a:pPr algn="ctr" indent="0" marL="0">
              <a:buNone/>
            </a:pPr>
            <a:r>
              <a:rPr lang="en-US" sz="800" b="1" dirty="0">
                <a:solidFill>
                  <a:srgbClr val="0F172A"/>
                </a:solidFill>
                <a:latin typeface="Calibri" pitchFamily="34" charset="0"/>
                <a:ea typeface="Calibri" pitchFamily="34" charset="-122"/>
                <a:cs typeface="Calibri" pitchFamily="34" charset="-120"/>
              </a:rPr>
              <a:t>Trend: Stable</a:t>
            </a:r>
            <a:endParaRPr lang="en-US" sz="800" dirty="0"/>
          </a:p>
        </p:txBody>
      </p:sp>
      <p:sp>
        <p:nvSpPr>
          <p:cNvPr id="31" name="Shape 29"/>
          <p:cNvSpPr/>
          <p:nvPr/>
        </p:nvSpPr>
        <p:spPr>
          <a:xfrm>
            <a:off x="2258568" y="1463040"/>
            <a:ext cx="1874520" cy="51023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32" name="Shape 30"/>
          <p:cNvSpPr/>
          <p:nvPr/>
        </p:nvSpPr>
        <p:spPr>
          <a:xfrm>
            <a:off x="2258568" y="1463040"/>
            <a:ext cx="1874520" cy="73152"/>
          </a:xfrm>
          <a:prstGeom prst="rect">
            <a:avLst/>
          </a:prstGeom>
          <a:solidFill>
            <a:srgbClr val="00A8E1"/>
          </a:solidFill>
          <a:ln/>
        </p:spPr>
      </p:sp>
      <p:sp>
        <p:nvSpPr>
          <p:cNvPr id="33" name="Shape 31"/>
          <p:cNvSpPr/>
          <p:nvPr/>
        </p:nvSpPr>
        <p:spPr>
          <a:xfrm>
            <a:off x="2258568" y="1508760"/>
            <a:ext cx="1874520" cy="530352"/>
          </a:xfrm>
          <a:prstGeom prst="rect">
            <a:avLst/>
          </a:prstGeom>
          <a:solidFill>
            <a:srgbClr val="0F172A"/>
          </a:solidFill>
          <a:ln/>
        </p:spPr>
      </p:sp>
      <p:sp>
        <p:nvSpPr>
          <p:cNvPr id="34" name="Text 32"/>
          <p:cNvSpPr/>
          <p:nvPr/>
        </p:nvSpPr>
        <p:spPr>
          <a:xfrm>
            <a:off x="2313432" y="1545336"/>
            <a:ext cx="1755648" cy="274320"/>
          </a:xfrm>
          <a:prstGeom prst="rect">
            <a:avLst/>
          </a:prstGeom>
          <a:noFill/>
          <a:ln/>
        </p:spPr>
        <p:txBody>
          <a:bodyPr wrap="square"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Amazon Prime</a:t>
            </a:r>
            <a:endParaRPr lang="en-US" sz="1000" dirty="0"/>
          </a:p>
        </p:txBody>
      </p:sp>
      <p:sp>
        <p:nvSpPr>
          <p:cNvPr id="35" name="Text 33"/>
          <p:cNvSpPr/>
          <p:nvPr/>
        </p:nvSpPr>
        <p:spPr>
          <a:xfrm>
            <a:off x="2313432" y="1828800"/>
            <a:ext cx="1755648" cy="182880"/>
          </a:xfrm>
          <a:prstGeom prst="rect">
            <a:avLst/>
          </a:prstGeom>
          <a:noFill/>
          <a:ln/>
        </p:spPr>
        <p:txBody>
          <a:bodyPr wrap="square" rtlCol="0" anchor="ctr"/>
          <a:lstStyle/>
          <a:p>
            <a:pPr algn="ctr" indent="0" marL="0">
              <a:buNone/>
            </a:pPr>
            <a:r>
              <a:rPr lang="en-US" sz="750" b="1" dirty="0">
                <a:solidFill>
                  <a:srgbClr val="00A8E1"/>
                </a:solidFill>
                <a:latin typeface="Calibri" pitchFamily="34" charset="0"/>
                <a:ea typeface="Calibri" pitchFamily="34" charset="-122"/>
                <a:cs typeface="Calibri" pitchFamily="34" charset="-120"/>
              </a:rPr>
              <a:t>Strong</a:t>
            </a:r>
            <a:endParaRPr lang="en-US" sz="750" dirty="0"/>
          </a:p>
        </p:txBody>
      </p:sp>
      <p:sp>
        <p:nvSpPr>
          <p:cNvPr id="36" name="Shape 34"/>
          <p:cNvSpPr/>
          <p:nvPr/>
        </p:nvSpPr>
        <p:spPr>
          <a:xfrm>
            <a:off x="2578608" y="2103120"/>
            <a:ext cx="1234440" cy="731520"/>
          </a:xfrm>
          <a:prstGeom prst="rect">
            <a:avLst/>
          </a:prstGeom>
          <a:solidFill>
            <a:srgbClr val="22C55E"/>
          </a:solidFill>
          <a:ln/>
        </p:spPr>
      </p:sp>
      <p:sp>
        <p:nvSpPr>
          <p:cNvPr id="37" name="Text 35"/>
          <p:cNvSpPr/>
          <p:nvPr/>
        </p:nvSpPr>
        <p:spPr>
          <a:xfrm>
            <a:off x="2578608" y="2121408"/>
            <a:ext cx="1234440" cy="530352"/>
          </a:xfrm>
          <a:prstGeom prst="rect">
            <a:avLst/>
          </a:prstGeom>
          <a:noFill/>
          <a:ln/>
        </p:spPr>
        <p:txBody>
          <a:bodyPr wrap="square" rtlCol="0" anchor="ctr"/>
          <a:lstStyle/>
          <a:p>
            <a:pPr algn="ctr" indent="0" marL="0">
              <a:buNone/>
            </a:pPr>
            <a:r>
              <a:rPr lang="en-US" sz="3000" b="1" dirty="0">
                <a:solidFill>
                  <a:srgbClr val="FFFFFF"/>
                </a:solidFill>
                <a:latin typeface="Arial Black" pitchFamily="34" charset="0"/>
                <a:ea typeface="Arial Black" pitchFamily="34" charset="-122"/>
                <a:cs typeface="Arial Black" pitchFamily="34" charset="-120"/>
              </a:rPr>
              <a:t>+31</a:t>
            </a:r>
            <a:endParaRPr lang="en-US" sz="3000" dirty="0"/>
          </a:p>
        </p:txBody>
      </p:sp>
      <p:sp>
        <p:nvSpPr>
          <p:cNvPr id="38" name="Text 36"/>
          <p:cNvSpPr/>
          <p:nvPr/>
        </p:nvSpPr>
        <p:spPr>
          <a:xfrm>
            <a:off x="2578608" y="2651760"/>
            <a:ext cx="1234440" cy="18288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NSS</a:t>
            </a:r>
            <a:endParaRPr lang="en-US" sz="850" dirty="0"/>
          </a:p>
        </p:txBody>
      </p:sp>
      <p:sp>
        <p:nvSpPr>
          <p:cNvPr id="39" name="Text 37"/>
          <p:cNvSpPr/>
          <p:nvPr/>
        </p:nvSpPr>
        <p:spPr>
          <a:xfrm>
            <a:off x="2313432" y="2944368"/>
            <a:ext cx="1755648" cy="228600"/>
          </a:xfrm>
          <a:prstGeom prst="rect">
            <a:avLst/>
          </a:prstGeom>
          <a:noFill/>
          <a:ln/>
        </p:spPr>
        <p:txBody>
          <a:bodyPr wrap="square" rtlCol="0" anchor="ctr"/>
          <a:lstStyle/>
          <a:p>
            <a:pPr algn="ctr" indent="0" marL="0">
              <a:buNone/>
            </a:pPr>
            <a:r>
              <a:rPr lang="en-US" sz="850" b="1" dirty="0">
                <a:solidFill>
                  <a:srgbClr val="22C55E"/>
                </a:solidFill>
                <a:latin typeface="Calibri" pitchFamily="34" charset="0"/>
                <a:ea typeface="Calibri" pitchFamily="34" charset="-122"/>
                <a:cs typeface="Calibri" pitchFamily="34" charset="-120"/>
              </a:rPr>
              <a:t>✅ 52% Positive</a:t>
            </a:r>
            <a:endParaRPr lang="en-US" sz="850" dirty="0"/>
          </a:p>
        </p:txBody>
      </p:sp>
      <p:sp>
        <p:nvSpPr>
          <p:cNvPr id="40" name="Text 38"/>
          <p:cNvSpPr/>
          <p:nvPr/>
        </p:nvSpPr>
        <p:spPr>
          <a:xfrm>
            <a:off x="2313432" y="3200400"/>
            <a:ext cx="1755648" cy="228600"/>
          </a:xfrm>
          <a:prstGeom prst="rect">
            <a:avLst/>
          </a:prstGeom>
          <a:noFill/>
          <a:ln/>
        </p:spPr>
        <p:txBody>
          <a:bodyPr wrap="square" rtlCol="0" anchor="ctr"/>
          <a:lstStyle/>
          <a:p>
            <a:pPr algn="ctr" indent="0" marL="0">
              <a:buNone/>
            </a:pPr>
            <a:r>
              <a:rPr lang="en-US" sz="850" b="1" dirty="0">
                <a:solidFill>
                  <a:srgbClr val="EF4444"/>
                </a:solidFill>
                <a:latin typeface="Calibri" pitchFamily="34" charset="0"/>
                <a:ea typeface="Calibri" pitchFamily="34" charset="-122"/>
                <a:cs typeface="Calibri" pitchFamily="34" charset="-120"/>
              </a:rPr>
              <a:t>❌ 21% Negative</a:t>
            </a:r>
            <a:endParaRPr lang="en-US" sz="850" dirty="0"/>
          </a:p>
        </p:txBody>
      </p:sp>
      <p:sp>
        <p:nvSpPr>
          <p:cNvPr id="41" name="Text 39"/>
          <p:cNvSpPr/>
          <p:nvPr/>
        </p:nvSpPr>
        <p:spPr>
          <a:xfrm>
            <a:off x="2313432" y="3456432"/>
            <a:ext cx="1755648" cy="201168"/>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Vol: 1.2M/mo</a:t>
            </a:r>
            <a:endParaRPr lang="en-US" sz="800" dirty="0"/>
          </a:p>
        </p:txBody>
      </p:sp>
      <p:sp>
        <p:nvSpPr>
          <p:cNvPr id="42" name="Text 40"/>
          <p:cNvSpPr/>
          <p:nvPr/>
        </p:nvSpPr>
        <p:spPr>
          <a:xfrm>
            <a:off x="2313432" y="3712464"/>
            <a:ext cx="1755648" cy="219456"/>
          </a:xfrm>
          <a:prstGeom prst="rect">
            <a:avLst/>
          </a:prstGeom>
          <a:noFill/>
          <a:ln/>
        </p:spPr>
        <p:txBody>
          <a:bodyPr wrap="square" rtlCol="0" anchor="ctr"/>
          <a:lstStyle/>
          <a:p>
            <a:pPr indent="0" marL="0">
              <a:buNone/>
            </a:pPr>
            <a:r>
              <a:rPr lang="en-US" sz="750" b="1" dirty="0">
                <a:solidFill>
                  <a:srgbClr val="22C55E"/>
                </a:solidFill>
                <a:latin typeface="Calibri" pitchFamily="34" charset="0"/>
                <a:ea typeface="Calibri" pitchFamily="34" charset="-122"/>
                <a:cs typeface="Calibri" pitchFamily="34" charset="-120"/>
              </a:rPr>
              <a:t>↑ NSS Drivers</a:t>
            </a:r>
            <a:endParaRPr lang="en-US" sz="750" dirty="0"/>
          </a:p>
        </p:txBody>
      </p:sp>
      <p:sp>
        <p:nvSpPr>
          <p:cNvPr id="43" name="Text 41"/>
          <p:cNvSpPr/>
          <p:nvPr/>
        </p:nvSpPr>
        <p:spPr>
          <a:xfrm>
            <a:off x="2331720" y="393192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Indian originals love</a:t>
            </a:r>
            <a:endParaRPr lang="en-US" sz="750" dirty="0"/>
          </a:p>
        </p:txBody>
      </p:sp>
      <p:sp>
        <p:nvSpPr>
          <p:cNvPr id="44" name="Text 42"/>
          <p:cNvSpPr/>
          <p:nvPr/>
        </p:nvSpPr>
        <p:spPr>
          <a:xfrm>
            <a:off x="2331720" y="4169664"/>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Value perception</a:t>
            </a:r>
            <a:endParaRPr lang="en-US" sz="750" dirty="0"/>
          </a:p>
        </p:txBody>
      </p:sp>
      <p:sp>
        <p:nvSpPr>
          <p:cNvPr id="45" name="Text 43"/>
          <p:cNvSpPr/>
          <p:nvPr/>
        </p:nvSpPr>
        <p:spPr>
          <a:xfrm>
            <a:off x="2331720" y="4407408"/>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Shopping crossover</a:t>
            </a:r>
            <a:endParaRPr lang="en-US" sz="750" dirty="0"/>
          </a:p>
        </p:txBody>
      </p:sp>
      <p:sp>
        <p:nvSpPr>
          <p:cNvPr id="46" name="Text 44"/>
          <p:cNvSpPr/>
          <p:nvPr/>
        </p:nvSpPr>
        <p:spPr>
          <a:xfrm>
            <a:off x="2313432" y="4663440"/>
            <a:ext cx="1755648" cy="219456"/>
          </a:xfrm>
          <a:prstGeom prst="rect">
            <a:avLst/>
          </a:prstGeom>
          <a:noFill/>
          <a:ln/>
        </p:spPr>
        <p:txBody>
          <a:bodyPr wrap="square" rtlCol="0" anchor="ctr"/>
          <a:lstStyle/>
          <a:p>
            <a:pPr indent="0" marL="0">
              <a:buNone/>
            </a:pPr>
            <a:r>
              <a:rPr lang="en-US" sz="750" b="1" dirty="0">
                <a:solidFill>
                  <a:srgbClr val="EF4444"/>
                </a:solidFill>
                <a:latin typeface="Calibri" pitchFamily="34" charset="0"/>
                <a:ea typeface="Calibri" pitchFamily="34" charset="-122"/>
                <a:cs typeface="Calibri" pitchFamily="34" charset="-120"/>
              </a:rPr>
              <a:t>↓ NSS Risks</a:t>
            </a:r>
            <a:endParaRPr lang="en-US" sz="750" dirty="0"/>
          </a:p>
        </p:txBody>
      </p:sp>
      <p:sp>
        <p:nvSpPr>
          <p:cNvPr id="47" name="Text 45"/>
          <p:cNvSpPr/>
          <p:nvPr/>
        </p:nvSpPr>
        <p:spPr>
          <a:xfrm>
            <a:off x="2331720" y="4882896"/>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Ads announcement 2025</a:t>
            </a:r>
            <a:endParaRPr lang="en-US" sz="750" dirty="0"/>
          </a:p>
        </p:txBody>
      </p:sp>
      <p:sp>
        <p:nvSpPr>
          <p:cNvPr id="48" name="Text 46"/>
          <p:cNvSpPr/>
          <p:nvPr/>
        </p:nvSpPr>
        <p:spPr>
          <a:xfrm>
            <a:off x="2331720" y="512064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UI feedback</a:t>
            </a:r>
            <a:endParaRPr lang="en-US" sz="750" dirty="0"/>
          </a:p>
        </p:txBody>
      </p:sp>
      <p:sp>
        <p:nvSpPr>
          <p:cNvPr id="49" name="Shape 47"/>
          <p:cNvSpPr/>
          <p:nvPr/>
        </p:nvSpPr>
        <p:spPr>
          <a:xfrm>
            <a:off x="2313432" y="5394960"/>
            <a:ext cx="1737360" cy="219456"/>
          </a:xfrm>
          <a:prstGeom prst="rect">
            <a:avLst/>
          </a:prstGeom>
          <a:solidFill>
            <a:srgbClr val="FED7AA"/>
          </a:solidFill>
          <a:ln/>
        </p:spPr>
      </p:sp>
      <p:sp>
        <p:nvSpPr>
          <p:cNvPr id="50" name="Text 48"/>
          <p:cNvSpPr/>
          <p:nvPr/>
        </p:nvSpPr>
        <p:spPr>
          <a:xfrm>
            <a:off x="2331720" y="5413248"/>
            <a:ext cx="1700784" cy="182880"/>
          </a:xfrm>
          <a:prstGeom prst="rect">
            <a:avLst/>
          </a:prstGeom>
          <a:noFill/>
          <a:ln/>
        </p:spPr>
        <p:txBody>
          <a:bodyPr wrap="square" rtlCol="0" anchor="ctr"/>
          <a:lstStyle/>
          <a:p>
            <a:pPr algn="ctr" indent="0" marL="0">
              <a:buNone/>
            </a:pPr>
            <a:r>
              <a:rPr lang="en-US" sz="800" b="1" dirty="0">
                <a:solidFill>
                  <a:srgbClr val="0F172A"/>
                </a:solidFill>
                <a:latin typeface="Calibri" pitchFamily="34" charset="0"/>
                <a:ea typeface="Calibri" pitchFamily="34" charset="-122"/>
                <a:cs typeface="Calibri" pitchFamily="34" charset="-120"/>
              </a:rPr>
              <a:t>Trend: Watch</a:t>
            </a:r>
            <a:endParaRPr lang="en-US" sz="800" dirty="0"/>
          </a:p>
        </p:txBody>
      </p:sp>
      <p:sp>
        <p:nvSpPr>
          <p:cNvPr id="51" name="Shape 49"/>
          <p:cNvSpPr/>
          <p:nvPr/>
        </p:nvSpPr>
        <p:spPr>
          <a:xfrm>
            <a:off x="4242816" y="1463040"/>
            <a:ext cx="1874520" cy="51023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52" name="Shape 50"/>
          <p:cNvSpPr/>
          <p:nvPr/>
        </p:nvSpPr>
        <p:spPr>
          <a:xfrm>
            <a:off x="4242816" y="1463040"/>
            <a:ext cx="1874520" cy="73152"/>
          </a:xfrm>
          <a:prstGeom prst="rect">
            <a:avLst/>
          </a:prstGeom>
          <a:solidFill>
            <a:srgbClr val="1F80E0"/>
          </a:solidFill>
          <a:ln/>
        </p:spPr>
      </p:sp>
      <p:sp>
        <p:nvSpPr>
          <p:cNvPr id="53" name="Shape 51"/>
          <p:cNvSpPr/>
          <p:nvPr/>
        </p:nvSpPr>
        <p:spPr>
          <a:xfrm>
            <a:off x="4242816" y="1508760"/>
            <a:ext cx="1874520" cy="530352"/>
          </a:xfrm>
          <a:prstGeom prst="rect">
            <a:avLst/>
          </a:prstGeom>
          <a:solidFill>
            <a:srgbClr val="0F172A"/>
          </a:solidFill>
          <a:ln/>
        </p:spPr>
      </p:sp>
      <p:sp>
        <p:nvSpPr>
          <p:cNvPr id="54" name="Text 52"/>
          <p:cNvSpPr/>
          <p:nvPr/>
        </p:nvSpPr>
        <p:spPr>
          <a:xfrm>
            <a:off x="4297680" y="1545336"/>
            <a:ext cx="1755648" cy="274320"/>
          </a:xfrm>
          <a:prstGeom prst="rect">
            <a:avLst/>
          </a:prstGeom>
          <a:noFill/>
          <a:ln/>
        </p:spPr>
        <p:txBody>
          <a:bodyPr wrap="square"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JioHotstar</a:t>
            </a:r>
            <a:endParaRPr lang="en-US" sz="1000" dirty="0"/>
          </a:p>
        </p:txBody>
      </p:sp>
      <p:sp>
        <p:nvSpPr>
          <p:cNvPr id="55" name="Text 53"/>
          <p:cNvSpPr/>
          <p:nvPr/>
        </p:nvSpPr>
        <p:spPr>
          <a:xfrm>
            <a:off x="4297680" y="1828800"/>
            <a:ext cx="1755648" cy="182880"/>
          </a:xfrm>
          <a:prstGeom prst="rect">
            <a:avLst/>
          </a:prstGeom>
          <a:noFill/>
          <a:ln/>
        </p:spPr>
        <p:txBody>
          <a:bodyPr wrap="square" rtlCol="0" anchor="ctr"/>
          <a:lstStyle/>
          <a:p>
            <a:pPr algn="ctr" indent="0" marL="0">
              <a:buNone/>
            </a:pPr>
            <a:r>
              <a:rPr lang="en-US" sz="750" b="1" dirty="0">
                <a:solidFill>
                  <a:srgbClr val="1F80E0"/>
                </a:solidFill>
                <a:latin typeface="Calibri" pitchFamily="34" charset="0"/>
                <a:ea typeface="Calibri" pitchFamily="34" charset="-122"/>
                <a:cs typeface="Calibri" pitchFamily="34" charset="-120"/>
              </a:rPr>
              <a:t>Moderate (Cricket-dependent)</a:t>
            </a:r>
            <a:endParaRPr lang="en-US" sz="750" dirty="0"/>
          </a:p>
        </p:txBody>
      </p:sp>
      <p:sp>
        <p:nvSpPr>
          <p:cNvPr id="56" name="Shape 54"/>
          <p:cNvSpPr/>
          <p:nvPr/>
        </p:nvSpPr>
        <p:spPr>
          <a:xfrm>
            <a:off x="4562856" y="2103120"/>
            <a:ext cx="1234440" cy="731520"/>
          </a:xfrm>
          <a:prstGeom prst="rect">
            <a:avLst/>
          </a:prstGeom>
          <a:solidFill>
            <a:srgbClr val="EF4444"/>
          </a:solidFill>
          <a:ln/>
        </p:spPr>
      </p:sp>
      <p:sp>
        <p:nvSpPr>
          <p:cNvPr id="57" name="Text 55"/>
          <p:cNvSpPr/>
          <p:nvPr/>
        </p:nvSpPr>
        <p:spPr>
          <a:xfrm>
            <a:off x="4562856" y="2121408"/>
            <a:ext cx="1234440" cy="530352"/>
          </a:xfrm>
          <a:prstGeom prst="rect">
            <a:avLst/>
          </a:prstGeom>
          <a:noFill/>
          <a:ln/>
        </p:spPr>
        <p:txBody>
          <a:bodyPr wrap="square" rtlCol="0" anchor="ctr"/>
          <a:lstStyle/>
          <a:p>
            <a:pPr algn="ctr" indent="0" marL="0">
              <a:buNone/>
            </a:pPr>
            <a:r>
              <a:rPr lang="en-US" sz="3000" b="1" dirty="0">
                <a:solidFill>
                  <a:srgbClr val="FFFFFF"/>
                </a:solidFill>
                <a:latin typeface="Arial Black" pitchFamily="34" charset="0"/>
                <a:ea typeface="Arial Black" pitchFamily="34" charset="-122"/>
                <a:cs typeface="Arial Black" pitchFamily="34" charset="-120"/>
              </a:rPr>
              <a:t>+12</a:t>
            </a:r>
            <a:endParaRPr lang="en-US" sz="3000" dirty="0"/>
          </a:p>
        </p:txBody>
      </p:sp>
      <p:sp>
        <p:nvSpPr>
          <p:cNvPr id="58" name="Text 56"/>
          <p:cNvSpPr/>
          <p:nvPr/>
        </p:nvSpPr>
        <p:spPr>
          <a:xfrm>
            <a:off x="4562856" y="2651760"/>
            <a:ext cx="1234440" cy="18288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NSS</a:t>
            </a:r>
            <a:endParaRPr lang="en-US" sz="850" dirty="0"/>
          </a:p>
        </p:txBody>
      </p:sp>
      <p:sp>
        <p:nvSpPr>
          <p:cNvPr id="59" name="Text 57"/>
          <p:cNvSpPr/>
          <p:nvPr/>
        </p:nvSpPr>
        <p:spPr>
          <a:xfrm>
            <a:off x="4297680" y="2944368"/>
            <a:ext cx="1755648" cy="228600"/>
          </a:xfrm>
          <a:prstGeom prst="rect">
            <a:avLst/>
          </a:prstGeom>
          <a:noFill/>
          <a:ln/>
        </p:spPr>
        <p:txBody>
          <a:bodyPr wrap="square" rtlCol="0" anchor="ctr"/>
          <a:lstStyle/>
          <a:p>
            <a:pPr algn="ctr" indent="0" marL="0">
              <a:buNone/>
            </a:pPr>
            <a:r>
              <a:rPr lang="en-US" sz="850" b="1" dirty="0">
                <a:solidFill>
                  <a:srgbClr val="22C55E"/>
                </a:solidFill>
                <a:latin typeface="Calibri" pitchFamily="34" charset="0"/>
                <a:ea typeface="Calibri" pitchFamily="34" charset="-122"/>
                <a:cs typeface="Calibri" pitchFamily="34" charset="-120"/>
              </a:rPr>
              <a:t>✅ 42% Positive</a:t>
            </a:r>
            <a:endParaRPr lang="en-US" sz="850" dirty="0"/>
          </a:p>
        </p:txBody>
      </p:sp>
      <p:sp>
        <p:nvSpPr>
          <p:cNvPr id="60" name="Text 58"/>
          <p:cNvSpPr/>
          <p:nvPr/>
        </p:nvSpPr>
        <p:spPr>
          <a:xfrm>
            <a:off x="4297680" y="3200400"/>
            <a:ext cx="1755648" cy="228600"/>
          </a:xfrm>
          <a:prstGeom prst="rect">
            <a:avLst/>
          </a:prstGeom>
          <a:noFill/>
          <a:ln/>
        </p:spPr>
        <p:txBody>
          <a:bodyPr wrap="square" rtlCol="0" anchor="ctr"/>
          <a:lstStyle/>
          <a:p>
            <a:pPr algn="ctr" indent="0" marL="0">
              <a:buNone/>
            </a:pPr>
            <a:r>
              <a:rPr lang="en-US" sz="850" b="1" dirty="0">
                <a:solidFill>
                  <a:srgbClr val="EF4444"/>
                </a:solidFill>
                <a:latin typeface="Calibri" pitchFamily="34" charset="0"/>
                <a:ea typeface="Calibri" pitchFamily="34" charset="-122"/>
                <a:cs typeface="Calibri" pitchFamily="34" charset="-120"/>
              </a:rPr>
              <a:t>❌ 30% Negative</a:t>
            </a:r>
            <a:endParaRPr lang="en-US" sz="850" dirty="0"/>
          </a:p>
        </p:txBody>
      </p:sp>
      <p:sp>
        <p:nvSpPr>
          <p:cNvPr id="61" name="Text 59"/>
          <p:cNvSpPr/>
          <p:nvPr/>
        </p:nvSpPr>
        <p:spPr>
          <a:xfrm>
            <a:off x="4297680" y="3456432"/>
            <a:ext cx="1755648" cy="201168"/>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Vol: 2M+/mo</a:t>
            </a:r>
            <a:endParaRPr lang="en-US" sz="800" dirty="0"/>
          </a:p>
        </p:txBody>
      </p:sp>
      <p:sp>
        <p:nvSpPr>
          <p:cNvPr id="62" name="Text 60"/>
          <p:cNvSpPr/>
          <p:nvPr/>
        </p:nvSpPr>
        <p:spPr>
          <a:xfrm>
            <a:off x="4297680" y="3712464"/>
            <a:ext cx="1755648" cy="219456"/>
          </a:xfrm>
          <a:prstGeom prst="rect">
            <a:avLst/>
          </a:prstGeom>
          <a:noFill/>
          <a:ln/>
        </p:spPr>
        <p:txBody>
          <a:bodyPr wrap="square" rtlCol="0" anchor="ctr"/>
          <a:lstStyle/>
          <a:p>
            <a:pPr indent="0" marL="0">
              <a:buNone/>
            </a:pPr>
            <a:r>
              <a:rPr lang="en-US" sz="750" b="1" dirty="0">
                <a:solidFill>
                  <a:srgbClr val="22C55E"/>
                </a:solidFill>
                <a:latin typeface="Calibri" pitchFamily="34" charset="0"/>
                <a:ea typeface="Calibri" pitchFamily="34" charset="-122"/>
                <a:cs typeface="Calibri" pitchFamily="34" charset="-120"/>
              </a:rPr>
              <a:t>↑ NSS Drivers</a:t>
            </a:r>
            <a:endParaRPr lang="en-US" sz="750" dirty="0"/>
          </a:p>
        </p:txBody>
      </p:sp>
      <p:sp>
        <p:nvSpPr>
          <p:cNvPr id="63" name="Text 61"/>
          <p:cNvSpPr/>
          <p:nvPr/>
        </p:nvSpPr>
        <p:spPr>
          <a:xfrm>
            <a:off x="4315968" y="393192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Cricket events</a:t>
            </a:r>
            <a:endParaRPr lang="en-US" sz="750" dirty="0"/>
          </a:p>
        </p:txBody>
      </p:sp>
      <p:sp>
        <p:nvSpPr>
          <p:cNvPr id="64" name="Text 62"/>
          <p:cNvSpPr/>
          <p:nvPr/>
        </p:nvSpPr>
        <p:spPr>
          <a:xfrm>
            <a:off x="4315968" y="4169664"/>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Disney content</a:t>
            </a:r>
            <a:endParaRPr lang="en-US" sz="750" dirty="0"/>
          </a:p>
        </p:txBody>
      </p:sp>
      <p:sp>
        <p:nvSpPr>
          <p:cNvPr id="65" name="Text 63"/>
          <p:cNvSpPr/>
          <p:nvPr/>
        </p:nvSpPr>
        <p:spPr>
          <a:xfrm>
            <a:off x="4315968" y="4407408"/>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IPL buzz</a:t>
            </a:r>
            <a:endParaRPr lang="en-US" sz="750" dirty="0"/>
          </a:p>
        </p:txBody>
      </p:sp>
      <p:sp>
        <p:nvSpPr>
          <p:cNvPr id="66" name="Text 64"/>
          <p:cNvSpPr/>
          <p:nvPr/>
        </p:nvSpPr>
        <p:spPr>
          <a:xfrm>
            <a:off x="4297680" y="4663440"/>
            <a:ext cx="1755648" cy="219456"/>
          </a:xfrm>
          <a:prstGeom prst="rect">
            <a:avLst/>
          </a:prstGeom>
          <a:noFill/>
          <a:ln/>
        </p:spPr>
        <p:txBody>
          <a:bodyPr wrap="square" rtlCol="0" anchor="ctr"/>
          <a:lstStyle/>
          <a:p>
            <a:pPr indent="0" marL="0">
              <a:buNone/>
            </a:pPr>
            <a:r>
              <a:rPr lang="en-US" sz="750" b="1" dirty="0">
                <a:solidFill>
                  <a:srgbClr val="EF4444"/>
                </a:solidFill>
                <a:latin typeface="Calibri" pitchFamily="34" charset="0"/>
                <a:ea typeface="Calibri" pitchFamily="34" charset="-122"/>
                <a:cs typeface="Calibri" pitchFamily="34" charset="-120"/>
              </a:rPr>
              <a:t>↓ NSS Risks</a:t>
            </a:r>
            <a:endParaRPr lang="en-US" sz="750" dirty="0"/>
          </a:p>
        </p:txBody>
      </p:sp>
      <p:sp>
        <p:nvSpPr>
          <p:cNvPr id="67" name="Text 65"/>
          <p:cNvSpPr/>
          <p:nvPr/>
        </p:nvSpPr>
        <p:spPr>
          <a:xfrm>
            <a:off x="4315968" y="4882896"/>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Buffering</a:t>
            </a:r>
            <a:endParaRPr lang="en-US" sz="750" dirty="0"/>
          </a:p>
        </p:txBody>
      </p:sp>
      <p:sp>
        <p:nvSpPr>
          <p:cNvPr id="68" name="Text 66"/>
          <p:cNvSpPr/>
          <p:nvPr/>
        </p:nvSpPr>
        <p:spPr>
          <a:xfrm>
            <a:off x="4315968" y="512064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Merger friction</a:t>
            </a:r>
            <a:endParaRPr lang="en-US" sz="750" dirty="0"/>
          </a:p>
        </p:txBody>
      </p:sp>
      <p:sp>
        <p:nvSpPr>
          <p:cNvPr id="69" name="Shape 67"/>
          <p:cNvSpPr/>
          <p:nvPr/>
        </p:nvSpPr>
        <p:spPr>
          <a:xfrm>
            <a:off x="4297680" y="5394960"/>
            <a:ext cx="1737360" cy="219456"/>
          </a:xfrm>
          <a:prstGeom prst="rect">
            <a:avLst/>
          </a:prstGeom>
          <a:solidFill>
            <a:srgbClr val="FEE2E2"/>
          </a:solidFill>
          <a:ln/>
        </p:spPr>
      </p:sp>
      <p:sp>
        <p:nvSpPr>
          <p:cNvPr id="70" name="Text 68"/>
          <p:cNvSpPr/>
          <p:nvPr/>
        </p:nvSpPr>
        <p:spPr>
          <a:xfrm>
            <a:off x="4315968" y="5413248"/>
            <a:ext cx="1700784" cy="182880"/>
          </a:xfrm>
          <a:prstGeom prst="rect">
            <a:avLst/>
          </a:prstGeom>
          <a:noFill/>
          <a:ln/>
        </p:spPr>
        <p:txBody>
          <a:bodyPr wrap="square" rtlCol="0" anchor="ctr"/>
          <a:lstStyle/>
          <a:p>
            <a:pPr algn="ctr" indent="0" marL="0">
              <a:buNone/>
            </a:pPr>
            <a:r>
              <a:rPr lang="en-US" sz="800" b="1" dirty="0">
                <a:solidFill>
                  <a:srgbClr val="0F172A"/>
                </a:solidFill>
                <a:latin typeface="Calibri" pitchFamily="34" charset="0"/>
                <a:ea typeface="Calibri" pitchFamily="34" charset="-122"/>
                <a:cs typeface="Calibri" pitchFamily="34" charset="-120"/>
              </a:rPr>
              <a:t>Trend: Declining</a:t>
            </a:r>
            <a:endParaRPr lang="en-US" sz="800" dirty="0"/>
          </a:p>
        </p:txBody>
      </p:sp>
      <p:sp>
        <p:nvSpPr>
          <p:cNvPr id="71" name="Shape 69"/>
          <p:cNvSpPr/>
          <p:nvPr/>
        </p:nvSpPr>
        <p:spPr>
          <a:xfrm>
            <a:off x="6227064" y="1463040"/>
            <a:ext cx="1874520" cy="51023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72" name="Shape 70"/>
          <p:cNvSpPr/>
          <p:nvPr/>
        </p:nvSpPr>
        <p:spPr>
          <a:xfrm>
            <a:off x="6227064" y="1463040"/>
            <a:ext cx="1874520" cy="73152"/>
          </a:xfrm>
          <a:prstGeom prst="rect">
            <a:avLst/>
          </a:prstGeom>
          <a:solidFill>
            <a:srgbClr val="DC2626"/>
          </a:solidFill>
          <a:ln/>
        </p:spPr>
      </p:sp>
      <p:sp>
        <p:nvSpPr>
          <p:cNvPr id="73" name="Shape 71"/>
          <p:cNvSpPr/>
          <p:nvPr/>
        </p:nvSpPr>
        <p:spPr>
          <a:xfrm>
            <a:off x="6227064" y="1508760"/>
            <a:ext cx="1874520" cy="530352"/>
          </a:xfrm>
          <a:prstGeom prst="rect">
            <a:avLst/>
          </a:prstGeom>
          <a:solidFill>
            <a:srgbClr val="0F172A"/>
          </a:solidFill>
          <a:ln/>
        </p:spPr>
      </p:sp>
      <p:sp>
        <p:nvSpPr>
          <p:cNvPr id="74" name="Text 72"/>
          <p:cNvSpPr/>
          <p:nvPr/>
        </p:nvSpPr>
        <p:spPr>
          <a:xfrm>
            <a:off x="6281928" y="1545336"/>
            <a:ext cx="1755648" cy="274320"/>
          </a:xfrm>
          <a:prstGeom prst="rect">
            <a:avLst/>
          </a:prstGeom>
          <a:noFill/>
          <a:ln/>
        </p:spPr>
        <p:txBody>
          <a:bodyPr wrap="square"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SonyLIV</a:t>
            </a:r>
            <a:endParaRPr lang="en-US" sz="1000" dirty="0"/>
          </a:p>
        </p:txBody>
      </p:sp>
      <p:sp>
        <p:nvSpPr>
          <p:cNvPr id="75" name="Text 73"/>
          <p:cNvSpPr/>
          <p:nvPr/>
        </p:nvSpPr>
        <p:spPr>
          <a:xfrm>
            <a:off x="6281928" y="1828800"/>
            <a:ext cx="1755648" cy="182880"/>
          </a:xfrm>
          <a:prstGeom prst="rect">
            <a:avLst/>
          </a:prstGeom>
          <a:noFill/>
          <a:ln/>
        </p:spPr>
        <p:txBody>
          <a:bodyPr wrap="square" rtlCol="0" anchor="ctr"/>
          <a:lstStyle/>
          <a:p>
            <a:pPr algn="ctr" indent="0" marL="0">
              <a:buNone/>
            </a:pPr>
            <a:r>
              <a:rPr lang="en-US" sz="750" b="1" dirty="0">
                <a:solidFill>
                  <a:srgbClr val="DC2626"/>
                </a:solidFill>
                <a:latin typeface="Calibri" pitchFamily="34" charset="0"/>
                <a:ea typeface="Calibri" pitchFamily="34" charset="-122"/>
                <a:cs typeface="Calibri" pitchFamily="34" charset="-120"/>
              </a:rPr>
              <a:t>Moderate</a:t>
            </a:r>
            <a:endParaRPr lang="en-US" sz="750" dirty="0"/>
          </a:p>
        </p:txBody>
      </p:sp>
      <p:sp>
        <p:nvSpPr>
          <p:cNvPr id="76" name="Shape 74"/>
          <p:cNvSpPr/>
          <p:nvPr/>
        </p:nvSpPr>
        <p:spPr>
          <a:xfrm>
            <a:off x="6547104" y="2103120"/>
            <a:ext cx="1234440" cy="731520"/>
          </a:xfrm>
          <a:prstGeom prst="rect">
            <a:avLst/>
          </a:prstGeom>
          <a:solidFill>
            <a:srgbClr val="EAB308"/>
          </a:solidFill>
          <a:ln/>
        </p:spPr>
      </p:sp>
      <p:sp>
        <p:nvSpPr>
          <p:cNvPr id="77" name="Text 75"/>
          <p:cNvSpPr/>
          <p:nvPr/>
        </p:nvSpPr>
        <p:spPr>
          <a:xfrm>
            <a:off x="6547104" y="2121408"/>
            <a:ext cx="1234440" cy="530352"/>
          </a:xfrm>
          <a:prstGeom prst="rect">
            <a:avLst/>
          </a:prstGeom>
          <a:noFill/>
          <a:ln/>
        </p:spPr>
        <p:txBody>
          <a:bodyPr wrap="square" rtlCol="0" anchor="ctr"/>
          <a:lstStyle/>
          <a:p>
            <a:pPr algn="ctr" indent="0" marL="0">
              <a:buNone/>
            </a:pPr>
            <a:r>
              <a:rPr lang="en-US" sz="3000" b="1" dirty="0">
                <a:solidFill>
                  <a:srgbClr val="FFFFFF"/>
                </a:solidFill>
                <a:latin typeface="Arial Black" pitchFamily="34" charset="0"/>
                <a:ea typeface="Arial Black" pitchFamily="34" charset="-122"/>
                <a:cs typeface="Arial Black" pitchFamily="34" charset="-120"/>
              </a:rPr>
              <a:t>+15</a:t>
            </a:r>
            <a:endParaRPr lang="en-US" sz="3000" dirty="0"/>
          </a:p>
        </p:txBody>
      </p:sp>
      <p:sp>
        <p:nvSpPr>
          <p:cNvPr id="78" name="Text 76"/>
          <p:cNvSpPr/>
          <p:nvPr/>
        </p:nvSpPr>
        <p:spPr>
          <a:xfrm>
            <a:off x="6547104" y="2651760"/>
            <a:ext cx="1234440" cy="18288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NSS</a:t>
            </a:r>
            <a:endParaRPr lang="en-US" sz="850" dirty="0"/>
          </a:p>
        </p:txBody>
      </p:sp>
      <p:sp>
        <p:nvSpPr>
          <p:cNvPr id="79" name="Text 77"/>
          <p:cNvSpPr/>
          <p:nvPr/>
        </p:nvSpPr>
        <p:spPr>
          <a:xfrm>
            <a:off x="6281928" y="2944368"/>
            <a:ext cx="1755648" cy="228600"/>
          </a:xfrm>
          <a:prstGeom prst="rect">
            <a:avLst/>
          </a:prstGeom>
          <a:noFill/>
          <a:ln/>
        </p:spPr>
        <p:txBody>
          <a:bodyPr wrap="square" rtlCol="0" anchor="ctr"/>
          <a:lstStyle/>
          <a:p>
            <a:pPr algn="ctr" indent="0" marL="0">
              <a:buNone/>
            </a:pPr>
            <a:r>
              <a:rPr lang="en-US" sz="850" b="1" dirty="0">
                <a:solidFill>
                  <a:srgbClr val="22C55E"/>
                </a:solidFill>
                <a:latin typeface="Calibri" pitchFamily="34" charset="0"/>
                <a:ea typeface="Calibri" pitchFamily="34" charset="-122"/>
                <a:cs typeface="Calibri" pitchFamily="34" charset="-120"/>
              </a:rPr>
              <a:t>✅ 41% Positive</a:t>
            </a:r>
            <a:endParaRPr lang="en-US" sz="850" dirty="0"/>
          </a:p>
        </p:txBody>
      </p:sp>
      <p:sp>
        <p:nvSpPr>
          <p:cNvPr id="80" name="Text 78"/>
          <p:cNvSpPr/>
          <p:nvPr/>
        </p:nvSpPr>
        <p:spPr>
          <a:xfrm>
            <a:off x="6281928" y="3200400"/>
            <a:ext cx="1755648" cy="228600"/>
          </a:xfrm>
          <a:prstGeom prst="rect">
            <a:avLst/>
          </a:prstGeom>
          <a:noFill/>
          <a:ln/>
        </p:spPr>
        <p:txBody>
          <a:bodyPr wrap="square" rtlCol="0" anchor="ctr"/>
          <a:lstStyle/>
          <a:p>
            <a:pPr algn="ctr" indent="0" marL="0">
              <a:buNone/>
            </a:pPr>
            <a:r>
              <a:rPr lang="en-US" sz="850" b="1" dirty="0">
                <a:solidFill>
                  <a:srgbClr val="EF4444"/>
                </a:solidFill>
                <a:latin typeface="Calibri" pitchFamily="34" charset="0"/>
                <a:ea typeface="Calibri" pitchFamily="34" charset="-122"/>
                <a:cs typeface="Calibri" pitchFamily="34" charset="-120"/>
              </a:rPr>
              <a:t>❌ 26% Negative</a:t>
            </a:r>
            <a:endParaRPr lang="en-US" sz="850" dirty="0"/>
          </a:p>
        </p:txBody>
      </p:sp>
      <p:sp>
        <p:nvSpPr>
          <p:cNvPr id="81" name="Text 79"/>
          <p:cNvSpPr/>
          <p:nvPr/>
        </p:nvSpPr>
        <p:spPr>
          <a:xfrm>
            <a:off x="6281928" y="3456432"/>
            <a:ext cx="1755648" cy="201168"/>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Vol: 350K/mo</a:t>
            </a:r>
            <a:endParaRPr lang="en-US" sz="800" dirty="0"/>
          </a:p>
        </p:txBody>
      </p:sp>
      <p:sp>
        <p:nvSpPr>
          <p:cNvPr id="82" name="Text 80"/>
          <p:cNvSpPr/>
          <p:nvPr/>
        </p:nvSpPr>
        <p:spPr>
          <a:xfrm>
            <a:off x="6281928" y="3712464"/>
            <a:ext cx="1755648" cy="219456"/>
          </a:xfrm>
          <a:prstGeom prst="rect">
            <a:avLst/>
          </a:prstGeom>
          <a:noFill/>
          <a:ln/>
        </p:spPr>
        <p:txBody>
          <a:bodyPr wrap="square" rtlCol="0" anchor="ctr"/>
          <a:lstStyle/>
          <a:p>
            <a:pPr indent="0" marL="0">
              <a:buNone/>
            </a:pPr>
            <a:r>
              <a:rPr lang="en-US" sz="750" b="1" dirty="0">
                <a:solidFill>
                  <a:srgbClr val="22C55E"/>
                </a:solidFill>
                <a:latin typeface="Calibri" pitchFamily="34" charset="0"/>
                <a:ea typeface="Calibri" pitchFamily="34" charset="-122"/>
                <a:cs typeface="Calibri" pitchFamily="34" charset="-120"/>
              </a:rPr>
              <a:t>↑ NSS Drivers</a:t>
            </a:r>
            <a:endParaRPr lang="en-US" sz="750" dirty="0"/>
          </a:p>
        </p:txBody>
      </p:sp>
      <p:sp>
        <p:nvSpPr>
          <p:cNvPr id="83" name="Text 81"/>
          <p:cNvSpPr/>
          <p:nvPr/>
        </p:nvSpPr>
        <p:spPr>
          <a:xfrm>
            <a:off x="6300216" y="393192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Scam series</a:t>
            </a:r>
            <a:endParaRPr lang="en-US" sz="750" dirty="0"/>
          </a:p>
        </p:txBody>
      </p:sp>
      <p:sp>
        <p:nvSpPr>
          <p:cNvPr id="84" name="Text 82"/>
          <p:cNvSpPr/>
          <p:nvPr/>
        </p:nvSpPr>
        <p:spPr>
          <a:xfrm>
            <a:off x="6300216" y="4169664"/>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WWE</a:t>
            </a:r>
            <a:endParaRPr lang="en-US" sz="750" dirty="0"/>
          </a:p>
        </p:txBody>
      </p:sp>
      <p:sp>
        <p:nvSpPr>
          <p:cNvPr id="85" name="Text 83"/>
          <p:cNvSpPr/>
          <p:nvPr/>
        </p:nvSpPr>
        <p:spPr>
          <a:xfrm>
            <a:off x="6300216" y="4407408"/>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Sports events</a:t>
            </a:r>
            <a:endParaRPr lang="en-US" sz="750" dirty="0"/>
          </a:p>
        </p:txBody>
      </p:sp>
      <p:sp>
        <p:nvSpPr>
          <p:cNvPr id="86" name="Text 84"/>
          <p:cNvSpPr/>
          <p:nvPr/>
        </p:nvSpPr>
        <p:spPr>
          <a:xfrm>
            <a:off x="6281928" y="4663440"/>
            <a:ext cx="1755648" cy="219456"/>
          </a:xfrm>
          <a:prstGeom prst="rect">
            <a:avLst/>
          </a:prstGeom>
          <a:noFill/>
          <a:ln/>
        </p:spPr>
        <p:txBody>
          <a:bodyPr wrap="square" rtlCol="0" anchor="ctr"/>
          <a:lstStyle/>
          <a:p>
            <a:pPr indent="0" marL="0">
              <a:buNone/>
            </a:pPr>
            <a:r>
              <a:rPr lang="en-US" sz="750" b="1" dirty="0">
                <a:solidFill>
                  <a:srgbClr val="EF4444"/>
                </a:solidFill>
                <a:latin typeface="Calibri" pitchFamily="34" charset="0"/>
                <a:ea typeface="Calibri" pitchFamily="34" charset="-122"/>
                <a:cs typeface="Calibri" pitchFamily="34" charset="-120"/>
              </a:rPr>
              <a:t>↓ NSS Risks</a:t>
            </a:r>
            <a:endParaRPr lang="en-US" sz="750" dirty="0"/>
          </a:p>
        </p:txBody>
      </p:sp>
      <p:sp>
        <p:nvSpPr>
          <p:cNvPr id="87" name="Text 85"/>
          <p:cNvSpPr/>
          <p:nvPr/>
        </p:nvSpPr>
        <p:spPr>
          <a:xfrm>
            <a:off x="6300216" y="4882896"/>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Low originals pipeline</a:t>
            </a:r>
            <a:endParaRPr lang="en-US" sz="750" dirty="0"/>
          </a:p>
        </p:txBody>
      </p:sp>
      <p:sp>
        <p:nvSpPr>
          <p:cNvPr id="88" name="Text 86"/>
          <p:cNvSpPr/>
          <p:nvPr/>
        </p:nvSpPr>
        <p:spPr>
          <a:xfrm>
            <a:off x="6300216" y="512064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App quality</a:t>
            </a:r>
            <a:endParaRPr lang="en-US" sz="750" dirty="0"/>
          </a:p>
        </p:txBody>
      </p:sp>
      <p:sp>
        <p:nvSpPr>
          <p:cNvPr id="89" name="Shape 87"/>
          <p:cNvSpPr/>
          <p:nvPr/>
        </p:nvSpPr>
        <p:spPr>
          <a:xfrm>
            <a:off x="6281928" y="5394960"/>
            <a:ext cx="1737360" cy="219456"/>
          </a:xfrm>
          <a:prstGeom prst="rect">
            <a:avLst/>
          </a:prstGeom>
          <a:solidFill>
            <a:srgbClr val="DCFCE7"/>
          </a:solidFill>
          <a:ln/>
        </p:spPr>
      </p:sp>
      <p:sp>
        <p:nvSpPr>
          <p:cNvPr id="90" name="Text 88"/>
          <p:cNvSpPr/>
          <p:nvPr/>
        </p:nvSpPr>
        <p:spPr>
          <a:xfrm>
            <a:off x="6300216" y="5413248"/>
            <a:ext cx="1700784" cy="182880"/>
          </a:xfrm>
          <a:prstGeom prst="rect">
            <a:avLst/>
          </a:prstGeom>
          <a:noFill/>
          <a:ln/>
        </p:spPr>
        <p:txBody>
          <a:bodyPr wrap="square" rtlCol="0" anchor="ctr"/>
          <a:lstStyle/>
          <a:p>
            <a:pPr algn="ctr" indent="0" marL="0">
              <a:buNone/>
            </a:pPr>
            <a:r>
              <a:rPr lang="en-US" sz="800" b="1" dirty="0">
                <a:solidFill>
                  <a:srgbClr val="0F172A"/>
                </a:solidFill>
                <a:latin typeface="Calibri" pitchFamily="34" charset="0"/>
                <a:ea typeface="Calibri" pitchFamily="34" charset="-122"/>
                <a:cs typeface="Calibri" pitchFamily="34" charset="-120"/>
              </a:rPr>
              <a:t>Trend: Stable</a:t>
            </a:r>
            <a:endParaRPr lang="en-US" sz="800" dirty="0"/>
          </a:p>
        </p:txBody>
      </p:sp>
      <p:sp>
        <p:nvSpPr>
          <p:cNvPr id="91" name="Shape 89"/>
          <p:cNvSpPr/>
          <p:nvPr/>
        </p:nvSpPr>
        <p:spPr>
          <a:xfrm>
            <a:off x="8211312" y="1463040"/>
            <a:ext cx="1874520" cy="51023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92" name="Shape 90"/>
          <p:cNvSpPr/>
          <p:nvPr/>
        </p:nvSpPr>
        <p:spPr>
          <a:xfrm>
            <a:off x="8211312" y="1463040"/>
            <a:ext cx="1874520" cy="73152"/>
          </a:xfrm>
          <a:prstGeom prst="rect">
            <a:avLst/>
          </a:prstGeom>
          <a:solidFill>
            <a:srgbClr val="7C3AED"/>
          </a:solidFill>
          <a:ln/>
        </p:spPr>
      </p:sp>
      <p:sp>
        <p:nvSpPr>
          <p:cNvPr id="93" name="Shape 91"/>
          <p:cNvSpPr/>
          <p:nvPr/>
        </p:nvSpPr>
        <p:spPr>
          <a:xfrm>
            <a:off x="8211312" y="1508760"/>
            <a:ext cx="1874520" cy="530352"/>
          </a:xfrm>
          <a:prstGeom prst="rect">
            <a:avLst/>
          </a:prstGeom>
          <a:solidFill>
            <a:srgbClr val="0F172A"/>
          </a:solidFill>
          <a:ln/>
        </p:spPr>
      </p:sp>
      <p:sp>
        <p:nvSpPr>
          <p:cNvPr id="94" name="Text 92"/>
          <p:cNvSpPr/>
          <p:nvPr/>
        </p:nvSpPr>
        <p:spPr>
          <a:xfrm>
            <a:off x="8266176" y="1545336"/>
            <a:ext cx="1755648" cy="274320"/>
          </a:xfrm>
          <a:prstGeom prst="rect">
            <a:avLst/>
          </a:prstGeom>
          <a:noFill/>
          <a:ln/>
        </p:spPr>
        <p:txBody>
          <a:bodyPr wrap="square"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ZEE5</a:t>
            </a:r>
            <a:endParaRPr lang="en-US" sz="1000" dirty="0"/>
          </a:p>
        </p:txBody>
      </p:sp>
      <p:sp>
        <p:nvSpPr>
          <p:cNvPr id="95" name="Text 93"/>
          <p:cNvSpPr/>
          <p:nvPr/>
        </p:nvSpPr>
        <p:spPr>
          <a:xfrm>
            <a:off x="8266176" y="1828800"/>
            <a:ext cx="1755648" cy="182880"/>
          </a:xfrm>
          <a:prstGeom prst="rect">
            <a:avLst/>
          </a:prstGeom>
          <a:noFill/>
          <a:ln/>
        </p:spPr>
        <p:txBody>
          <a:bodyPr wrap="square" rtlCol="0" anchor="ctr"/>
          <a:lstStyle/>
          <a:p>
            <a:pPr algn="ctr" indent="0" marL="0">
              <a:buNone/>
            </a:pPr>
            <a:r>
              <a:rPr lang="en-US" sz="750" b="1" dirty="0">
                <a:solidFill>
                  <a:srgbClr val="7C3AED"/>
                </a:solidFill>
                <a:latin typeface="Calibri" pitchFamily="34" charset="0"/>
                <a:ea typeface="Calibri" pitchFamily="34" charset="-122"/>
                <a:cs typeface="Calibri" pitchFamily="34" charset="-120"/>
              </a:rPr>
              <a:t>Below Average</a:t>
            </a:r>
            <a:endParaRPr lang="en-US" sz="750" dirty="0"/>
          </a:p>
        </p:txBody>
      </p:sp>
      <p:sp>
        <p:nvSpPr>
          <p:cNvPr id="96" name="Shape 94"/>
          <p:cNvSpPr/>
          <p:nvPr/>
        </p:nvSpPr>
        <p:spPr>
          <a:xfrm>
            <a:off x="8531352" y="2103120"/>
            <a:ext cx="1234440" cy="731520"/>
          </a:xfrm>
          <a:prstGeom prst="rect">
            <a:avLst/>
          </a:prstGeom>
          <a:solidFill>
            <a:srgbClr val="EF4444"/>
          </a:solidFill>
          <a:ln/>
        </p:spPr>
      </p:sp>
      <p:sp>
        <p:nvSpPr>
          <p:cNvPr id="97" name="Text 95"/>
          <p:cNvSpPr/>
          <p:nvPr/>
        </p:nvSpPr>
        <p:spPr>
          <a:xfrm>
            <a:off x="8531352" y="2121408"/>
            <a:ext cx="1234440" cy="530352"/>
          </a:xfrm>
          <a:prstGeom prst="rect">
            <a:avLst/>
          </a:prstGeom>
          <a:noFill/>
          <a:ln/>
        </p:spPr>
        <p:txBody>
          <a:bodyPr wrap="square" rtlCol="0" anchor="ctr"/>
          <a:lstStyle/>
          <a:p>
            <a:pPr algn="ctr" indent="0" marL="0">
              <a:buNone/>
            </a:pPr>
            <a:r>
              <a:rPr lang="en-US" sz="3000" b="1" dirty="0">
                <a:solidFill>
                  <a:srgbClr val="FFFFFF"/>
                </a:solidFill>
                <a:latin typeface="Arial Black" pitchFamily="34" charset="0"/>
                <a:ea typeface="Arial Black" pitchFamily="34" charset="-122"/>
                <a:cs typeface="Arial Black" pitchFamily="34" charset="-120"/>
              </a:rPr>
              <a:t>+13</a:t>
            </a:r>
            <a:endParaRPr lang="en-US" sz="3000" dirty="0"/>
          </a:p>
        </p:txBody>
      </p:sp>
      <p:sp>
        <p:nvSpPr>
          <p:cNvPr id="98" name="Text 96"/>
          <p:cNvSpPr/>
          <p:nvPr/>
        </p:nvSpPr>
        <p:spPr>
          <a:xfrm>
            <a:off x="8531352" y="2651760"/>
            <a:ext cx="1234440" cy="18288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NSS</a:t>
            </a:r>
            <a:endParaRPr lang="en-US" sz="850" dirty="0"/>
          </a:p>
        </p:txBody>
      </p:sp>
      <p:sp>
        <p:nvSpPr>
          <p:cNvPr id="99" name="Text 97"/>
          <p:cNvSpPr/>
          <p:nvPr/>
        </p:nvSpPr>
        <p:spPr>
          <a:xfrm>
            <a:off x="8266176" y="2944368"/>
            <a:ext cx="1755648" cy="228600"/>
          </a:xfrm>
          <a:prstGeom prst="rect">
            <a:avLst/>
          </a:prstGeom>
          <a:noFill/>
          <a:ln/>
        </p:spPr>
        <p:txBody>
          <a:bodyPr wrap="square" rtlCol="0" anchor="ctr"/>
          <a:lstStyle/>
          <a:p>
            <a:pPr algn="ctr" indent="0" marL="0">
              <a:buNone/>
            </a:pPr>
            <a:r>
              <a:rPr lang="en-US" sz="850" b="1" dirty="0">
                <a:solidFill>
                  <a:srgbClr val="22C55E"/>
                </a:solidFill>
                <a:latin typeface="Calibri" pitchFamily="34" charset="0"/>
                <a:ea typeface="Calibri" pitchFamily="34" charset="-122"/>
                <a:cs typeface="Calibri" pitchFamily="34" charset="-120"/>
              </a:rPr>
              <a:t>✅ 39% Positive</a:t>
            </a:r>
            <a:endParaRPr lang="en-US" sz="850" dirty="0"/>
          </a:p>
        </p:txBody>
      </p:sp>
      <p:sp>
        <p:nvSpPr>
          <p:cNvPr id="100" name="Text 98"/>
          <p:cNvSpPr/>
          <p:nvPr/>
        </p:nvSpPr>
        <p:spPr>
          <a:xfrm>
            <a:off x="8266176" y="3200400"/>
            <a:ext cx="1755648" cy="228600"/>
          </a:xfrm>
          <a:prstGeom prst="rect">
            <a:avLst/>
          </a:prstGeom>
          <a:noFill/>
          <a:ln/>
        </p:spPr>
        <p:txBody>
          <a:bodyPr wrap="square" rtlCol="0" anchor="ctr"/>
          <a:lstStyle/>
          <a:p>
            <a:pPr algn="ctr" indent="0" marL="0">
              <a:buNone/>
            </a:pPr>
            <a:r>
              <a:rPr lang="en-US" sz="850" b="1" dirty="0">
                <a:solidFill>
                  <a:srgbClr val="EF4444"/>
                </a:solidFill>
                <a:latin typeface="Calibri" pitchFamily="34" charset="0"/>
                <a:ea typeface="Calibri" pitchFamily="34" charset="-122"/>
                <a:cs typeface="Calibri" pitchFamily="34" charset="-120"/>
              </a:rPr>
              <a:t>❌ 26% Negative</a:t>
            </a:r>
            <a:endParaRPr lang="en-US" sz="850" dirty="0"/>
          </a:p>
        </p:txBody>
      </p:sp>
      <p:sp>
        <p:nvSpPr>
          <p:cNvPr id="101" name="Text 99"/>
          <p:cNvSpPr/>
          <p:nvPr/>
        </p:nvSpPr>
        <p:spPr>
          <a:xfrm>
            <a:off x="8266176" y="3456432"/>
            <a:ext cx="1755648" cy="201168"/>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Vol: 400K/mo</a:t>
            </a:r>
            <a:endParaRPr lang="en-US" sz="800" dirty="0"/>
          </a:p>
        </p:txBody>
      </p:sp>
      <p:sp>
        <p:nvSpPr>
          <p:cNvPr id="102" name="Text 100"/>
          <p:cNvSpPr/>
          <p:nvPr/>
        </p:nvSpPr>
        <p:spPr>
          <a:xfrm>
            <a:off x="8266176" y="3712464"/>
            <a:ext cx="1755648" cy="219456"/>
          </a:xfrm>
          <a:prstGeom prst="rect">
            <a:avLst/>
          </a:prstGeom>
          <a:noFill/>
          <a:ln/>
        </p:spPr>
        <p:txBody>
          <a:bodyPr wrap="square" rtlCol="0" anchor="ctr"/>
          <a:lstStyle/>
          <a:p>
            <a:pPr indent="0" marL="0">
              <a:buNone/>
            </a:pPr>
            <a:r>
              <a:rPr lang="en-US" sz="750" b="1" dirty="0">
                <a:solidFill>
                  <a:srgbClr val="22C55E"/>
                </a:solidFill>
                <a:latin typeface="Calibri" pitchFamily="34" charset="0"/>
                <a:ea typeface="Calibri" pitchFamily="34" charset="-122"/>
                <a:cs typeface="Calibri" pitchFamily="34" charset="-120"/>
              </a:rPr>
              <a:t>↑ NSS Drivers</a:t>
            </a:r>
            <a:endParaRPr lang="en-US" sz="750" dirty="0"/>
          </a:p>
        </p:txBody>
      </p:sp>
      <p:sp>
        <p:nvSpPr>
          <p:cNvPr id="103" name="Text 101"/>
          <p:cNvSpPr/>
          <p:nvPr/>
        </p:nvSpPr>
        <p:spPr>
          <a:xfrm>
            <a:off x="8284464" y="393192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Regional content</a:t>
            </a:r>
            <a:endParaRPr lang="en-US" sz="750" dirty="0"/>
          </a:p>
        </p:txBody>
      </p:sp>
      <p:sp>
        <p:nvSpPr>
          <p:cNvPr id="104" name="Text 102"/>
          <p:cNvSpPr/>
          <p:nvPr/>
        </p:nvSpPr>
        <p:spPr>
          <a:xfrm>
            <a:off x="8284464" y="4169664"/>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ZEE5 Tamil/Telugu</a:t>
            </a:r>
            <a:endParaRPr lang="en-US" sz="750" dirty="0"/>
          </a:p>
        </p:txBody>
      </p:sp>
      <p:sp>
        <p:nvSpPr>
          <p:cNvPr id="105" name="Text 103"/>
          <p:cNvSpPr/>
          <p:nvPr/>
        </p:nvSpPr>
        <p:spPr>
          <a:xfrm>
            <a:off x="8266176" y="4663440"/>
            <a:ext cx="1755648" cy="219456"/>
          </a:xfrm>
          <a:prstGeom prst="rect">
            <a:avLst/>
          </a:prstGeom>
          <a:noFill/>
          <a:ln/>
        </p:spPr>
        <p:txBody>
          <a:bodyPr wrap="square" rtlCol="0" anchor="ctr"/>
          <a:lstStyle/>
          <a:p>
            <a:pPr indent="0" marL="0">
              <a:buNone/>
            </a:pPr>
            <a:r>
              <a:rPr lang="en-US" sz="750" b="1" dirty="0">
                <a:solidFill>
                  <a:srgbClr val="EF4444"/>
                </a:solidFill>
                <a:latin typeface="Calibri" pitchFamily="34" charset="0"/>
                <a:ea typeface="Calibri" pitchFamily="34" charset="-122"/>
                <a:cs typeface="Calibri" pitchFamily="34" charset="-120"/>
              </a:rPr>
              <a:t>↓ NSS Risks</a:t>
            </a:r>
            <a:endParaRPr lang="en-US" sz="750" dirty="0"/>
          </a:p>
        </p:txBody>
      </p:sp>
      <p:sp>
        <p:nvSpPr>
          <p:cNvPr id="106" name="Text 104"/>
          <p:cNvSpPr/>
          <p:nvPr/>
        </p:nvSpPr>
        <p:spPr>
          <a:xfrm>
            <a:off x="8284464" y="4882896"/>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No national breakout hit</a:t>
            </a:r>
            <a:endParaRPr lang="en-US" sz="750" dirty="0"/>
          </a:p>
        </p:txBody>
      </p:sp>
      <p:sp>
        <p:nvSpPr>
          <p:cNvPr id="107" name="Text 105"/>
          <p:cNvSpPr/>
          <p:nvPr/>
        </p:nvSpPr>
        <p:spPr>
          <a:xfrm>
            <a:off x="8284464" y="512064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Weak brand salience</a:t>
            </a:r>
            <a:endParaRPr lang="en-US" sz="750" dirty="0"/>
          </a:p>
        </p:txBody>
      </p:sp>
      <p:sp>
        <p:nvSpPr>
          <p:cNvPr id="108" name="Shape 106"/>
          <p:cNvSpPr/>
          <p:nvPr/>
        </p:nvSpPr>
        <p:spPr>
          <a:xfrm>
            <a:off x="8266176" y="5394960"/>
            <a:ext cx="1737360" cy="219456"/>
          </a:xfrm>
          <a:prstGeom prst="rect">
            <a:avLst/>
          </a:prstGeom>
          <a:solidFill>
            <a:srgbClr val="FED7AA"/>
          </a:solidFill>
          <a:ln/>
        </p:spPr>
      </p:sp>
      <p:sp>
        <p:nvSpPr>
          <p:cNvPr id="109" name="Text 107"/>
          <p:cNvSpPr/>
          <p:nvPr/>
        </p:nvSpPr>
        <p:spPr>
          <a:xfrm>
            <a:off x="8284464" y="5413248"/>
            <a:ext cx="1700784" cy="182880"/>
          </a:xfrm>
          <a:prstGeom prst="rect">
            <a:avLst/>
          </a:prstGeom>
          <a:noFill/>
          <a:ln/>
        </p:spPr>
        <p:txBody>
          <a:bodyPr wrap="square" rtlCol="0" anchor="ctr"/>
          <a:lstStyle/>
          <a:p>
            <a:pPr algn="ctr" indent="0" marL="0">
              <a:buNone/>
            </a:pPr>
            <a:r>
              <a:rPr lang="en-US" sz="800" b="1" dirty="0">
                <a:solidFill>
                  <a:srgbClr val="0F172A"/>
                </a:solidFill>
                <a:latin typeface="Calibri" pitchFamily="34" charset="0"/>
                <a:ea typeface="Calibri" pitchFamily="34" charset="-122"/>
                <a:cs typeface="Calibri" pitchFamily="34" charset="-120"/>
              </a:rPr>
              <a:t>Trend: Flat</a:t>
            </a:r>
            <a:endParaRPr lang="en-US" sz="800" dirty="0"/>
          </a:p>
        </p:txBody>
      </p:sp>
      <p:sp>
        <p:nvSpPr>
          <p:cNvPr id="110" name="Shape 108"/>
          <p:cNvSpPr/>
          <p:nvPr/>
        </p:nvSpPr>
        <p:spPr>
          <a:xfrm>
            <a:off x="10195560" y="1463040"/>
            <a:ext cx="1874520" cy="5102352"/>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111" name="Shape 109"/>
          <p:cNvSpPr/>
          <p:nvPr/>
        </p:nvSpPr>
        <p:spPr>
          <a:xfrm>
            <a:off x="10195560" y="1463040"/>
            <a:ext cx="1874520" cy="73152"/>
          </a:xfrm>
          <a:prstGeom prst="rect">
            <a:avLst/>
          </a:prstGeom>
          <a:solidFill>
            <a:srgbClr val="D4A800"/>
          </a:solidFill>
          <a:ln/>
        </p:spPr>
      </p:sp>
      <p:sp>
        <p:nvSpPr>
          <p:cNvPr id="112" name="Shape 110"/>
          <p:cNvSpPr/>
          <p:nvPr/>
        </p:nvSpPr>
        <p:spPr>
          <a:xfrm>
            <a:off x="10195560" y="1508760"/>
            <a:ext cx="1874520" cy="530352"/>
          </a:xfrm>
          <a:prstGeom prst="rect">
            <a:avLst/>
          </a:prstGeom>
          <a:solidFill>
            <a:srgbClr val="0F172A"/>
          </a:solidFill>
          <a:ln/>
        </p:spPr>
      </p:sp>
      <p:sp>
        <p:nvSpPr>
          <p:cNvPr id="113" name="Text 111"/>
          <p:cNvSpPr/>
          <p:nvPr/>
        </p:nvSpPr>
        <p:spPr>
          <a:xfrm>
            <a:off x="10250424" y="1545336"/>
            <a:ext cx="1755648" cy="274320"/>
          </a:xfrm>
          <a:prstGeom prst="rect">
            <a:avLst/>
          </a:prstGeom>
          <a:noFill/>
          <a:ln/>
        </p:spPr>
        <p:txBody>
          <a:bodyPr wrap="square"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DAZN India</a:t>
            </a:r>
            <a:endParaRPr lang="en-US" sz="1000" dirty="0"/>
          </a:p>
        </p:txBody>
      </p:sp>
      <p:sp>
        <p:nvSpPr>
          <p:cNvPr id="114" name="Text 112"/>
          <p:cNvSpPr/>
          <p:nvPr/>
        </p:nvSpPr>
        <p:spPr>
          <a:xfrm>
            <a:off x="10250424" y="1828800"/>
            <a:ext cx="1755648" cy="182880"/>
          </a:xfrm>
          <a:prstGeom prst="rect">
            <a:avLst/>
          </a:prstGeom>
          <a:noFill/>
          <a:ln/>
        </p:spPr>
        <p:txBody>
          <a:bodyPr wrap="square" rtlCol="0" anchor="ctr"/>
          <a:lstStyle/>
          <a:p>
            <a:pPr algn="ctr" indent="0" marL="0">
              <a:buNone/>
            </a:pPr>
            <a:r>
              <a:rPr lang="en-US" sz="750" b="1" dirty="0">
                <a:solidFill>
                  <a:srgbClr val="D4A800"/>
                </a:solidFill>
                <a:latin typeface="Calibri" pitchFamily="34" charset="0"/>
                <a:ea typeface="Calibri" pitchFamily="34" charset="-122"/>
                <a:cs typeface="Calibri" pitchFamily="34" charset="-120"/>
              </a:rPr>
              <a:t>⚠️ At Risk</a:t>
            </a:r>
            <a:endParaRPr lang="en-US" sz="750" dirty="0"/>
          </a:p>
        </p:txBody>
      </p:sp>
      <p:sp>
        <p:nvSpPr>
          <p:cNvPr id="115" name="Shape 113"/>
          <p:cNvSpPr/>
          <p:nvPr/>
        </p:nvSpPr>
        <p:spPr>
          <a:xfrm>
            <a:off x="10515600" y="2103120"/>
            <a:ext cx="1234440" cy="731520"/>
          </a:xfrm>
          <a:prstGeom prst="rect">
            <a:avLst/>
          </a:prstGeom>
          <a:solidFill>
            <a:srgbClr val="EF4444"/>
          </a:solidFill>
          <a:ln/>
        </p:spPr>
      </p:sp>
      <p:sp>
        <p:nvSpPr>
          <p:cNvPr id="116" name="Text 114"/>
          <p:cNvSpPr/>
          <p:nvPr/>
        </p:nvSpPr>
        <p:spPr>
          <a:xfrm>
            <a:off x="10515600" y="2121408"/>
            <a:ext cx="1234440" cy="530352"/>
          </a:xfrm>
          <a:prstGeom prst="rect">
            <a:avLst/>
          </a:prstGeom>
          <a:noFill/>
          <a:ln/>
        </p:spPr>
        <p:txBody>
          <a:bodyPr wrap="square" rtlCol="0" anchor="ctr"/>
          <a:lstStyle/>
          <a:p>
            <a:pPr algn="ctr" indent="0" marL="0">
              <a:buNone/>
            </a:pPr>
            <a:r>
              <a:rPr lang="en-US" sz="3000" b="1" dirty="0">
                <a:solidFill>
                  <a:srgbClr val="FFFFFF"/>
                </a:solidFill>
                <a:latin typeface="Arial Black" pitchFamily="34" charset="0"/>
                <a:ea typeface="Arial Black" pitchFamily="34" charset="-122"/>
                <a:cs typeface="Arial Black" pitchFamily="34" charset="-120"/>
              </a:rPr>
              <a:t>+10</a:t>
            </a:r>
            <a:endParaRPr lang="en-US" sz="3000" dirty="0"/>
          </a:p>
        </p:txBody>
      </p:sp>
      <p:sp>
        <p:nvSpPr>
          <p:cNvPr id="117" name="Text 115"/>
          <p:cNvSpPr/>
          <p:nvPr/>
        </p:nvSpPr>
        <p:spPr>
          <a:xfrm>
            <a:off x="10515600" y="2651760"/>
            <a:ext cx="1234440" cy="18288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NSS</a:t>
            </a:r>
            <a:endParaRPr lang="en-US" sz="850" dirty="0"/>
          </a:p>
        </p:txBody>
      </p:sp>
      <p:sp>
        <p:nvSpPr>
          <p:cNvPr id="118" name="Text 116"/>
          <p:cNvSpPr/>
          <p:nvPr/>
        </p:nvSpPr>
        <p:spPr>
          <a:xfrm>
            <a:off x="10250424" y="2944368"/>
            <a:ext cx="1755648" cy="228600"/>
          </a:xfrm>
          <a:prstGeom prst="rect">
            <a:avLst/>
          </a:prstGeom>
          <a:noFill/>
          <a:ln/>
        </p:spPr>
        <p:txBody>
          <a:bodyPr wrap="square" rtlCol="0" anchor="ctr"/>
          <a:lstStyle/>
          <a:p>
            <a:pPr algn="ctr" indent="0" marL="0">
              <a:buNone/>
            </a:pPr>
            <a:r>
              <a:rPr lang="en-US" sz="850" b="1" dirty="0">
                <a:solidFill>
                  <a:srgbClr val="22C55E"/>
                </a:solidFill>
                <a:latin typeface="Calibri" pitchFamily="34" charset="0"/>
                <a:ea typeface="Calibri" pitchFamily="34" charset="-122"/>
                <a:cs typeface="Calibri" pitchFamily="34" charset="-120"/>
              </a:rPr>
              <a:t>✅ 38% Positive</a:t>
            </a:r>
            <a:endParaRPr lang="en-US" sz="850" dirty="0"/>
          </a:p>
        </p:txBody>
      </p:sp>
      <p:sp>
        <p:nvSpPr>
          <p:cNvPr id="119" name="Text 117"/>
          <p:cNvSpPr/>
          <p:nvPr/>
        </p:nvSpPr>
        <p:spPr>
          <a:xfrm>
            <a:off x="10250424" y="3200400"/>
            <a:ext cx="1755648" cy="228600"/>
          </a:xfrm>
          <a:prstGeom prst="rect">
            <a:avLst/>
          </a:prstGeom>
          <a:noFill/>
          <a:ln/>
        </p:spPr>
        <p:txBody>
          <a:bodyPr wrap="square" rtlCol="0" anchor="ctr"/>
          <a:lstStyle/>
          <a:p>
            <a:pPr algn="ctr" indent="0" marL="0">
              <a:buNone/>
            </a:pPr>
            <a:r>
              <a:rPr lang="en-US" sz="850" b="1" dirty="0">
                <a:solidFill>
                  <a:srgbClr val="EF4444"/>
                </a:solidFill>
                <a:latin typeface="Calibri" pitchFamily="34" charset="0"/>
                <a:ea typeface="Calibri" pitchFamily="34" charset="-122"/>
                <a:cs typeface="Calibri" pitchFamily="34" charset="-120"/>
              </a:rPr>
              <a:t>❌ 28% Negative</a:t>
            </a:r>
            <a:endParaRPr lang="en-US" sz="850" dirty="0"/>
          </a:p>
        </p:txBody>
      </p:sp>
      <p:sp>
        <p:nvSpPr>
          <p:cNvPr id="120" name="Text 118"/>
          <p:cNvSpPr/>
          <p:nvPr/>
        </p:nvSpPr>
        <p:spPr>
          <a:xfrm>
            <a:off x="10250424" y="3456432"/>
            <a:ext cx="1755648" cy="201168"/>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Vol: 50K/mo</a:t>
            </a:r>
            <a:endParaRPr lang="en-US" sz="800" dirty="0"/>
          </a:p>
        </p:txBody>
      </p:sp>
      <p:sp>
        <p:nvSpPr>
          <p:cNvPr id="121" name="Text 119"/>
          <p:cNvSpPr/>
          <p:nvPr/>
        </p:nvSpPr>
        <p:spPr>
          <a:xfrm>
            <a:off x="10250424" y="3712464"/>
            <a:ext cx="1755648" cy="219456"/>
          </a:xfrm>
          <a:prstGeom prst="rect">
            <a:avLst/>
          </a:prstGeom>
          <a:noFill/>
          <a:ln/>
        </p:spPr>
        <p:txBody>
          <a:bodyPr wrap="square" rtlCol="0" anchor="ctr"/>
          <a:lstStyle/>
          <a:p>
            <a:pPr indent="0" marL="0">
              <a:buNone/>
            </a:pPr>
            <a:r>
              <a:rPr lang="en-US" sz="750" b="1" dirty="0">
                <a:solidFill>
                  <a:srgbClr val="22C55E"/>
                </a:solidFill>
                <a:latin typeface="Calibri" pitchFamily="34" charset="0"/>
                <a:ea typeface="Calibri" pitchFamily="34" charset="-122"/>
                <a:cs typeface="Calibri" pitchFamily="34" charset="-120"/>
              </a:rPr>
              <a:t>↑ NSS Drivers</a:t>
            </a:r>
            <a:endParaRPr lang="en-US" sz="750" dirty="0"/>
          </a:p>
        </p:txBody>
      </p:sp>
      <p:sp>
        <p:nvSpPr>
          <p:cNvPr id="122" name="Text 120"/>
          <p:cNvSpPr/>
          <p:nvPr/>
        </p:nvSpPr>
        <p:spPr>
          <a:xfrm>
            <a:off x="10268712" y="393192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NFL niche community</a:t>
            </a:r>
            <a:endParaRPr lang="en-US" sz="750" dirty="0"/>
          </a:p>
        </p:txBody>
      </p:sp>
      <p:sp>
        <p:nvSpPr>
          <p:cNvPr id="123" name="Text 121"/>
          <p:cNvSpPr/>
          <p:nvPr/>
        </p:nvSpPr>
        <p:spPr>
          <a:xfrm>
            <a:off x="10268712" y="4169664"/>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Boxing fans</a:t>
            </a:r>
            <a:endParaRPr lang="en-US" sz="750" dirty="0"/>
          </a:p>
        </p:txBody>
      </p:sp>
      <p:sp>
        <p:nvSpPr>
          <p:cNvPr id="124" name="Text 122"/>
          <p:cNvSpPr/>
          <p:nvPr/>
        </p:nvSpPr>
        <p:spPr>
          <a:xfrm>
            <a:off x="10268712" y="4407408"/>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Free tier</a:t>
            </a:r>
            <a:endParaRPr lang="en-US" sz="750" dirty="0"/>
          </a:p>
        </p:txBody>
      </p:sp>
      <p:sp>
        <p:nvSpPr>
          <p:cNvPr id="125" name="Text 123"/>
          <p:cNvSpPr/>
          <p:nvPr/>
        </p:nvSpPr>
        <p:spPr>
          <a:xfrm>
            <a:off x="10250424" y="4663440"/>
            <a:ext cx="1755648" cy="219456"/>
          </a:xfrm>
          <a:prstGeom prst="rect">
            <a:avLst/>
          </a:prstGeom>
          <a:noFill/>
          <a:ln/>
        </p:spPr>
        <p:txBody>
          <a:bodyPr wrap="square" rtlCol="0" anchor="ctr"/>
          <a:lstStyle/>
          <a:p>
            <a:pPr indent="0" marL="0">
              <a:buNone/>
            </a:pPr>
            <a:r>
              <a:rPr lang="en-US" sz="750" b="1" dirty="0">
                <a:solidFill>
                  <a:srgbClr val="EF4444"/>
                </a:solidFill>
                <a:latin typeface="Calibri" pitchFamily="34" charset="0"/>
                <a:ea typeface="Calibri" pitchFamily="34" charset="-122"/>
                <a:cs typeface="Calibri" pitchFamily="34" charset="-120"/>
              </a:rPr>
              <a:t>↓ NSS Risks</a:t>
            </a:r>
            <a:endParaRPr lang="en-US" sz="750" dirty="0"/>
          </a:p>
        </p:txBody>
      </p:sp>
      <p:sp>
        <p:nvSpPr>
          <p:cNvPr id="126" name="Text 124"/>
          <p:cNvSpPr/>
          <p:nvPr/>
        </p:nvSpPr>
        <p:spPr>
          <a:xfrm>
            <a:off x="10268712" y="4882896"/>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Global billing trust</a:t>
            </a:r>
            <a:endParaRPr lang="en-US" sz="750" dirty="0"/>
          </a:p>
        </p:txBody>
      </p:sp>
      <p:sp>
        <p:nvSpPr>
          <p:cNvPr id="127" name="Text 125"/>
          <p:cNvSpPr/>
          <p:nvPr/>
        </p:nvSpPr>
        <p:spPr>
          <a:xfrm>
            <a:off x="10268712" y="5120640"/>
            <a:ext cx="1719072" cy="219456"/>
          </a:xfrm>
          <a:prstGeom prst="rect">
            <a:avLst/>
          </a:prstGeom>
          <a:noFill/>
          <a:ln/>
        </p:spPr>
        <p:txBody>
          <a:bodyPr wrap="square" rtlCol="0" anchor="ctr"/>
          <a:lstStyle/>
          <a:p>
            <a:pPr indent="0" marL="0">
              <a:buNone/>
            </a:pPr>
            <a:r>
              <a:rPr lang="en-US" sz="750" dirty="0">
                <a:solidFill>
                  <a:srgbClr val="334155"/>
                </a:solidFill>
                <a:latin typeface="Calibri" pitchFamily="34" charset="0"/>
                <a:ea typeface="Calibri" pitchFamily="34" charset="-122"/>
                <a:cs typeface="Calibri" pitchFamily="34" charset="-120"/>
              </a:rPr>
              <a:t>• No cricket</a:t>
            </a:r>
            <a:endParaRPr lang="en-US" sz="750" dirty="0"/>
          </a:p>
        </p:txBody>
      </p:sp>
      <p:sp>
        <p:nvSpPr>
          <p:cNvPr id="128" name="Shape 126"/>
          <p:cNvSpPr/>
          <p:nvPr/>
        </p:nvSpPr>
        <p:spPr>
          <a:xfrm>
            <a:off x="10250424" y="5394960"/>
            <a:ext cx="1737360" cy="219456"/>
          </a:xfrm>
          <a:prstGeom prst="rect">
            <a:avLst/>
          </a:prstGeom>
          <a:solidFill>
            <a:srgbClr val="FEF9C3"/>
          </a:solidFill>
          <a:ln/>
        </p:spPr>
      </p:sp>
      <p:sp>
        <p:nvSpPr>
          <p:cNvPr id="129" name="Text 127"/>
          <p:cNvSpPr/>
          <p:nvPr/>
        </p:nvSpPr>
        <p:spPr>
          <a:xfrm>
            <a:off x="10268712" y="5413248"/>
            <a:ext cx="1700784" cy="182880"/>
          </a:xfrm>
          <a:prstGeom prst="rect">
            <a:avLst/>
          </a:prstGeom>
          <a:noFill/>
          <a:ln/>
        </p:spPr>
        <p:txBody>
          <a:bodyPr wrap="square" rtlCol="0" anchor="ctr"/>
          <a:lstStyle/>
          <a:p>
            <a:pPr algn="ctr" indent="0" marL="0">
              <a:buNone/>
            </a:pPr>
            <a:r>
              <a:rPr lang="en-US" sz="800" b="1" dirty="0">
                <a:solidFill>
                  <a:srgbClr val="0F172A"/>
                </a:solidFill>
                <a:latin typeface="Calibri" pitchFamily="34" charset="0"/>
                <a:ea typeface="Calibri" pitchFamily="34" charset="-122"/>
                <a:cs typeface="Calibri" pitchFamily="34" charset="-120"/>
              </a:rPr>
              <a:t>Trend: ⚠️ Critical</a:t>
            </a:r>
            <a:endParaRPr lang="en-US" sz="800" dirty="0"/>
          </a:p>
        </p:txBody>
      </p:sp>
      <p:sp>
        <p:nvSpPr>
          <p:cNvPr id="130" name="Shape 128"/>
          <p:cNvSpPr/>
          <p:nvPr/>
        </p:nvSpPr>
        <p:spPr>
          <a:xfrm>
            <a:off x="274320" y="6419088"/>
            <a:ext cx="11612880" cy="228600"/>
          </a:xfrm>
          <a:prstGeom prst="rect">
            <a:avLst/>
          </a:prstGeom>
          <a:solidFill>
            <a:srgbClr val="FEF9C3"/>
          </a:solidFill>
          <a:ln/>
        </p:spPr>
      </p:sp>
      <p:sp>
        <p:nvSpPr>
          <p:cNvPr id="131" name="Text 129"/>
          <p:cNvSpPr/>
          <p:nvPr/>
        </p:nvSpPr>
        <p:spPr>
          <a:xfrm>
            <a:off x="365760" y="6437376"/>
            <a:ext cx="11430000" cy="192024"/>
          </a:xfrm>
          <a:prstGeom prst="rect">
            <a:avLst/>
          </a:prstGeom>
          <a:noFill/>
          <a:ln/>
        </p:spPr>
        <p:txBody>
          <a:bodyPr wrap="square" rtlCol="0" anchor="ctr"/>
          <a:lstStyle/>
          <a:p>
            <a:pPr indent="0" marL="0">
              <a:buNone/>
            </a:pPr>
            <a:r>
              <a:rPr lang="en-US" sz="800" b="1" dirty="0">
                <a:solidFill>
                  <a:srgbClr val="713F12"/>
                </a:solidFill>
                <a:latin typeface="Calibri" pitchFamily="34" charset="0"/>
                <a:ea typeface="Calibri" pitchFamily="34" charset="-122"/>
                <a:cs typeface="Calibri" pitchFamily="34" charset="-120"/>
              </a:rPr>
              <a:t>📊  DAZN NSS = +10 (borderline). Primary risk is NOT deep negative sentiment — it is LOW VOLUME and ZERO INDIA BRAND PRESENCE. Building NSS requires building social presence first. Target: NSS &gt;25 within 12 months through India social handle launch + content strategy.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804672"/>
          </a:xfrm>
          <a:prstGeom prst="rect">
            <a:avLst/>
          </a:prstGeom>
          <a:solidFill>
            <a:srgbClr val="0F172A"/>
          </a:solidFill>
          <a:ln/>
        </p:spPr>
      </p:sp>
      <p:sp>
        <p:nvSpPr>
          <p:cNvPr id="3" name="Shape 1"/>
          <p:cNvSpPr/>
          <p:nvPr/>
        </p:nvSpPr>
        <p:spPr>
          <a:xfrm>
            <a:off x="0" y="786384"/>
            <a:ext cx="12161520" cy="64008"/>
          </a:xfrm>
          <a:prstGeom prst="rect">
            <a:avLst/>
          </a:prstGeom>
          <a:solidFill>
            <a:srgbClr val="F7D447"/>
          </a:solidFill>
          <a:ln/>
        </p:spPr>
      </p:sp>
      <p:sp>
        <p:nvSpPr>
          <p:cNvPr id="4" name="Text 2"/>
          <p:cNvSpPr/>
          <p:nvPr/>
        </p:nvSpPr>
        <p:spPr>
          <a:xfrm>
            <a:off x="365760" y="54864"/>
            <a:ext cx="8961120" cy="475488"/>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Brand Reputation Gap Analysis — DAZN vs Competitors</a:t>
            </a:r>
            <a:endParaRPr lang="en-US" sz="2000" dirty="0"/>
          </a:p>
        </p:txBody>
      </p:sp>
      <p:sp>
        <p:nvSpPr>
          <p:cNvPr id="5" name="Text 3"/>
          <p:cNvSpPr/>
          <p:nvPr/>
        </p:nvSpPr>
        <p:spPr>
          <a:xfrm>
            <a:off x="365760" y="530352"/>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Where DAZN falls behind and what actions close the gap | For Management Decision-Making</a:t>
            </a:r>
            <a:endParaRPr lang="en-US" sz="950" dirty="0"/>
          </a:p>
        </p:txBody>
      </p:sp>
      <p:sp>
        <p:nvSpPr>
          <p:cNvPr id="6" name="Text 4"/>
          <p:cNvSpPr/>
          <p:nvPr/>
        </p:nvSpPr>
        <p:spPr>
          <a:xfrm>
            <a:off x="9601200" y="228600"/>
            <a:ext cx="2377440" cy="320040"/>
          </a:xfrm>
          <a:prstGeom prst="rect">
            <a:avLst/>
          </a:prstGeom>
          <a:noFill/>
          <a:ln/>
        </p:spPr>
        <p:txBody>
          <a:bodyPr wrap="square" rtlCol="0" anchor="ctr"/>
          <a:lstStyle/>
          <a:p>
            <a:pPr algn="r" indent="0" marL="0">
              <a:buNone/>
            </a:pPr>
            <a:r>
              <a:rPr lang="en-US" sz="850" b="1" dirty="0">
                <a:solidFill>
                  <a:srgbClr val="F7D447"/>
                </a:solidFill>
                <a:latin typeface="Calibri" pitchFamily="34" charset="0"/>
                <a:ea typeface="Calibri" pitchFamily="34" charset="-122"/>
                <a:cs typeface="Calibri" pitchFamily="34" charset="-120"/>
              </a:rPr>
              <a:t>DAZN India  •  Social Listening Report 2025  •  Slide 10</a:t>
            </a:r>
            <a:endParaRPr lang="en-US" sz="850" dirty="0"/>
          </a:p>
        </p:txBody>
      </p:sp>
      <p:sp>
        <p:nvSpPr>
          <p:cNvPr id="7" name="Shape 5"/>
          <p:cNvSpPr/>
          <p:nvPr/>
        </p:nvSpPr>
        <p:spPr>
          <a:xfrm>
            <a:off x="0" y="6675120"/>
            <a:ext cx="12161520" cy="182880"/>
          </a:xfrm>
          <a:prstGeom prst="rect">
            <a:avLst/>
          </a:prstGeom>
          <a:solidFill>
            <a:srgbClr val="0F172A"/>
          </a:solidFill>
          <a:ln/>
        </p:spPr>
      </p:sp>
      <p:sp>
        <p:nvSpPr>
          <p:cNvPr id="8" name="Text 6"/>
          <p:cNvSpPr/>
          <p:nvPr/>
        </p:nvSpPr>
        <p:spPr>
          <a:xfrm>
            <a:off x="274320" y="6684264"/>
            <a:ext cx="11612880" cy="15544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Confidential — For Internal Management Use Only</a:t>
            </a:r>
            <a:endParaRPr lang="en-US" sz="750" dirty="0"/>
          </a:p>
        </p:txBody>
      </p:sp>
      <p:sp>
        <p:nvSpPr>
          <p:cNvPr id="9" name="Shape 7"/>
          <p:cNvSpPr/>
          <p:nvPr/>
        </p:nvSpPr>
        <p:spPr>
          <a:xfrm>
            <a:off x="274320" y="960120"/>
            <a:ext cx="1481328" cy="347472"/>
          </a:xfrm>
          <a:prstGeom prst="rect">
            <a:avLst/>
          </a:prstGeom>
          <a:solidFill>
            <a:srgbClr val="0F172A"/>
          </a:solidFill>
          <a:ln/>
        </p:spPr>
      </p:sp>
      <p:sp>
        <p:nvSpPr>
          <p:cNvPr id="10" name="Text 8"/>
          <p:cNvSpPr/>
          <p:nvPr/>
        </p:nvSpPr>
        <p:spPr>
          <a:xfrm>
            <a:off x="310896" y="960120"/>
            <a:ext cx="1408176" cy="347472"/>
          </a:xfrm>
          <a:prstGeom prst="rect">
            <a:avLst/>
          </a:prstGeom>
          <a:noFill/>
          <a:ln/>
        </p:spPr>
        <p:txBody>
          <a:bodyPr wrap="square" rtlCol="0" anchor="ctr"/>
          <a:lstStyle/>
          <a:p>
            <a:pPr algn="ctr" indent="0" marL="0">
              <a:buNone/>
            </a:pPr>
            <a:r>
              <a:rPr lang="en-US" sz="850" b="1" dirty="0">
                <a:solidFill>
                  <a:srgbClr val="F7D447"/>
                </a:solidFill>
                <a:latin typeface="Calibri" pitchFamily="34" charset="0"/>
                <a:ea typeface="Calibri" pitchFamily="34" charset="-122"/>
                <a:cs typeface="Calibri" pitchFamily="34" charset="-120"/>
              </a:rPr>
              <a:t>Dimension</a:t>
            </a:r>
            <a:endParaRPr lang="en-US" sz="850" dirty="0"/>
          </a:p>
        </p:txBody>
      </p:sp>
      <p:sp>
        <p:nvSpPr>
          <p:cNvPr id="11" name="Shape 9"/>
          <p:cNvSpPr/>
          <p:nvPr/>
        </p:nvSpPr>
        <p:spPr>
          <a:xfrm>
            <a:off x="1783080" y="960120"/>
            <a:ext cx="1664208" cy="347472"/>
          </a:xfrm>
          <a:prstGeom prst="rect">
            <a:avLst/>
          </a:prstGeom>
          <a:solidFill>
            <a:srgbClr val="0F172A"/>
          </a:solidFill>
          <a:ln/>
        </p:spPr>
      </p:sp>
      <p:sp>
        <p:nvSpPr>
          <p:cNvPr id="12" name="Text 10"/>
          <p:cNvSpPr/>
          <p:nvPr/>
        </p:nvSpPr>
        <p:spPr>
          <a:xfrm>
            <a:off x="1819656" y="960120"/>
            <a:ext cx="1591056" cy="347472"/>
          </a:xfrm>
          <a:prstGeom prst="rect">
            <a:avLst/>
          </a:prstGeom>
          <a:noFill/>
          <a:ln/>
        </p:spPr>
        <p:txBody>
          <a:bodyPr wrap="square" rtlCol="0" anchor="ctr"/>
          <a:lstStyle/>
          <a:p>
            <a:pPr algn="ctr" indent="0" marL="0">
              <a:buNone/>
            </a:pPr>
            <a:r>
              <a:rPr lang="en-US" sz="850" b="1" dirty="0">
                <a:solidFill>
                  <a:srgbClr val="F7D447"/>
                </a:solidFill>
                <a:latin typeface="Calibri" pitchFamily="34" charset="0"/>
                <a:ea typeface="Calibri" pitchFamily="34" charset="-122"/>
                <a:cs typeface="Calibri" pitchFamily="34" charset="-120"/>
              </a:rPr>
              <a:t>DAZN India Today</a:t>
            </a:r>
            <a:endParaRPr lang="en-US" sz="850" dirty="0"/>
          </a:p>
        </p:txBody>
      </p:sp>
      <p:sp>
        <p:nvSpPr>
          <p:cNvPr id="13" name="Shape 11"/>
          <p:cNvSpPr/>
          <p:nvPr/>
        </p:nvSpPr>
        <p:spPr>
          <a:xfrm>
            <a:off x="3474720" y="960120"/>
            <a:ext cx="1664208" cy="347472"/>
          </a:xfrm>
          <a:prstGeom prst="rect">
            <a:avLst/>
          </a:prstGeom>
          <a:solidFill>
            <a:srgbClr val="0F172A"/>
          </a:solidFill>
          <a:ln/>
        </p:spPr>
      </p:sp>
      <p:sp>
        <p:nvSpPr>
          <p:cNvPr id="14" name="Text 12"/>
          <p:cNvSpPr/>
          <p:nvPr/>
        </p:nvSpPr>
        <p:spPr>
          <a:xfrm>
            <a:off x="3511296" y="960120"/>
            <a:ext cx="1591056" cy="347472"/>
          </a:xfrm>
          <a:prstGeom prst="rect">
            <a:avLst/>
          </a:prstGeom>
          <a:noFill/>
          <a:ln/>
        </p:spPr>
        <p:txBody>
          <a:bodyPr wrap="square" rtlCol="0" anchor="ctr"/>
          <a:lstStyle/>
          <a:p>
            <a:pPr algn="ctr" indent="0" marL="0">
              <a:buNone/>
            </a:pPr>
            <a:r>
              <a:rPr lang="en-US" sz="850" b="1" dirty="0">
                <a:solidFill>
                  <a:srgbClr val="F7D447"/>
                </a:solidFill>
                <a:latin typeface="Calibri" pitchFamily="34" charset="0"/>
                <a:ea typeface="Calibri" pitchFamily="34" charset="-122"/>
                <a:cs typeface="Calibri" pitchFamily="34" charset="-120"/>
              </a:rPr>
              <a:t>Best-in-Class</a:t>
            </a:r>
            <a:endParaRPr lang="en-US" sz="850" dirty="0"/>
          </a:p>
        </p:txBody>
      </p:sp>
      <p:sp>
        <p:nvSpPr>
          <p:cNvPr id="15" name="Shape 13"/>
          <p:cNvSpPr/>
          <p:nvPr/>
        </p:nvSpPr>
        <p:spPr>
          <a:xfrm>
            <a:off x="5166360" y="960120"/>
            <a:ext cx="1481328" cy="347472"/>
          </a:xfrm>
          <a:prstGeom prst="rect">
            <a:avLst/>
          </a:prstGeom>
          <a:solidFill>
            <a:srgbClr val="0F172A"/>
          </a:solidFill>
          <a:ln/>
        </p:spPr>
      </p:sp>
      <p:sp>
        <p:nvSpPr>
          <p:cNvPr id="16" name="Text 14"/>
          <p:cNvSpPr/>
          <p:nvPr/>
        </p:nvSpPr>
        <p:spPr>
          <a:xfrm>
            <a:off x="5202936" y="960120"/>
            <a:ext cx="1408176" cy="347472"/>
          </a:xfrm>
          <a:prstGeom prst="rect">
            <a:avLst/>
          </a:prstGeom>
          <a:noFill/>
          <a:ln/>
        </p:spPr>
        <p:txBody>
          <a:bodyPr wrap="square" rtlCol="0" anchor="ctr"/>
          <a:lstStyle/>
          <a:p>
            <a:pPr algn="ctr" indent="0" marL="0">
              <a:buNone/>
            </a:pPr>
            <a:r>
              <a:rPr lang="en-US" sz="850" b="1" dirty="0">
                <a:solidFill>
                  <a:srgbClr val="F7D447"/>
                </a:solidFill>
                <a:latin typeface="Calibri" pitchFamily="34" charset="0"/>
                <a:ea typeface="Calibri" pitchFamily="34" charset="-122"/>
                <a:cs typeface="Calibri" pitchFamily="34" charset="-120"/>
              </a:rPr>
              <a:t>Gap Size</a:t>
            </a:r>
            <a:endParaRPr lang="en-US" sz="850" dirty="0"/>
          </a:p>
        </p:txBody>
      </p:sp>
      <p:sp>
        <p:nvSpPr>
          <p:cNvPr id="17" name="Shape 15"/>
          <p:cNvSpPr/>
          <p:nvPr/>
        </p:nvSpPr>
        <p:spPr>
          <a:xfrm>
            <a:off x="6675120" y="960120"/>
            <a:ext cx="1901952" cy="347472"/>
          </a:xfrm>
          <a:prstGeom prst="rect">
            <a:avLst/>
          </a:prstGeom>
          <a:solidFill>
            <a:srgbClr val="0F172A"/>
          </a:solidFill>
          <a:ln/>
        </p:spPr>
      </p:sp>
      <p:sp>
        <p:nvSpPr>
          <p:cNvPr id="18" name="Text 16"/>
          <p:cNvSpPr/>
          <p:nvPr/>
        </p:nvSpPr>
        <p:spPr>
          <a:xfrm>
            <a:off x="6711696" y="960120"/>
            <a:ext cx="1828800" cy="347472"/>
          </a:xfrm>
          <a:prstGeom prst="rect">
            <a:avLst/>
          </a:prstGeom>
          <a:noFill/>
          <a:ln/>
        </p:spPr>
        <p:txBody>
          <a:bodyPr wrap="square" rtlCol="0" anchor="ctr"/>
          <a:lstStyle/>
          <a:p>
            <a:pPr algn="ctr" indent="0" marL="0">
              <a:buNone/>
            </a:pPr>
            <a:r>
              <a:rPr lang="en-US" sz="850" b="1" dirty="0">
                <a:solidFill>
                  <a:srgbClr val="F7D447"/>
                </a:solidFill>
                <a:latin typeface="Calibri" pitchFamily="34" charset="0"/>
                <a:ea typeface="Calibri" pitchFamily="34" charset="-122"/>
                <a:cs typeface="Calibri" pitchFamily="34" charset="-120"/>
              </a:rPr>
              <a:t>Severity</a:t>
            </a:r>
            <a:endParaRPr lang="en-US" sz="850" dirty="0"/>
          </a:p>
        </p:txBody>
      </p:sp>
      <p:sp>
        <p:nvSpPr>
          <p:cNvPr id="19" name="Shape 17"/>
          <p:cNvSpPr/>
          <p:nvPr/>
        </p:nvSpPr>
        <p:spPr>
          <a:xfrm>
            <a:off x="8595360" y="960120"/>
            <a:ext cx="3520440" cy="347472"/>
          </a:xfrm>
          <a:prstGeom prst="rect">
            <a:avLst/>
          </a:prstGeom>
          <a:solidFill>
            <a:srgbClr val="0F172A"/>
          </a:solidFill>
          <a:ln/>
        </p:spPr>
      </p:sp>
      <p:sp>
        <p:nvSpPr>
          <p:cNvPr id="20" name="Text 18"/>
          <p:cNvSpPr/>
          <p:nvPr/>
        </p:nvSpPr>
        <p:spPr>
          <a:xfrm>
            <a:off x="8631936" y="960120"/>
            <a:ext cx="3447288" cy="347472"/>
          </a:xfrm>
          <a:prstGeom prst="rect">
            <a:avLst/>
          </a:prstGeom>
          <a:noFill/>
          <a:ln/>
        </p:spPr>
        <p:txBody>
          <a:bodyPr wrap="square" rtlCol="0" anchor="ctr"/>
          <a:lstStyle/>
          <a:p>
            <a:pPr algn="ctr" indent="0" marL="0">
              <a:buNone/>
            </a:pPr>
            <a:r>
              <a:rPr lang="en-US" sz="850" b="1" dirty="0">
                <a:solidFill>
                  <a:srgbClr val="F7D447"/>
                </a:solidFill>
                <a:latin typeface="Calibri" pitchFamily="34" charset="0"/>
                <a:ea typeface="Calibri" pitchFamily="34" charset="-122"/>
                <a:cs typeface="Calibri" pitchFamily="34" charset="-120"/>
              </a:rPr>
              <a:t>Recommended Action</a:t>
            </a:r>
            <a:endParaRPr lang="en-US" sz="850" dirty="0"/>
          </a:p>
        </p:txBody>
      </p:sp>
      <p:sp>
        <p:nvSpPr>
          <p:cNvPr id="21" name="Shape 19"/>
          <p:cNvSpPr/>
          <p:nvPr/>
        </p:nvSpPr>
        <p:spPr>
          <a:xfrm>
            <a:off x="274320" y="1380744"/>
            <a:ext cx="11841480" cy="612648"/>
          </a:xfrm>
          <a:prstGeom prst="rect">
            <a:avLst/>
          </a:prstGeom>
          <a:solidFill>
            <a:srgbClr val="FFFFFF"/>
          </a:solidFill>
          <a:ln/>
        </p:spPr>
      </p:sp>
      <p:sp>
        <p:nvSpPr>
          <p:cNvPr id="22" name="Shape 20"/>
          <p:cNvSpPr/>
          <p:nvPr/>
        </p:nvSpPr>
        <p:spPr>
          <a:xfrm>
            <a:off x="274320" y="1380744"/>
            <a:ext cx="64008" cy="612648"/>
          </a:xfrm>
          <a:prstGeom prst="rect">
            <a:avLst/>
          </a:prstGeom>
          <a:solidFill>
            <a:srgbClr val="EF4444"/>
          </a:solidFill>
          <a:ln/>
        </p:spPr>
      </p:sp>
      <p:sp>
        <p:nvSpPr>
          <p:cNvPr id="23" name="Text 21"/>
          <p:cNvSpPr/>
          <p:nvPr/>
        </p:nvSpPr>
        <p:spPr>
          <a:xfrm>
            <a:off x="365760" y="1508760"/>
            <a:ext cx="1371600" cy="347472"/>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Social Presence (India)</a:t>
            </a:r>
            <a:endParaRPr lang="en-US" sz="850" dirty="0"/>
          </a:p>
        </p:txBody>
      </p:sp>
      <p:sp>
        <p:nvSpPr>
          <p:cNvPr id="24" name="Text 22"/>
          <p:cNvSpPr/>
          <p:nvPr/>
        </p:nvSpPr>
        <p:spPr>
          <a:xfrm>
            <a:off x="1810512" y="1453896"/>
            <a:ext cx="1627632" cy="466344"/>
          </a:xfrm>
          <a:prstGeom prst="rect">
            <a:avLst/>
          </a:prstGeom>
          <a:noFill/>
          <a:ln/>
        </p:spPr>
        <p:txBody>
          <a:bodyPr wrap="square"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No India handle</a:t>
            </a:r>
            <a:endParaRPr lang="en-US" sz="800" dirty="0"/>
          </a:p>
          <a:p>
            <a:pPr indent="0" marL="0">
              <a:buNone/>
            </a:pPr>
            <a:r>
              <a:rPr lang="en-US" sz="800" b="1" dirty="0">
                <a:solidFill>
                  <a:srgbClr val="EF4444"/>
                </a:solidFill>
                <a:latin typeface="Calibri" pitchFamily="34" charset="0"/>
                <a:ea typeface="Calibri" pitchFamily="34" charset="-122"/>
                <a:cs typeface="Calibri" pitchFamily="34" charset="-120"/>
              </a:rPr>
              <a:t>218K global IG</a:t>
            </a:r>
            <a:endParaRPr lang="en-US" sz="800" dirty="0"/>
          </a:p>
        </p:txBody>
      </p:sp>
      <p:sp>
        <p:nvSpPr>
          <p:cNvPr id="25" name="Text 23"/>
          <p:cNvSpPr/>
          <p:nvPr/>
        </p:nvSpPr>
        <p:spPr>
          <a:xfrm>
            <a:off x="3502152" y="1453896"/>
            <a:ext cx="1627632" cy="466344"/>
          </a:xfrm>
          <a:prstGeom prst="rect">
            <a:avLst/>
          </a:prstGeom>
          <a:noFill/>
          <a:ln/>
        </p:spPr>
        <p:txBody>
          <a:bodyPr wrap="square" rtlCol="0" anchor="ctr"/>
          <a:lstStyle/>
          <a:p>
            <a:pPr indent="0" marL="0">
              <a:buNone/>
            </a:pPr>
            <a:r>
              <a:rPr lang="en-US" sz="800" dirty="0">
                <a:solidFill>
                  <a:srgbClr val="22C55E"/>
                </a:solidFill>
                <a:latin typeface="Calibri" pitchFamily="34" charset="0"/>
                <a:ea typeface="Calibri" pitchFamily="34" charset="-122"/>
                <a:cs typeface="Calibri" pitchFamily="34" charset="-120"/>
              </a:rPr>
              <a:t>Netflix: 14M India IG</a:t>
            </a:r>
            <a:endParaRPr lang="en-US" sz="800" dirty="0"/>
          </a:p>
        </p:txBody>
      </p:sp>
      <p:sp>
        <p:nvSpPr>
          <p:cNvPr id="26" name="Text 24"/>
          <p:cNvSpPr/>
          <p:nvPr/>
        </p:nvSpPr>
        <p:spPr>
          <a:xfrm>
            <a:off x="5193792" y="1508760"/>
            <a:ext cx="1444752" cy="347472"/>
          </a:xfrm>
          <a:prstGeom prst="rect">
            <a:avLst/>
          </a:prstGeom>
          <a:noFill/>
          <a:ln/>
        </p:spPr>
        <p:txBody>
          <a:bodyPr wrap="square" rtlCol="0" anchor="ctr"/>
          <a:lstStyle/>
          <a:p>
            <a:pPr algn="ctr" indent="0" marL="0">
              <a:buNone/>
            </a:pPr>
            <a:r>
              <a:rPr lang="en-US" sz="800" b="1" dirty="0">
                <a:solidFill>
                  <a:srgbClr val="B45309"/>
                </a:solidFill>
                <a:latin typeface="Calibri" pitchFamily="34" charset="0"/>
                <a:ea typeface="Calibri" pitchFamily="34" charset="-122"/>
                <a:cs typeface="Calibri" pitchFamily="34" charset="-120"/>
              </a:rPr>
              <a:t>63.8M followers gap</a:t>
            </a:r>
            <a:endParaRPr lang="en-US" sz="800" dirty="0"/>
          </a:p>
        </p:txBody>
      </p:sp>
      <p:sp>
        <p:nvSpPr>
          <p:cNvPr id="27" name="Text 25"/>
          <p:cNvSpPr/>
          <p:nvPr/>
        </p:nvSpPr>
        <p:spPr>
          <a:xfrm>
            <a:off x="6702552" y="1508760"/>
            <a:ext cx="1865376" cy="347472"/>
          </a:xfrm>
          <a:prstGeom prst="rect">
            <a:avLst/>
          </a:prstGeom>
          <a:noFill/>
          <a:ln/>
        </p:spPr>
        <p:txBody>
          <a:bodyPr wrap="square"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 Critical</a:t>
            </a:r>
            <a:endParaRPr lang="en-US" sz="900" dirty="0"/>
          </a:p>
        </p:txBody>
      </p:sp>
      <p:sp>
        <p:nvSpPr>
          <p:cNvPr id="28" name="Text 26"/>
          <p:cNvSpPr/>
          <p:nvPr/>
        </p:nvSpPr>
        <p:spPr>
          <a:xfrm>
            <a:off x="8613648" y="1435608"/>
            <a:ext cx="3474720" cy="50292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Launch @DAZNIndia handles immediately. Daily Hindi/English content. Target 500K in 12 months.</a:t>
            </a:r>
            <a:endParaRPr lang="en-US" sz="800" dirty="0"/>
          </a:p>
        </p:txBody>
      </p:sp>
      <p:sp>
        <p:nvSpPr>
          <p:cNvPr id="29" name="Shape 27"/>
          <p:cNvSpPr/>
          <p:nvPr/>
        </p:nvSpPr>
        <p:spPr>
          <a:xfrm>
            <a:off x="274320" y="2048256"/>
            <a:ext cx="11841480" cy="612648"/>
          </a:xfrm>
          <a:prstGeom prst="rect">
            <a:avLst/>
          </a:prstGeom>
          <a:solidFill>
            <a:srgbClr val="F8FAFC"/>
          </a:solidFill>
          <a:ln/>
        </p:spPr>
      </p:sp>
      <p:sp>
        <p:nvSpPr>
          <p:cNvPr id="30" name="Shape 28"/>
          <p:cNvSpPr/>
          <p:nvPr/>
        </p:nvSpPr>
        <p:spPr>
          <a:xfrm>
            <a:off x="274320" y="2048256"/>
            <a:ext cx="64008" cy="612648"/>
          </a:xfrm>
          <a:prstGeom prst="rect">
            <a:avLst/>
          </a:prstGeom>
          <a:solidFill>
            <a:srgbClr val="EF4444"/>
          </a:solidFill>
          <a:ln/>
        </p:spPr>
      </p:sp>
      <p:sp>
        <p:nvSpPr>
          <p:cNvPr id="31" name="Text 29"/>
          <p:cNvSpPr/>
          <p:nvPr/>
        </p:nvSpPr>
        <p:spPr>
          <a:xfrm>
            <a:off x="365760" y="2176272"/>
            <a:ext cx="1371600" cy="347472"/>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Brand Awareness</a:t>
            </a:r>
            <a:endParaRPr lang="en-US" sz="850" dirty="0"/>
          </a:p>
        </p:txBody>
      </p:sp>
      <p:sp>
        <p:nvSpPr>
          <p:cNvPr id="32" name="Text 30"/>
          <p:cNvSpPr/>
          <p:nvPr/>
        </p:nvSpPr>
        <p:spPr>
          <a:xfrm>
            <a:off x="1810512" y="2121408"/>
            <a:ext cx="1627632" cy="466344"/>
          </a:xfrm>
          <a:prstGeom prst="rect">
            <a:avLst/>
          </a:prstGeom>
          <a:noFill/>
          <a:ln/>
        </p:spPr>
        <p:txBody>
          <a:bodyPr wrap="square"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~2–3% brand recall</a:t>
            </a:r>
            <a:endParaRPr lang="en-US" sz="800" dirty="0"/>
          </a:p>
          <a:p>
            <a:pPr indent="0" marL="0">
              <a:buNone/>
            </a:pPr>
            <a:r>
              <a:rPr lang="en-US" sz="800" b="1" dirty="0">
                <a:solidFill>
                  <a:srgbClr val="EF4444"/>
                </a:solidFill>
                <a:latin typeface="Calibri" pitchFamily="34" charset="0"/>
                <a:ea typeface="Calibri" pitchFamily="34" charset="-122"/>
                <a:cs typeface="Calibri" pitchFamily="34" charset="-120"/>
              </a:rPr>
              <a:t>Unknown to 97%+</a:t>
            </a:r>
            <a:endParaRPr lang="en-US" sz="800" dirty="0"/>
          </a:p>
        </p:txBody>
      </p:sp>
      <p:sp>
        <p:nvSpPr>
          <p:cNvPr id="33" name="Text 31"/>
          <p:cNvSpPr/>
          <p:nvPr/>
        </p:nvSpPr>
        <p:spPr>
          <a:xfrm>
            <a:off x="3502152" y="2121408"/>
            <a:ext cx="1627632" cy="466344"/>
          </a:xfrm>
          <a:prstGeom prst="rect">
            <a:avLst/>
          </a:prstGeom>
          <a:noFill/>
          <a:ln/>
        </p:spPr>
        <p:txBody>
          <a:bodyPr wrap="square" rtlCol="0" anchor="ctr"/>
          <a:lstStyle/>
          <a:p>
            <a:pPr indent="0" marL="0">
              <a:buNone/>
            </a:pPr>
            <a:r>
              <a:rPr lang="en-US" sz="800" dirty="0">
                <a:solidFill>
                  <a:srgbClr val="22C55E"/>
                </a:solidFill>
                <a:latin typeface="Calibri" pitchFamily="34" charset="0"/>
                <a:ea typeface="Calibri" pitchFamily="34" charset="-122"/>
                <a:cs typeface="Calibri" pitchFamily="34" charset="-120"/>
              </a:rPr>
              <a:t>JioHotstar: ~90%</a:t>
            </a:r>
            <a:endParaRPr lang="en-US" sz="800" dirty="0"/>
          </a:p>
          <a:p>
            <a:pPr indent="0" marL="0">
              <a:buNone/>
            </a:pPr>
            <a:r>
              <a:rPr lang="en-US" sz="800" dirty="0">
                <a:solidFill>
                  <a:srgbClr val="22C55E"/>
                </a:solidFill>
                <a:latin typeface="Calibri" pitchFamily="34" charset="0"/>
                <a:ea typeface="Calibri" pitchFamily="34" charset="-122"/>
                <a:cs typeface="Calibri" pitchFamily="34" charset="-120"/>
              </a:rPr>
              <a:t>Netflix: ~85%</a:t>
            </a:r>
            <a:endParaRPr lang="en-US" sz="800" dirty="0"/>
          </a:p>
        </p:txBody>
      </p:sp>
      <p:sp>
        <p:nvSpPr>
          <p:cNvPr id="34" name="Text 32"/>
          <p:cNvSpPr/>
          <p:nvPr/>
        </p:nvSpPr>
        <p:spPr>
          <a:xfrm>
            <a:off x="5193792" y="2176272"/>
            <a:ext cx="1444752" cy="347472"/>
          </a:xfrm>
          <a:prstGeom prst="rect">
            <a:avLst/>
          </a:prstGeom>
          <a:noFill/>
          <a:ln/>
        </p:spPr>
        <p:txBody>
          <a:bodyPr wrap="square" rtlCol="0" anchor="ctr"/>
          <a:lstStyle/>
          <a:p>
            <a:pPr algn="ctr" indent="0" marL="0">
              <a:buNone/>
            </a:pPr>
            <a:r>
              <a:rPr lang="en-US" sz="800" b="1" dirty="0">
                <a:solidFill>
                  <a:srgbClr val="B45309"/>
                </a:solidFill>
                <a:latin typeface="Calibri" pitchFamily="34" charset="0"/>
                <a:ea typeface="Calibri" pitchFamily="34" charset="-122"/>
                <a:cs typeface="Calibri" pitchFamily="34" charset="-120"/>
              </a:rPr>
              <a:t>82–87% awareness gap</a:t>
            </a:r>
            <a:endParaRPr lang="en-US" sz="800" dirty="0"/>
          </a:p>
        </p:txBody>
      </p:sp>
      <p:sp>
        <p:nvSpPr>
          <p:cNvPr id="35" name="Text 33"/>
          <p:cNvSpPr/>
          <p:nvPr/>
        </p:nvSpPr>
        <p:spPr>
          <a:xfrm>
            <a:off x="6702552" y="2176272"/>
            <a:ext cx="1865376" cy="347472"/>
          </a:xfrm>
          <a:prstGeom prst="rect">
            <a:avLst/>
          </a:prstGeom>
          <a:noFill/>
          <a:ln/>
        </p:spPr>
        <p:txBody>
          <a:bodyPr wrap="square"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 Critical</a:t>
            </a:r>
            <a:endParaRPr lang="en-US" sz="900" dirty="0"/>
          </a:p>
        </p:txBody>
      </p:sp>
      <p:sp>
        <p:nvSpPr>
          <p:cNvPr id="36" name="Text 34"/>
          <p:cNvSpPr/>
          <p:nvPr/>
        </p:nvSpPr>
        <p:spPr>
          <a:xfrm>
            <a:off x="8613648" y="2103120"/>
            <a:ext cx="3474720" cy="50292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OOH campaigns in Mumbai/Delhi/Bengaluru. Sponsor sports events. Co-promotions with cricket media. Budget: ₹20–30Cr minimum.</a:t>
            </a:r>
            <a:endParaRPr lang="en-US" sz="800" dirty="0"/>
          </a:p>
        </p:txBody>
      </p:sp>
      <p:sp>
        <p:nvSpPr>
          <p:cNvPr id="37" name="Shape 35"/>
          <p:cNvSpPr/>
          <p:nvPr/>
        </p:nvSpPr>
        <p:spPr>
          <a:xfrm>
            <a:off x="274320" y="2715768"/>
            <a:ext cx="11841480" cy="612648"/>
          </a:xfrm>
          <a:prstGeom prst="rect">
            <a:avLst/>
          </a:prstGeom>
          <a:solidFill>
            <a:srgbClr val="FFFFFF"/>
          </a:solidFill>
          <a:ln/>
        </p:spPr>
      </p:sp>
      <p:sp>
        <p:nvSpPr>
          <p:cNvPr id="38" name="Shape 36"/>
          <p:cNvSpPr/>
          <p:nvPr/>
        </p:nvSpPr>
        <p:spPr>
          <a:xfrm>
            <a:off x="274320" y="2715768"/>
            <a:ext cx="64008" cy="612648"/>
          </a:xfrm>
          <a:prstGeom prst="rect">
            <a:avLst/>
          </a:prstGeom>
          <a:solidFill>
            <a:srgbClr val="F59E0B"/>
          </a:solidFill>
          <a:ln/>
        </p:spPr>
      </p:sp>
      <p:sp>
        <p:nvSpPr>
          <p:cNvPr id="39" name="Text 37"/>
          <p:cNvSpPr/>
          <p:nvPr/>
        </p:nvSpPr>
        <p:spPr>
          <a:xfrm>
            <a:off x="365760" y="2843784"/>
            <a:ext cx="1371600" cy="347472"/>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VOC Positivity (India)</a:t>
            </a:r>
            <a:endParaRPr lang="en-US" sz="850" dirty="0"/>
          </a:p>
        </p:txBody>
      </p:sp>
      <p:sp>
        <p:nvSpPr>
          <p:cNvPr id="40" name="Text 38"/>
          <p:cNvSpPr/>
          <p:nvPr/>
        </p:nvSpPr>
        <p:spPr>
          <a:xfrm>
            <a:off x="1810512" y="2788920"/>
            <a:ext cx="1627632" cy="466344"/>
          </a:xfrm>
          <a:prstGeom prst="rect">
            <a:avLst/>
          </a:prstGeom>
          <a:noFill/>
          <a:ln/>
        </p:spPr>
        <p:txBody>
          <a:bodyPr wrap="square"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Limited India VOC</a:t>
            </a:r>
            <a:endParaRPr lang="en-US" sz="800" dirty="0"/>
          </a:p>
          <a:p>
            <a:pPr indent="0" marL="0">
              <a:buNone/>
            </a:pPr>
            <a:r>
              <a:rPr lang="en-US" sz="800" b="1" dirty="0">
                <a:solidFill>
                  <a:srgbClr val="EF4444"/>
                </a:solidFill>
                <a:latin typeface="Calibri" pitchFamily="34" charset="0"/>
                <a:ea typeface="Calibri" pitchFamily="34" charset="-122"/>
                <a:cs typeface="Calibri" pitchFamily="34" charset="-120"/>
              </a:rPr>
              <a:t>38% positive (global)</a:t>
            </a:r>
            <a:endParaRPr lang="en-US" sz="800" dirty="0"/>
          </a:p>
        </p:txBody>
      </p:sp>
      <p:sp>
        <p:nvSpPr>
          <p:cNvPr id="41" name="Text 39"/>
          <p:cNvSpPr/>
          <p:nvPr/>
        </p:nvSpPr>
        <p:spPr>
          <a:xfrm>
            <a:off x="3502152" y="2788920"/>
            <a:ext cx="1627632" cy="466344"/>
          </a:xfrm>
          <a:prstGeom prst="rect">
            <a:avLst/>
          </a:prstGeom>
          <a:noFill/>
          <a:ln/>
        </p:spPr>
        <p:txBody>
          <a:bodyPr wrap="square" rtlCol="0" anchor="ctr"/>
          <a:lstStyle/>
          <a:p>
            <a:pPr indent="0" marL="0">
              <a:buNone/>
            </a:pPr>
            <a:r>
              <a:rPr lang="en-US" sz="800" dirty="0">
                <a:solidFill>
                  <a:srgbClr val="22C55E"/>
                </a:solidFill>
                <a:latin typeface="Calibri" pitchFamily="34" charset="0"/>
                <a:ea typeface="Calibri" pitchFamily="34" charset="-122"/>
                <a:cs typeface="Calibri" pitchFamily="34" charset="-120"/>
              </a:rPr>
              <a:t>Netflix: 58% positive</a:t>
            </a:r>
            <a:endParaRPr lang="en-US" sz="800" dirty="0"/>
          </a:p>
          <a:p>
            <a:pPr indent="0" marL="0">
              <a:buNone/>
            </a:pPr>
            <a:r>
              <a:rPr lang="en-US" sz="800" dirty="0">
                <a:solidFill>
                  <a:srgbClr val="22C55E"/>
                </a:solidFill>
                <a:latin typeface="Calibri" pitchFamily="34" charset="0"/>
                <a:ea typeface="Calibri" pitchFamily="34" charset="-122"/>
                <a:cs typeface="Calibri" pitchFamily="34" charset="-120"/>
              </a:rPr>
              <a:t>7.9/10 sentiment</a:t>
            </a:r>
            <a:endParaRPr lang="en-US" sz="800" dirty="0"/>
          </a:p>
        </p:txBody>
      </p:sp>
      <p:sp>
        <p:nvSpPr>
          <p:cNvPr id="42" name="Text 40"/>
          <p:cNvSpPr/>
          <p:nvPr/>
        </p:nvSpPr>
        <p:spPr>
          <a:xfrm>
            <a:off x="5193792" y="2843784"/>
            <a:ext cx="1444752" cy="347472"/>
          </a:xfrm>
          <a:prstGeom prst="rect">
            <a:avLst/>
          </a:prstGeom>
          <a:noFill/>
          <a:ln/>
        </p:spPr>
        <p:txBody>
          <a:bodyPr wrap="square" rtlCol="0" anchor="ctr"/>
          <a:lstStyle/>
          <a:p>
            <a:pPr algn="ctr" indent="0" marL="0">
              <a:buNone/>
            </a:pPr>
            <a:r>
              <a:rPr lang="en-US" sz="800" b="1" dirty="0">
                <a:solidFill>
                  <a:srgbClr val="B45309"/>
                </a:solidFill>
                <a:latin typeface="Calibri" pitchFamily="34" charset="0"/>
                <a:ea typeface="Calibri" pitchFamily="34" charset="-122"/>
                <a:cs typeface="Calibri" pitchFamily="34" charset="-120"/>
              </a:rPr>
              <a:t>20 percentage point gap</a:t>
            </a:r>
            <a:endParaRPr lang="en-US" sz="800" dirty="0"/>
          </a:p>
        </p:txBody>
      </p:sp>
      <p:sp>
        <p:nvSpPr>
          <p:cNvPr id="43" name="Text 41"/>
          <p:cNvSpPr/>
          <p:nvPr/>
        </p:nvSpPr>
        <p:spPr>
          <a:xfrm>
            <a:off x="6702552" y="2843784"/>
            <a:ext cx="1865376" cy="347472"/>
          </a:xfrm>
          <a:prstGeom prst="rect">
            <a:avLst/>
          </a:prstGeom>
          <a:noFill/>
          <a:ln/>
        </p:spPr>
        <p:txBody>
          <a:bodyPr wrap="square"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 High</a:t>
            </a:r>
            <a:endParaRPr lang="en-US" sz="900" dirty="0"/>
          </a:p>
        </p:txBody>
      </p:sp>
      <p:sp>
        <p:nvSpPr>
          <p:cNvPr id="44" name="Text 42"/>
          <p:cNvSpPr/>
          <p:nvPr/>
        </p:nvSpPr>
        <p:spPr>
          <a:xfrm>
            <a:off x="8613648" y="2770632"/>
            <a:ext cx="3474720" cy="50292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Activate Indian brand advocates. Reply to every social mention within 2 hours. Build community around NFL/Boxing India fans.</a:t>
            </a:r>
            <a:endParaRPr lang="en-US" sz="800" dirty="0"/>
          </a:p>
        </p:txBody>
      </p:sp>
      <p:sp>
        <p:nvSpPr>
          <p:cNvPr id="45" name="Shape 43"/>
          <p:cNvSpPr/>
          <p:nvPr/>
        </p:nvSpPr>
        <p:spPr>
          <a:xfrm>
            <a:off x="274320" y="3383280"/>
            <a:ext cx="11841480" cy="612648"/>
          </a:xfrm>
          <a:prstGeom prst="rect">
            <a:avLst/>
          </a:prstGeom>
          <a:solidFill>
            <a:srgbClr val="F8FAFC"/>
          </a:solidFill>
          <a:ln/>
        </p:spPr>
      </p:sp>
      <p:sp>
        <p:nvSpPr>
          <p:cNvPr id="46" name="Shape 44"/>
          <p:cNvSpPr/>
          <p:nvPr/>
        </p:nvSpPr>
        <p:spPr>
          <a:xfrm>
            <a:off x="274320" y="3383280"/>
            <a:ext cx="64008" cy="612648"/>
          </a:xfrm>
          <a:prstGeom prst="rect">
            <a:avLst/>
          </a:prstGeom>
          <a:solidFill>
            <a:srgbClr val="EF4444"/>
          </a:solidFill>
          <a:ln/>
        </p:spPr>
      </p:sp>
      <p:sp>
        <p:nvSpPr>
          <p:cNvPr id="47" name="Text 45"/>
          <p:cNvSpPr/>
          <p:nvPr/>
        </p:nvSpPr>
        <p:spPr>
          <a:xfrm>
            <a:off x="365760" y="3511296"/>
            <a:ext cx="1371600" cy="347472"/>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NPS Score</a:t>
            </a:r>
            <a:endParaRPr lang="en-US" sz="850" dirty="0"/>
          </a:p>
        </p:txBody>
      </p:sp>
      <p:sp>
        <p:nvSpPr>
          <p:cNvPr id="48" name="Text 46"/>
          <p:cNvSpPr/>
          <p:nvPr/>
        </p:nvSpPr>
        <p:spPr>
          <a:xfrm>
            <a:off x="1810512" y="3456432"/>
            <a:ext cx="1627632" cy="466344"/>
          </a:xfrm>
          <a:prstGeom prst="rect">
            <a:avLst/>
          </a:prstGeom>
          <a:noFill/>
          <a:ln/>
        </p:spPr>
        <p:txBody>
          <a:bodyPr wrap="square"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NPS: ~10 (global proxy)</a:t>
            </a:r>
            <a:endParaRPr lang="en-US" sz="800" dirty="0"/>
          </a:p>
          <a:p>
            <a:pPr indent="0" marL="0">
              <a:buNone/>
            </a:pPr>
            <a:r>
              <a:rPr lang="en-US" sz="800" b="1" dirty="0">
                <a:solidFill>
                  <a:srgbClr val="EF4444"/>
                </a:solidFill>
                <a:latin typeface="Calibri" pitchFamily="34" charset="0"/>
                <a:ea typeface="Calibri" pitchFamily="34" charset="-122"/>
                <a:cs typeface="Calibri" pitchFamily="34" charset="-120"/>
              </a:rPr>
              <a:t>No India NPS exists</a:t>
            </a:r>
            <a:endParaRPr lang="en-US" sz="800" dirty="0"/>
          </a:p>
        </p:txBody>
      </p:sp>
      <p:sp>
        <p:nvSpPr>
          <p:cNvPr id="49" name="Text 47"/>
          <p:cNvSpPr/>
          <p:nvPr/>
        </p:nvSpPr>
        <p:spPr>
          <a:xfrm>
            <a:off x="3502152" y="3456432"/>
            <a:ext cx="1627632" cy="466344"/>
          </a:xfrm>
          <a:prstGeom prst="rect">
            <a:avLst/>
          </a:prstGeom>
          <a:noFill/>
          <a:ln/>
        </p:spPr>
        <p:txBody>
          <a:bodyPr wrap="square" rtlCol="0" anchor="ctr"/>
          <a:lstStyle/>
          <a:p>
            <a:pPr indent="0" marL="0">
              <a:buNone/>
            </a:pPr>
            <a:r>
              <a:rPr lang="en-US" sz="800" dirty="0">
                <a:solidFill>
                  <a:srgbClr val="22C55E"/>
                </a:solidFill>
                <a:latin typeface="Calibri" pitchFamily="34" charset="0"/>
                <a:ea typeface="Calibri" pitchFamily="34" charset="-122"/>
                <a:cs typeface="Calibri" pitchFamily="34" charset="-120"/>
              </a:rPr>
              <a:t>Netflix India: NPS ~59</a:t>
            </a:r>
            <a:endParaRPr lang="en-US" sz="800" dirty="0"/>
          </a:p>
          <a:p>
            <a:pPr indent="0" marL="0">
              <a:buNone/>
            </a:pPr>
            <a:r>
              <a:rPr lang="en-US" sz="800" dirty="0">
                <a:solidFill>
                  <a:srgbClr val="22C55E"/>
                </a:solidFill>
                <a:latin typeface="Calibri" pitchFamily="34" charset="0"/>
                <a:ea typeface="Calibri" pitchFamily="34" charset="-122"/>
                <a:cs typeface="Calibri" pitchFamily="34" charset="-120"/>
              </a:rPr>
              <a:t>Amazon: NPS ~53</a:t>
            </a:r>
            <a:endParaRPr lang="en-US" sz="800" dirty="0"/>
          </a:p>
        </p:txBody>
      </p:sp>
      <p:sp>
        <p:nvSpPr>
          <p:cNvPr id="50" name="Text 48"/>
          <p:cNvSpPr/>
          <p:nvPr/>
        </p:nvSpPr>
        <p:spPr>
          <a:xfrm>
            <a:off x="5193792" y="3511296"/>
            <a:ext cx="1444752" cy="347472"/>
          </a:xfrm>
          <a:prstGeom prst="rect">
            <a:avLst/>
          </a:prstGeom>
          <a:noFill/>
          <a:ln/>
        </p:spPr>
        <p:txBody>
          <a:bodyPr wrap="square" rtlCol="0" anchor="ctr"/>
          <a:lstStyle/>
          <a:p>
            <a:pPr algn="ctr" indent="0" marL="0">
              <a:buNone/>
            </a:pPr>
            <a:r>
              <a:rPr lang="en-US" sz="800" b="1" dirty="0">
                <a:solidFill>
                  <a:srgbClr val="B45309"/>
                </a:solidFill>
                <a:latin typeface="Calibri" pitchFamily="34" charset="0"/>
                <a:ea typeface="Calibri" pitchFamily="34" charset="-122"/>
                <a:cs typeface="Calibri" pitchFamily="34" charset="-120"/>
              </a:rPr>
              <a:t>43–49 NPS point gap</a:t>
            </a:r>
            <a:endParaRPr lang="en-US" sz="800" dirty="0"/>
          </a:p>
        </p:txBody>
      </p:sp>
      <p:sp>
        <p:nvSpPr>
          <p:cNvPr id="51" name="Text 49"/>
          <p:cNvSpPr/>
          <p:nvPr/>
        </p:nvSpPr>
        <p:spPr>
          <a:xfrm>
            <a:off x="6702552" y="3511296"/>
            <a:ext cx="1865376" cy="347472"/>
          </a:xfrm>
          <a:prstGeom prst="rect">
            <a:avLst/>
          </a:prstGeom>
          <a:noFill/>
          <a:ln/>
        </p:spPr>
        <p:txBody>
          <a:bodyPr wrap="square"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 Critical</a:t>
            </a:r>
            <a:endParaRPr lang="en-US" sz="900" dirty="0"/>
          </a:p>
        </p:txBody>
      </p:sp>
      <p:sp>
        <p:nvSpPr>
          <p:cNvPr id="52" name="Text 50"/>
          <p:cNvSpPr/>
          <p:nvPr/>
        </p:nvSpPr>
        <p:spPr>
          <a:xfrm>
            <a:off x="8613648" y="3438144"/>
            <a:ext cx="3474720" cy="50292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Deploy India NPS survey in 60 days. Fix global billing trust issues. Transparent India pricing. 1-tap cancel policy.</a:t>
            </a:r>
            <a:endParaRPr lang="en-US" sz="800" dirty="0"/>
          </a:p>
        </p:txBody>
      </p:sp>
      <p:sp>
        <p:nvSpPr>
          <p:cNvPr id="53" name="Shape 51"/>
          <p:cNvSpPr/>
          <p:nvPr/>
        </p:nvSpPr>
        <p:spPr>
          <a:xfrm>
            <a:off x="274320" y="4050792"/>
            <a:ext cx="11841480" cy="612648"/>
          </a:xfrm>
          <a:prstGeom prst="rect">
            <a:avLst/>
          </a:prstGeom>
          <a:solidFill>
            <a:srgbClr val="FFFFFF"/>
          </a:solidFill>
          <a:ln/>
        </p:spPr>
      </p:sp>
      <p:sp>
        <p:nvSpPr>
          <p:cNvPr id="54" name="Shape 52"/>
          <p:cNvSpPr/>
          <p:nvPr/>
        </p:nvSpPr>
        <p:spPr>
          <a:xfrm>
            <a:off x="274320" y="4050792"/>
            <a:ext cx="64008" cy="612648"/>
          </a:xfrm>
          <a:prstGeom prst="rect">
            <a:avLst/>
          </a:prstGeom>
          <a:solidFill>
            <a:srgbClr val="F59E0B"/>
          </a:solidFill>
          <a:ln/>
        </p:spPr>
      </p:sp>
      <p:sp>
        <p:nvSpPr>
          <p:cNvPr id="55" name="Text 53"/>
          <p:cNvSpPr/>
          <p:nvPr/>
        </p:nvSpPr>
        <p:spPr>
          <a:xfrm>
            <a:off x="365760" y="4178808"/>
            <a:ext cx="1371600" cy="347472"/>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Net Sentiment Score</a:t>
            </a:r>
            <a:endParaRPr lang="en-US" sz="850" dirty="0"/>
          </a:p>
        </p:txBody>
      </p:sp>
      <p:sp>
        <p:nvSpPr>
          <p:cNvPr id="56" name="Text 54"/>
          <p:cNvSpPr/>
          <p:nvPr/>
        </p:nvSpPr>
        <p:spPr>
          <a:xfrm>
            <a:off x="1810512" y="4123944"/>
            <a:ext cx="1627632" cy="466344"/>
          </a:xfrm>
          <a:prstGeom prst="rect">
            <a:avLst/>
          </a:prstGeom>
          <a:noFill/>
          <a:ln/>
        </p:spPr>
        <p:txBody>
          <a:bodyPr wrap="square"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NSS: +10 (borderline)</a:t>
            </a:r>
            <a:endParaRPr lang="en-US" sz="800" dirty="0"/>
          </a:p>
          <a:p>
            <a:pPr indent="0" marL="0">
              <a:buNone/>
            </a:pPr>
            <a:r>
              <a:rPr lang="en-US" sz="800" b="1" dirty="0">
                <a:solidFill>
                  <a:srgbClr val="EF4444"/>
                </a:solidFill>
                <a:latin typeface="Calibri" pitchFamily="34" charset="0"/>
                <a:ea typeface="Calibri" pitchFamily="34" charset="-122"/>
                <a:cs typeface="Calibri" pitchFamily="34" charset="-120"/>
              </a:rPr>
              <a:t>Very low volume</a:t>
            </a:r>
            <a:endParaRPr lang="en-US" sz="800" dirty="0"/>
          </a:p>
        </p:txBody>
      </p:sp>
      <p:sp>
        <p:nvSpPr>
          <p:cNvPr id="57" name="Text 55"/>
          <p:cNvSpPr/>
          <p:nvPr/>
        </p:nvSpPr>
        <p:spPr>
          <a:xfrm>
            <a:off x="3502152" y="4123944"/>
            <a:ext cx="1627632" cy="466344"/>
          </a:xfrm>
          <a:prstGeom prst="rect">
            <a:avLst/>
          </a:prstGeom>
          <a:noFill/>
          <a:ln/>
        </p:spPr>
        <p:txBody>
          <a:bodyPr wrap="square" rtlCol="0" anchor="ctr"/>
          <a:lstStyle/>
          <a:p>
            <a:pPr indent="0" marL="0">
              <a:buNone/>
            </a:pPr>
            <a:r>
              <a:rPr lang="en-US" sz="800" dirty="0">
                <a:solidFill>
                  <a:srgbClr val="22C55E"/>
                </a:solidFill>
                <a:latin typeface="Calibri" pitchFamily="34" charset="0"/>
                <a:ea typeface="Calibri" pitchFamily="34" charset="-122"/>
                <a:cs typeface="Calibri" pitchFamily="34" charset="-120"/>
              </a:rPr>
              <a:t>Netflix: NSS +41</a:t>
            </a:r>
            <a:endParaRPr lang="en-US" sz="800" dirty="0"/>
          </a:p>
          <a:p>
            <a:pPr indent="0" marL="0">
              <a:buNone/>
            </a:pPr>
            <a:r>
              <a:rPr lang="en-US" sz="800" dirty="0">
                <a:solidFill>
                  <a:srgbClr val="22C55E"/>
                </a:solidFill>
                <a:latin typeface="Calibri" pitchFamily="34" charset="0"/>
                <a:ea typeface="Calibri" pitchFamily="34" charset="-122"/>
                <a:cs typeface="Calibri" pitchFamily="34" charset="-120"/>
              </a:rPr>
              <a:t>Amazon: NSS +31</a:t>
            </a:r>
            <a:endParaRPr lang="en-US" sz="800" dirty="0"/>
          </a:p>
        </p:txBody>
      </p:sp>
      <p:sp>
        <p:nvSpPr>
          <p:cNvPr id="58" name="Text 56"/>
          <p:cNvSpPr/>
          <p:nvPr/>
        </p:nvSpPr>
        <p:spPr>
          <a:xfrm>
            <a:off x="5193792" y="4178808"/>
            <a:ext cx="1444752" cy="347472"/>
          </a:xfrm>
          <a:prstGeom prst="rect">
            <a:avLst/>
          </a:prstGeom>
          <a:noFill/>
          <a:ln/>
        </p:spPr>
        <p:txBody>
          <a:bodyPr wrap="square" rtlCol="0" anchor="ctr"/>
          <a:lstStyle/>
          <a:p>
            <a:pPr algn="ctr" indent="0" marL="0">
              <a:buNone/>
            </a:pPr>
            <a:r>
              <a:rPr lang="en-US" sz="800" b="1" dirty="0">
                <a:solidFill>
                  <a:srgbClr val="B45309"/>
                </a:solidFill>
                <a:latin typeface="Calibri" pitchFamily="34" charset="0"/>
                <a:ea typeface="Calibri" pitchFamily="34" charset="-122"/>
                <a:cs typeface="Calibri" pitchFamily="34" charset="-120"/>
              </a:rPr>
              <a:t>21–31 NSS gap</a:t>
            </a:r>
            <a:endParaRPr lang="en-US" sz="800" dirty="0"/>
          </a:p>
        </p:txBody>
      </p:sp>
      <p:sp>
        <p:nvSpPr>
          <p:cNvPr id="59" name="Text 57"/>
          <p:cNvSpPr/>
          <p:nvPr/>
        </p:nvSpPr>
        <p:spPr>
          <a:xfrm>
            <a:off x="6702552" y="4178808"/>
            <a:ext cx="1865376" cy="347472"/>
          </a:xfrm>
          <a:prstGeom prst="rect">
            <a:avLst/>
          </a:prstGeom>
          <a:noFill/>
          <a:ln/>
        </p:spPr>
        <p:txBody>
          <a:bodyPr wrap="square"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 High</a:t>
            </a:r>
            <a:endParaRPr lang="en-US" sz="900" dirty="0"/>
          </a:p>
        </p:txBody>
      </p:sp>
      <p:sp>
        <p:nvSpPr>
          <p:cNvPr id="60" name="Text 58"/>
          <p:cNvSpPr/>
          <p:nvPr/>
        </p:nvSpPr>
        <p:spPr>
          <a:xfrm>
            <a:off x="8613648" y="4105656"/>
            <a:ext cx="3474720" cy="50292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Increase social posting frequency. Engage India sports community. Leverage NFL/Boxing India fans as NSS amplifiers.</a:t>
            </a:r>
            <a:endParaRPr lang="en-US" sz="800" dirty="0"/>
          </a:p>
        </p:txBody>
      </p:sp>
      <p:sp>
        <p:nvSpPr>
          <p:cNvPr id="61" name="Shape 59"/>
          <p:cNvSpPr/>
          <p:nvPr/>
        </p:nvSpPr>
        <p:spPr>
          <a:xfrm>
            <a:off x="274320" y="4718304"/>
            <a:ext cx="11841480" cy="612648"/>
          </a:xfrm>
          <a:prstGeom prst="rect">
            <a:avLst/>
          </a:prstGeom>
          <a:solidFill>
            <a:srgbClr val="F8FAFC"/>
          </a:solidFill>
          <a:ln/>
        </p:spPr>
      </p:sp>
      <p:sp>
        <p:nvSpPr>
          <p:cNvPr id="62" name="Shape 60"/>
          <p:cNvSpPr/>
          <p:nvPr/>
        </p:nvSpPr>
        <p:spPr>
          <a:xfrm>
            <a:off x="274320" y="4718304"/>
            <a:ext cx="64008" cy="612648"/>
          </a:xfrm>
          <a:prstGeom prst="rect">
            <a:avLst/>
          </a:prstGeom>
          <a:solidFill>
            <a:srgbClr val="EF4444"/>
          </a:solidFill>
          <a:ln/>
        </p:spPr>
      </p:sp>
      <p:sp>
        <p:nvSpPr>
          <p:cNvPr id="63" name="Text 61"/>
          <p:cNvSpPr/>
          <p:nvPr/>
        </p:nvSpPr>
        <p:spPr>
          <a:xfrm>
            <a:off x="365760" y="4846320"/>
            <a:ext cx="1371600" cy="347472"/>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Content Relevance (India)</a:t>
            </a:r>
            <a:endParaRPr lang="en-US" sz="850" dirty="0"/>
          </a:p>
        </p:txBody>
      </p:sp>
      <p:sp>
        <p:nvSpPr>
          <p:cNvPr id="64" name="Text 62"/>
          <p:cNvSpPr/>
          <p:nvPr/>
        </p:nvSpPr>
        <p:spPr>
          <a:xfrm>
            <a:off x="1810512" y="4791456"/>
            <a:ext cx="1627632" cy="466344"/>
          </a:xfrm>
          <a:prstGeom prst="rect">
            <a:avLst/>
          </a:prstGeom>
          <a:noFill/>
          <a:ln/>
        </p:spPr>
        <p:txBody>
          <a:bodyPr wrap="square"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NFL, Boxing, Women's Football</a:t>
            </a:r>
            <a:endParaRPr lang="en-US" sz="800" dirty="0"/>
          </a:p>
          <a:p>
            <a:pPr indent="0" marL="0">
              <a:buNone/>
            </a:pPr>
            <a:r>
              <a:rPr lang="en-US" sz="800" b="1" dirty="0">
                <a:solidFill>
                  <a:srgbClr val="EF4444"/>
                </a:solidFill>
                <a:latin typeface="Calibri" pitchFamily="34" charset="0"/>
                <a:ea typeface="Calibri" pitchFamily="34" charset="-122"/>
                <a:cs typeface="Calibri" pitchFamily="34" charset="-120"/>
              </a:rPr>
              <a:t>No cricket rights</a:t>
            </a:r>
            <a:endParaRPr lang="en-US" sz="800" dirty="0"/>
          </a:p>
        </p:txBody>
      </p:sp>
      <p:sp>
        <p:nvSpPr>
          <p:cNvPr id="65" name="Text 63"/>
          <p:cNvSpPr/>
          <p:nvPr/>
        </p:nvSpPr>
        <p:spPr>
          <a:xfrm>
            <a:off x="3502152" y="4791456"/>
            <a:ext cx="1627632" cy="466344"/>
          </a:xfrm>
          <a:prstGeom prst="rect">
            <a:avLst/>
          </a:prstGeom>
          <a:noFill/>
          <a:ln/>
        </p:spPr>
        <p:txBody>
          <a:bodyPr wrap="square" rtlCol="0" anchor="ctr"/>
          <a:lstStyle/>
          <a:p>
            <a:pPr indent="0" marL="0">
              <a:buNone/>
            </a:pPr>
            <a:r>
              <a:rPr lang="en-US" sz="800" dirty="0">
                <a:solidFill>
                  <a:srgbClr val="22C55E"/>
                </a:solidFill>
                <a:latin typeface="Calibri" pitchFamily="34" charset="0"/>
                <a:ea typeface="Calibri" pitchFamily="34" charset="-122"/>
                <a:cs typeface="Calibri" pitchFamily="34" charset="-120"/>
              </a:rPr>
              <a:t>JioHotstar: IPL+ICC+Disney</a:t>
            </a:r>
            <a:endParaRPr lang="en-US" sz="800" dirty="0"/>
          </a:p>
          <a:p>
            <a:pPr indent="0" marL="0">
              <a:buNone/>
            </a:pPr>
            <a:r>
              <a:rPr lang="en-US" sz="800" dirty="0">
                <a:solidFill>
                  <a:srgbClr val="22C55E"/>
                </a:solidFill>
                <a:latin typeface="Calibri" pitchFamily="34" charset="0"/>
                <a:ea typeface="Calibri" pitchFamily="34" charset="-122"/>
                <a:cs typeface="Calibri" pitchFamily="34" charset="-120"/>
              </a:rPr>
              <a:t>All in one</a:t>
            </a:r>
            <a:endParaRPr lang="en-US" sz="800" dirty="0"/>
          </a:p>
        </p:txBody>
      </p:sp>
      <p:sp>
        <p:nvSpPr>
          <p:cNvPr id="66" name="Text 64"/>
          <p:cNvSpPr/>
          <p:nvPr/>
        </p:nvSpPr>
        <p:spPr>
          <a:xfrm>
            <a:off x="5193792" y="4846320"/>
            <a:ext cx="1444752" cy="347472"/>
          </a:xfrm>
          <a:prstGeom prst="rect">
            <a:avLst/>
          </a:prstGeom>
          <a:noFill/>
          <a:ln/>
        </p:spPr>
        <p:txBody>
          <a:bodyPr wrap="square" rtlCol="0" anchor="ctr"/>
          <a:lstStyle/>
          <a:p>
            <a:pPr algn="ctr" indent="0" marL="0">
              <a:buNone/>
            </a:pPr>
            <a:r>
              <a:rPr lang="en-US" sz="800" b="1" dirty="0">
                <a:solidFill>
                  <a:srgbClr val="B45309"/>
                </a:solidFill>
                <a:latin typeface="Calibri" pitchFamily="34" charset="0"/>
                <a:ea typeface="Calibri" pitchFamily="34" charset="-122"/>
                <a:cs typeface="Calibri" pitchFamily="34" charset="-120"/>
              </a:rPr>
              <a:t>Cricket = 70% sports viewership</a:t>
            </a:r>
            <a:endParaRPr lang="en-US" sz="800" dirty="0"/>
          </a:p>
        </p:txBody>
      </p:sp>
      <p:sp>
        <p:nvSpPr>
          <p:cNvPr id="67" name="Text 65"/>
          <p:cNvSpPr/>
          <p:nvPr/>
        </p:nvSpPr>
        <p:spPr>
          <a:xfrm>
            <a:off x="6702552" y="4846320"/>
            <a:ext cx="1865376" cy="347472"/>
          </a:xfrm>
          <a:prstGeom prst="rect">
            <a:avLst/>
          </a:prstGeom>
          <a:noFill/>
          <a:ln/>
        </p:spPr>
        <p:txBody>
          <a:bodyPr wrap="square"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 Critical</a:t>
            </a:r>
            <a:endParaRPr lang="en-US" sz="900" dirty="0"/>
          </a:p>
        </p:txBody>
      </p:sp>
      <p:sp>
        <p:nvSpPr>
          <p:cNvPr id="68" name="Text 66"/>
          <p:cNvSpPr/>
          <p:nvPr/>
        </p:nvSpPr>
        <p:spPr>
          <a:xfrm>
            <a:off x="8613648" y="4773168"/>
            <a:ext cx="3474720" cy="50292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Short-term: cricket news/analysis content. Medium-term: acquire Ranji/women's rights. Long-term: IPL consortium bid.</a:t>
            </a:r>
            <a:endParaRPr lang="en-US" sz="800" dirty="0"/>
          </a:p>
        </p:txBody>
      </p:sp>
      <p:sp>
        <p:nvSpPr>
          <p:cNvPr id="69" name="Shape 67"/>
          <p:cNvSpPr/>
          <p:nvPr/>
        </p:nvSpPr>
        <p:spPr>
          <a:xfrm>
            <a:off x="274320" y="5385816"/>
            <a:ext cx="11841480" cy="612648"/>
          </a:xfrm>
          <a:prstGeom prst="rect">
            <a:avLst/>
          </a:prstGeom>
          <a:solidFill>
            <a:srgbClr val="FFFFFF"/>
          </a:solidFill>
          <a:ln/>
        </p:spPr>
      </p:sp>
      <p:sp>
        <p:nvSpPr>
          <p:cNvPr id="70" name="Shape 68"/>
          <p:cNvSpPr/>
          <p:nvPr/>
        </p:nvSpPr>
        <p:spPr>
          <a:xfrm>
            <a:off x="274320" y="5385816"/>
            <a:ext cx="64008" cy="612648"/>
          </a:xfrm>
          <a:prstGeom prst="rect">
            <a:avLst/>
          </a:prstGeom>
          <a:solidFill>
            <a:srgbClr val="EAB308"/>
          </a:solidFill>
          <a:ln/>
        </p:spPr>
      </p:sp>
      <p:sp>
        <p:nvSpPr>
          <p:cNvPr id="71" name="Text 69"/>
          <p:cNvSpPr/>
          <p:nvPr/>
        </p:nvSpPr>
        <p:spPr>
          <a:xfrm>
            <a:off x="365760" y="5513832"/>
            <a:ext cx="1371600" cy="347472"/>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App Rating (India)</a:t>
            </a:r>
            <a:endParaRPr lang="en-US" sz="850" dirty="0"/>
          </a:p>
        </p:txBody>
      </p:sp>
      <p:sp>
        <p:nvSpPr>
          <p:cNvPr id="72" name="Text 70"/>
          <p:cNvSpPr/>
          <p:nvPr/>
        </p:nvSpPr>
        <p:spPr>
          <a:xfrm>
            <a:off x="1810512" y="5458968"/>
            <a:ext cx="1627632" cy="466344"/>
          </a:xfrm>
          <a:prstGeom prst="rect">
            <a:avLst/>
          </a:prstGeom>
          <a:noFill/>
          <a:ln/>
        </p:spPr>
        <p:txBody>
          <a:bodyPr wrap="square"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3.1★ (global proxy)</a:t>
            </a:r>
            <a:endParaRPr lang="en-US" sz="800" dirty="0"/>
          </a:p>
        </p:txBody>
      </p:sp>
      <p:sp>
        <p:nvSpPr>
          <p:cNvPr id="73" name="Text 71"/>
          <p:cNvSpPr/>
          <p:nvPr/>
        </p:nvSpPr>
        <p:spPr>
          <a:xfrm>
            <a:off x="3502152" y="5458968"/>
            <a:ext cx="1627632" cy="466344"/>
          </a:xfrm>
          <a:prstGeom prst="rect">
            <a:avLst/>
          </a:prstGeom>
          <a:noFill/>
          <a:ln/>
        </p:spPr>
        <p:txBody>
          <a:bodyPr wrap="square" rtlCol="0" anchor="ctr"/>
          <a:lstStyle/>
          <a:p>
            <a:pPr indent="0" marL="0">
              <a:buNone/>
            </a:pPr>
            <a:r>
              <a:rPr lang="en-US" sz="800" dirty="0">
                <a:solidFill>
                  <a:srgbClr val="22C55E"/>
                </a:solidFill>
                <a:latin typeface="Calibri" pitchFamily="34" charset="0"/>
                <a:ea typeface="Calibri" pitchFamily="34" charset="-122"/>
                <a:cs typeface="Calibri" pitchFamily="34" charset="-120"/>
              </a:rPr>
              <a:t>Netflix: 4.2★</a:t>
            </a:r>
            <a:endParaRPr lang="en-US" sz="800" dirty="0"/>
          </a:p>
          <a:p>
            <a:pPr indent="0" marL="0">
              <a:buNone/>
            </a:pPr>
            <a:r>
              <a:rPr lang="en-US" sz="800" dirty="0">
                <a:solidFill>
                  <a:srgbClr val="22C55E"/>
                </a:solidFill>
                <a:latin typeface="Calibri" pitchFamily="34" charset="0"/>
                <a:ea typeface="Calibri" pitchFamily="34" charset="-122"/>
                <a:cs typeface="Calibri" pitchFamily="34" charset="-120"/>
              </a:rPr>
              <a:t>Amazon: 4.1★</a:t>
            </a:r>
            <a:endParaRPr lang="en-US" sz="800" dirty="0"/>
          </a:p>
        </p:txBody>
      </p:sp>
      <p:sp>
        <p:nvSpPr>
          <p:cNvPr id="74" name="Text 72"/>
          <p:cNvSpPr/>
          <p:nvPr/>
        </p:nvSpPr>
        <p:spPr>
          <a:xfrm>
            <a:off x="5193792" y="5513832"/>
            <a:ext cx="1444752" cy="347472"/>
          </a:xfrm>
          <a:prstGeom prst="rect">
            <a:avLst/>
          </a:prstGeom>
          <a:noFill/>
          <a:ln/>
        </p:spPr>
        <p:txBody>
          <a:bodyPr wrap="square" rtlCol="0" anchor="ctr"/>
          <a:lstStyle/>
          <a:p>
            <a:pPr algn="ctr" indent="0" marL="0">
              <a:buNone/>
            </a:pPr>
            <a:r>
              <a:rPr lang="en-US" sz="800" b="1" dirty="0">
                <a:solidFill>
                  <a:srgbClr val="B45309"/>
                </a:solidFill>
                <a:latin typeface="Calibri" pitchFamily="34" charset="0"/>
                <a:ea typeface="Calibri" pitchFamily="34" charset="-122"/>
                <a:cs typeface="Calibri" pitchFamily="34" charset="-120"/>
              </a:rPr>
              <a:t>1.0–1.1 star gap</a:t>
            </a:r>
            <a:endParaRPr lang="en-US" sz="800" dirty="0"/>
          </a:p>
        </p:txBody>
      </p:sp>
      <p:sp>
        <p:nvSpPr>
          <p:cNvPr id="75" name="Text 73"/>
          <p:cNvSpPr/>
          <p:nvPr/>
        </p:nvSpPr>
        <p:spPr>
          <a:xfrm>
            <a:off x="6702552" y="5513832"/>
            <a:ext cx="1865376" cy="347472"/>
          </a:xfrm>
          <a:prstGeom prst="rect">
            <a:avLst/>
          </a:prstGeom>
          <a:noFill/>
          <a:ln/>
        </p:spPr>
        <p:txBody>
          <a:bodyPr wrap="square"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 Medium</a:t>
            </a:r>
            <a:endParaRPr lang="en-US" sz="900" dirty="0"/>
          </a:p>
        </p:txBody>
      </p:sp>
      <p:sp>
        <p:nvSpPr>
          <p:cNvPr id="76" name="Text 74"/>
          <p:cNvSpPr/>
          <p:nvPr/>
        </p:nvSpPr>
        <p:spPr>
          <a:xfrm>
            <a:off x="8613648" y="5440680"/>
            <a:ext cx="3474720" cy="50292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Fix billing transparency. Improve cancellation flow. Localize for India. Add UPI payment. Respond to negative reviews.</a:t>
            </a:r>
            <a:endParaRPr lang="en-US" sz="800" dirty="0"/>
          </a:p>
        </p:txBody>
      </p:sp>
      <p:sp>
        <p:nvSpPr>
          <p:cNvPr id="77" name="Shape 75"/>
          <p:cNvSpPr/>
          <p:nvPr/>
        </p:nvSpPr>
        <p:spPr>
          <a:xfrm>
            <a:off x="274320" y="6053328"/>
            <a:ext cx="11841480" cy="612648"/>
          </a:xfrm>
          <a:prstGeom prst="rect">
            <a:avLst/>
          </a:prstGeom>
          <a:solidFill>
            <a:srgbClr val="F8FAFC"/>
          </a:solidFill>
          <a:ln/>
        </p:spPr>
      </p:sp>
      <p:sp>
        <p:nvSpPr>
          <p:cNvPr id="78" name="Shape 76"/>
          <p:cNvSpPr/>
          <p:nvPr/>
        </p:nvSpPr>
        <p:spPr>
          <a:xfrm>
            <a:off x="274320" y="6053328"/>
            <a:ext cx="64008" cy="612648"/>
          </a:xfrm>
          <a:prstGeom prst="rect">
            <a:avLst/>
          </a:prstGeom>
          <a:solidFill>
            <a:srgbClr val="F59E0B"/>
          </a:solidFill>
          <a:ln/>
        </p:spPr>
      </p:sp>
      <p:sp>
        <p:nvSpPr>
          <p:cNvPr id="79" name="Text 77"/>
          <p:cNvSpPr/>
          <p:nvPr/>
        </p:nvSpPr>
        <p:spPr>
          <a:xfrm>
            <a:off x="365760" y="6181344"/>
            <a:ext cx="1371600" cy="347472"/>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Influencer &amp; Celeb Partnership</a:t>
            </a:r>
            <a:endParaRPr lang="en-US" sz="850" dirty="0"/>
          </a:p>
        </p:txBody>
      </p:sp>
      <p:sp>
        <p:nvSpPr>
          <p:cNvPr id="80" name="Text 78"/>
          <p:cNvSpPr/>
          <p:nvPr/>
        </p:nvSpPr>
        <p:spPr>
          <a:xfrm>
            <a:off x="1810512" y="6126480"/>
            <a:ext cx="1627632" cy="466344"/>
          </a:xfrm>
          <a:prstGeom prst="rect">
            <a:avLst/>
          </a:prstGeom>
          <a:noFill/>
          <a:ln/>
        </p:spPr>
        <p:txBody>
          <a:bodyPr wrap="square" rtlCol="0" anchor="ctr"/>
          <a:lstStyle/>
          <a:p>
            <a:pPr indent="0" marL="0">
              <a:buNone/>
            </a:pPr>
            <a:r>
              <a:rPr lang="en-US" sz="800" b="1" dirty="0">
                <a:solidFill>
                  <a:srgbClr val="EF4444"/>
                </a:solidFill>
                <a:latin typeface="Calibri" pitchFamily="34" charset="0"/>
                <a:ea typeface="Calibri" pitchFamily="34" charset="-122"/>
                <a:cs typeface="Calibri" pitchFamily="34" charset="-120"/>
              </a:rPr>
              <a:t>Near zero India tie-ups</a:t>
            </a:r>
            <a:endParaRPr lang="en-US" sz="800" dirty="0"/>
          </a:p>
        </p:txBody>
      </p:sp>
      <p:sp>
        <p:nvSpPr>
          <p:cNvPr id="81" name="Text 79"/>
          <p:cNvSpPr/>
          <p:nvPr/>
        </p:nvSpPr>
        <p:spPr>
          <a:xfrm>
            <a:off x="3502152" y="6126480"/>
            <a:ext cx="1627632" cy="466344"/>
          </a:xfrm>
          <a:prstGeom prst="rect">
            <a:avLst/>
          </a:prstGeom>
          <a:noFill/>
          <a:ln/>
        </p:spPr>
        <p:txBody>
          <a:bodyPr wrap="square" rtlCol="0" anchor="ctr"/>
          <a:lstStyle/>
          <a:p>
            <a:pPr indent="0" marL="0">
              <a:buNone/>
            </a:pPr>
            <a:r>
              <a:rPr lang="en-US" sz="800" dirty="0">
                <a:solidFill>
                  <a:srgbClr val="22C55E"/>
                </a:solidFill>
                <a:latin typeface="Calibri" pitchFamily="34" charset="0"/>
                <a:ea typeface="Calibri" pitchFamily="34" charset="-122"/>
                <a:cs typeface="Calibri" pitchFamily="34" charset="-120"/>
              </a:rPr>
              <a:t>Netflix: Top Bollywood cast</a:t>
            </a:r>
            <a:endParaRPr lang="en-US" sz="800" dirty="0"/>
          </a:p>
          <a:p>
            <a:pPr indent="0" marL="0">
              <a:buNone/>
            </a:pPr>
            <a:r>
              <a:rPr lang="en-US" sz="800" dirty="0">
                <a:solidFill>
                  <a:srgbClr val="22C55E"/>
                </a:solidFill>
                <a:latin typeface="Calibri" pitchFamily="34" charset="0"/>
                <a:ea typeface="Calibri" pitchFamily="34" charset="-122"/>
                <a:cs typeface="Calibri" pitchFamily="34" charset="-120"/>
              </a:rPr>
              <a:t>Amazon: 100+ creators</a:t>
            </a:r>
            <a:endParaRPr lang="en-US" sz="800" dirty="0"/>
          </a:p>
        </p:txBody>
      </p:sp>
      <p:sp>
        <p:nvSpPr>
          <p:cNvPr id="82" name="Text 80"/>
          <p:cNvSpPr/>
          <p:nvPr/>
        </p:nvSpPr>
        <p:spPr>
          <a:xfrm>
            <a:off x="5193792" y="6181344"/>
            <a:ext cx="1444752" cy="347472"/>
          </a:xfrm>
          <a:prstGeom prst="rect">
            <a:avLst/>
          </a:prstGeom>
          <a:noFill/>
          <a:ln/>
        </p:spPr>
        <p:txBody>
          <a:bodyPr wrap="square" rtlCol="0" anchor="ctr"/>
          <a:lstStyle/>
          <a:p>
            <a:pPr algn="ctr" indent="0" marL="0">
              <a:buNone/>
            </a:pPr>
            <a:r>
              <a:rPr lang="en-US" sz="800" b="1" dirty="0">
                <a:solidFill>
                  <a:srgbClr val="B45309"/>
                </a:solidFill>
                <a:latin typeface="Calibri" pitchFamily="34" charset="0"/>
                <a:ea typeface="Calibri" pitchFamily="34" charset="-122"/>
                <a:cs typeface="Calibri" pitchFamily="34" charset="-120"/>
              </a:rPr>
              <a:t>No India sports influencer presence</a:t>
            </a:r>
            <a:endParaRPr lang="en-US" sz="800" dirty="0"/>
          </a:p>
        </p:txBody>
      </p:sp>
      <p:sp>
        <p:nvSpPr>
          <p:cNvPr id="83" name="Text 81"/>
          <p:cNvSpPr/>
          <p:nvPr/>
        </p:nvSpPr>
        <p:spPr>
          <a:xfrm>
            <a:off x="6702552" y="6181344"/>
            <a:ext cx="1865376" cy="347472"/>
          </a:xfrm>
          <a:prstGeom prst="rect">
            <a:avLst/>
          </a:prstGeom>
          <a:noFill/>
          <a:ln/>
        </p:spPr>
        <p:txBody>
          <a:bodyPr wrap="square" rtlCol="0" anchor="ctr"/>
          <a:lstStyle/>
          <a:p>
            <a:pPr algn="ctr" indent="0" marL="0">
              <a:buNone/>
            </a:pPr>
            <a:r>
              <a:rPr lang="en-US" sz="900" b="1" dirty="0">
                <a:solidFill>
                  <a:srgbClr val="0F172A"/>
                </a:solidFill>
                <a:latin typeface="Calibri" pitchFamily="34" charset="0"/>
                <a:ea typeface="Calibri" pitchFamily="34" charset="-122"/>
                <a:cs typeface="Calibri" pitchFamily="34" charset="-120"/>
              </a:rPr>
              <a:t>🟠 High</a:t>
            </a:r>
            <a:endParaRPr lang="en-US" sz="900" dirty="0"/>
          </a:p>
        </p:txBody>
      </p:sp>
      <p:sp>
        <p:nvSpPr>
          <p:cNvPr id="84" name="Text 82"/>
          <p:cNvSpPr/>
          <p:nvPr/>
        </p:nvSpPr>
        <p:spPr>
          <a:xfrm>
            <a:off x="8613648" y="6108192"/>
            <a:ext cx="3474720" cy="502920"/>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Partner 5–10 India sports influencers (Harmanpreet Kaur, Saurabh Tiwary). Sponsor sports creators on YouTube. Budget: ₹5–10Cr.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804672"/>
          </a:xfrm>
          <a:prstGeom prst="rect">
            <a:avLst/>
          </a:prstGeom>
          <a:solidFill>
            <a:srgbClr val="0F172A"/>
          </a:solidFill>
          <a:ln/>
        </p:spPr>
      </p:sp>
      <p:sp>
        <p:nvSpPr>
          <p:cNvPr id="3" name="Shape 1"/>
          <p:cNvSpPr/>
          <p:nvPr/>
        </p:nvSpPr>
        <p:spPr>
          <a:xfrm>
            <a:off x="0" y="786384"/>
            <a:ext cx="12161520" cy="64008"/>
          </a:xfrm>
          <a:prstGeom prst="rect">
            <a:avLst/>
          </a:prstGeom>
          <a:solidFill>
            <a:srgbClr val="F7D447"/>
          </a:solidFill>
          <a:ln/>
        </p:spPr>
      </p:sp>
      <p:sp>
        <p:nvSpPr>
          <p:cNvPr id="4" name="Text 2"/>
          <p:cNvSpPr/>
          <p:nvPr/>
        </p:nvSpPr>
        <p:spPr>
          <a:xfrm>
            <a:off x="365760" y="54864"/>
            <a:ext cx="8961120" cy="475488"/>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Actionable Recommendations — DAZN India Brand Reputation</a:t>
            </a:r>
            <a:endParaRPr lang="en-US" sz="2000" dirty="0"/>
          </a:p>
        </p:txBody>
      </p:sp>
      <p:sp>
        <p:nvSpPr>
          <p:cNvPr id="5" name="Text 3"/>
          <p:cNvSpPr/>
          <p:nvPr/>
        </p:nvSpPr>
        <p:spPr>
          <a:xfrm>
            <a:off x="365760" y="530352"/>
            <a:ext cx="8229600" cy="237744"/>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Prioritised by impact and urgency | 90-day, 6-month, and 12-month horizons</a:t>
            </a:r>
            <a:endParaRPr lang="en-US" sz="950" dirty="0"/>
          </a:p>
        </p:txBody>
      </p:sp>
      <p:sp>
        <p:nvSpPr>
          <p:cNvPr id="6" name="Text 4"/>
          <p:cNvSpPr/>
          <p:nvPr/>
        </p:nvSpPr>
        <p:spPr>
          <a:xfrm>
            <a:off x="9601200" y="228600"/>
            <a:ext cx="2377440" cy="320040"/>
          </a:xfrm>
          <a:prstGeom prst="rect">
            <a:avLst/>
          </a:prstGeom>
          <a:noFill/>
          <a:ln/>
        </p:spPr>
        <p:txBody>
          <a:bodyPr wrap="square" rtlCol="0" anchor="ctr"/>
          <a:lstStyle/>
          <a:p>
            <a:pPr algn="r" indent="0" marL="0">
              <a:buNone/>
            </a:pPr>
            <a:r>
              <a:rPr lang="en-US" sz="850" b="1" dirty="0">
                <a:solidFill>
                  <a:srgbClr val="F7D447"/>
                </a:solidFill>
                <a:latin typeface="Calibri" pitchFamily="34" charset="0"/>
                <a:ea typeface="Calibri" pitchFamily="34" charset="-122"/>
                <a:cs typeface="Calibri" pitchFamily="34" charset="-120"/>
              </a:rPr>
              <a:t>DAZN India  •  Social Listening Report 2025  •  Slide 11</a:t>
            </a:r>
            <a:endParaRPr lang="en-US" sz="850" dirty="0"/>
          </a:p>
        </p:txBody>
      </p:sp>
      <p:sp>
        <p:nvSpPr>
          <p:cNvPr id="7" name="Shape 5"/>
          <p:cNvSpPr/>
          <p:nvPr/>
        </p:nvSpPr>
        <p:spPr>
          <a:xfrm>
            <a:off x="0" y="6675120"/>
            <a:ext cx="12161520" cy="182880"/>
          </a:xfrm>
          <a:prstGeom prst="rect">
            <a:avLst/>
          </a:prstGeom>
          <a:solidFill>
            <a:srgbClr val="0F172A"/>
          </a:solidFill>
          <a:ln/>
        </p:spPr>
      </p:sp>
      <p:sp>
        <p:nvSpPr>
          <p:cNvPr id="8" name="Text 6"/>
          <p:cNvSpPr/>
          <p:nvPr/>
        </p:nvSpPr>
        <p:spPr>
          <a:xfrm>
            <a:off x="274320" y="6684264"/>
            <a:ext cx="11612880" cy="15544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Confidential — For Internal Management Use Only</a:t>
            </a:r>
            <a:endParaRPr lang="en-US" sz="750" dirty="0"/>
          </a:p>
        </p:txBody>
      </p:sp>
      <p:sp>
        <p:nvSpPr>
          <p:cNvPr id="9" name="Shape 7"/>
          <p:cNvSpPr/>
          <p:nvPr/>
        </p:nvSpPr>
        <p:spPr>
          <a:xfrm>
            <a:off x="274320" y="1005840"/>
            <a:ext cx="5577840" cy="129844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10" name="Shape 8"/>
          <p:cNvSpPr/>
          <p:nvPr/>
        </p:nvSpPr>
        <p:spPr>
          <a:xfrm>
            <a:off x="274320" y="1005840"/>
            <a:ext cx="64008" cy="1298448"/>
          </a:xfrm>
          <a:prstGeom prst="rect">
            <a:avLst/>
          </a:prstGeom>
          <a:solidFill>
            <a:srgbClr val="EF4444"/>
          </a:solidFill>
          <a:ln/>
        </p:spPr>
      </p:sp>
      <p:sp>
        <p:nvSpPr>
          <p:cNvPr id="11" name="Shape 9"/>
          <p:cNvSpPr/>
          <p:nvPr/>
        </p:nvSpPr>
        <p:spPr>
          <a:xfrm>
            <a:off x="356616" y="1005840"/>
            <a:ext cx="658368" cy="1298448"/>
          </a:xfrm>
          <a:prstGeom prst="rect">
            <a:avLst/>
          </a:prstGeom>
          <a:solidFill>
            <a:srgbClr val="0F172A"/>
          </a:solidFill>
          <a:ln/>
        </p:spPr>
      </p:sp>
      <p:sp>
        <p:nvSpPr>
          <p:cNvPr id="12" name="Text 10"/>
          <p:cNvSpPr/>
          <p:nvPr/>
        </p:nvSpPr>
        <p:spPr>
          <a:xfrm>
            <a:off x="356616" y="1005840"/>
            <a:ext cx="658368" cy="658368"/>
          </a:xfrm>
          <a:prstGeom prst="rect">
            <a:avLst/>
          </a:prstGeom>
          <a:noFill/>
          <a:ln/>
        </p:spPr>
        <p:txBody>
          <a:bodyPr wrap="square" rtlCol="0" anchor="ctr"/>
          <a:lstStyle/>
          <a:p>
            <a:pPr algn="ctr" indent="0" marL="0">
              <a:buNone/>
            </a:pPr>
            <a:r>
              <a:rPr lang="en-US" sz="2400" b="1" dirty="0">
                <a:solidFill>
                  <a:srgbClr val="EF4444"/>
                </a:solidFill>
                <a:latin typeface="Arial Black" pitchFamily="34" charset="0"/>
                <a:ea typeface="Arial Black" pitchFamily="34" charset="-122"/>
                <a:cs typeface="Arial Black" pitchFamily="34" charset="-120"/>
              </a:rPr>
              <a:t>01</a:t>
            </a:r>
            <a:endParaRPr lang="en-US" sz="2400" dirty="0"/>
          </a:p>
        </p:txBody>
      </p:sp>
      <p:sp>
        <p:nvSpPr>
          <p:cNvPr id="13" name="Text 11"/>
          <p:cNvSpPr/>
          <p:nvPr/>
        </p:nvSpPr>
        <p:spPr>
          <a:xfrm>
            <a:off x="356616" y="1627632"/>
            <a:ext cx="658368" cy="347472"/>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0–30 days</a:t>
            </a:r>
            <a:endParaRPr lang="en-US" sz="700" dirty="0"/>
          </a:p>
        </p:txBody>
      </p:sp>
      <p:sp>
        <p:nvSpPr>
          <p:cNvPr id="14" name="Text 12"/>
          <p:cNvSpPr/>
          <p:nvPr/>
        </p:nvSpPr>
        <p:spPr>
          <a:xfrm>
            <a:off x="1060704" y="1078992"/>
            <a:ext cx="4114800" cy="32004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Launch @DAZNIndia Social Handles TODAY</a:t>
            </a:r>
            <a:endParaRPr lang="en-US" sz="1000" dirty="0"/>
          </a:p>
        </p:txBody>
      </p:sp>
      <p:sp>
        <p:nvSpPr>
          <p:cNvPr id="15" name="Shape 13"/>
          <p:cNvSpPr/>
          <p:nvPr/>
        </p:nvSpPr>
        <p:spPr>
          <a:xfrm>
            <a:off x="4572000" y="1078992"/>
            <a:ext cx="1188720" cy="256032"/>
          </a:xfrm>
          <a:prstGeom prst="rect">
            <a:avLst/>
          </a:prstGeom>
          <a:solidFill>
            <a:srgbClr val="EF4444"/>
          </a:solidFill>
          <a:ln/>
        </p:spPr>
      </p:sp>
      <p:sp>
        <p:nvSpPr>
          <p:cNvPr id="16" name="Text 14"/>
          <p:cNvSpPr/>
          <p:nvPr/>
        </p:nvSpPr>
        <p:spPr>
          <a:xfrm>
            <a:off x="4572000" y="1078992"/>
            <a:ext cx="1188720" cy="25603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CRITICAL</a:t>
            </a:r>
            <a:endParaRPr lang="en-US" sz="750" dirty="0"/>
          </a:p>
        </p:txBody>
      </p:sp>
      <p:sp>
        <p:nvSpPr>
          <p:cNvPr id="17" name="Text 15"/>
          <p:cNvSpPr/>
          <p:nvPr/>
        </p:nvSpPr>
        <p:spPr>
          <a:xfrm>
            <a:off x="1060704" y="1426464"/>
            <a:ext cx="4681728" cy="20116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KPI: 500K followers in 90 days  |  Owner: Social Media Team  |  Budget: ₹50L setup + ₹1Cr/yr content</a:t>
            </a:r>
            <a:endParaRPr lang="en-US" sz="750" dirty="0"/>
          </a:p>
        </p:txBody>
      </p:sp>
      <p:sp>
        <p:nvSpPr>
          <p:cNvPr id="18" name="Text 16"/>
          <p:cNvSpPr/>
          <p:nvPr/>
        </p:nvSpPr>
        <p:spPr>
          <a:xfrm>
            <a:off x="1060704" y="1645920"/>
            <a:ext cx="4681728" cy="585216"/>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Create @DAZNIndia on Instagram, Twitter/X, YouTube. Post daily sports clips (NFL, boxing, women's football). Hindi + English mix. Respond to every mention within 2 hours. Critical: start NOW — every day without presence widens the 64x gap vs Netflix India.</a:t>
            </a:r>
            <a:endParaRPr lang="en-US" sz="800" dirty="0"/>
          </a:p>
        </p:txBody>
      </p:sp>
      <p:sp>
        <p:nvSpPr>
          <p:cNvPr id="19" name="Shape 17"/>
          <p:cNvSpPr/>
          <p:nvPr/>
        </p:nvSpPr>
        <p:spPr>
          <a:xfrm>
            <a:off x="6126480" y="1005840"/>
            <a:ext cx="5577840" cy="129844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20" name="Shape 18"/>
          <p:cNvSpPr/>
          <p:nvPr/>
        </p:nvSpPr>
        <p:spPr>
          <a:xfrm>
            <a:off x="6126480" y="1005840"/>
            <a:ext cx="64008" cy="1298448"/>
          </a:xfrm>
          <a:prstGeom prst="rect">
            <a:avLst/>
          </a:prstGeom>
          <a:solidFill>
            <a:srgbClr val="EF4444"/>
          </a:solidFill>
          <a:ln/>
        </p:spPr>
      </p:sp>
      <p:sp>
        <p:nvSpPr>
          <p:cNvPr id="21" name="Shape 19"/>
          <p:cNvSpPr/>
          <p:nvPr/>
        </p:nvSpPr>
        <p:spPr>
          <a:xfrm>
            <a:off x="6208776" y="1005840"/>
            <a:ext cx="658368" cy="1298448"/>
          </a:xfrm>
          <a:prstGeom prst="rect">
            <a:avLst/>
          </a:prstGeom>
          <a:solidFill>
            <a:srgbClr val="0F172A"/>
          </a:solidFill>
          <a:ln/>
        </p:spPr>
      </p:sp>
      <p:sp>
        <p:nvSpPr>
          <p:cNvPr id="22" name="Text 20"/>
          <p:cNvSpPr/>
          <p:nvPr/>
        </p:nvSpPr>
        <p:spPr>
          <a:xfrm>
            <a:off x="6208776" y="1005840"/>
            <a:ext cx="658368" cy="658368"/>
          </a:xfrm>
          <a:prstGeom prst="rect">
            <a:avLst/>
          </a:prstGeom>
          <a:noFill/>
          <a:ln/>
        </p:spPr>
        <p:txBody>
          <a:bodyPr wrap="square" rtlCol="0" anchor="ctr"/>
          <a:lstStyle/>
          <a:p>
            <a:pPr algn="ctr" indent="0" marL="0">
              <a:buNone/>
            </a:pPr>
            <a:r>
              <a:rPr lang="en-US" sz="2400" b="1" dirty="0">
                <a:solidFill>
                  <a:srgbClr val="EF4444"/>
                </a:solidFill>
                <a:latin typeface="Arial Black" pitchFamily="34" charset="0"/>
                <a:ea typeface="Arial Black" pitchFamily="34" charset="-122"/>
                <a:cs typeface="Arial Black" pitchFamily="34" charset="-120"/>
              </a:rPr>
              <a:t>02</a:t>
            </a:r>
            <a:endParaRPr lang="en-US" sz="2400" dirty="0"/>
          </a:p>
        </p:txBody>
      </p:sp>
      <p:sp>
        <p:nvSpPr>
          <p:cNvPr id="23" name="Text 21"/>
          <p:cNvSpPr/>
          <p:nvPr/>
        </p:nvSpPr>
        <p:spPr>
          <a:xfrm>
            <a:off x="6208776" y="1627632"/>
            <a:ext cx="658368" cy="347472"/>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0–60 days</a:t>
            </a:r>
            <a:endParaRPr lang="en-US" sz="700" dirty="0"/>
          </a:p>
        </p:txBody>
      </p:sp>
      <p:sp>
        <p:nvSpPr>
          <p:cNvPr id="24" name="Text 22"/>
          <p:cNvSpPr/>
          <p:nvPr/>
        </p:nvSpPr>
        <p:spPr>
          <a:xfrm>
            <a:off x="6912864" y="1078992"/>
            <a:ext cx="4114800" cy="32004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India NPS Primary Survey — 60 Day Deadline</a:t>
            </a:r>
            <a:endParaRPr lang="en-US" sz="1000" dirty="0"/>
          </a:p>
        </p:txBody>
      </p:sp>
      <p:sp>
        <p:nvSpPr>
          <p:cNvPr id="25" name="Shape 23"/>
          <p:cNvSpPr/>
          <p:nvPr/>
        </p:nvSpPr>
        <p:spPr>
          <a:xfrm>
            <a:off x="10424160" y="1078992"/>
            <a:ext cx="1188720" cy="256032"/>
          </a:xfrm>
          <a:prstGeom prst="rect">
            <a:avLst/>
          </a:prstGeom>
          <a:solidFill>
            <a:srgbClr val="EF4444"/>
          </a:solidFill>
          <a:ln/>
        </p:spPr>
      </p:sp>
      <p:sp>
        <p:nvSpPr>
          <p:cNvPr id="26" name="Text 24"/>
          <p:cNvSpPr/>
          <p:nvPr/>
        </p:nvSpPr>
        <p:spPr>
          <a:xfrm>
            <a:off x="10424160" y="1078992"/>
            <a:ext cx="1188720" cy="25603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CRITICAL</a:t>
            </a:r>
            <a:endParaRPr lang="en-US" sz="750" dirty="0"/>
          </a:p>
        </p:txBody>
      </p:sp>
      <p:sp>
        <p:nvSpPr>
          <p:cNvPr id="27" name="Text 25"/>
          <p:cNvSpPr/>
          <p:nvPr/>
        </p:nvSpPr>
        <p:spPr>
          <a:xfrm>
            <a:off x="6912864" y="1426464"/>
            <a:ext cx="4681728" cy="20116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KPI: NPS baseline established  |  Owner: Research / CX Team  |  Budget: ₹15–25L (survey + analysis)</a:t>
            </a:r>
            <a:endParaRPr lang="en-US" sz="750" dirty="0"/>
          </a:p>
        </p:txBody>
      </p:sp>
      <p:sp>
        <p:nvSpPr>
          <p:cNvPr id="28" name="Text 26"/>
          <p:cNvSpPr/>
          <p:nvPr/>
        </p:nvSpPr>
        <p:spPr>
          <a:xfrm>
            <a:off x="6912864" y="1645920"/>
            <a:ext cx="4681728" cy="585216"/>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Commission primary NPS survey with minimum 1,000 India respondents. Segment by: cricket fans vs non-cricket, Tier 1 vs Tier 2 cities, age 18–45. Without India NPS data, we cannot track improvement or present credible reputation metrics to management or investors.</a:t>
            </a:r>
            <a:endParaRPr lang="en-US" sz="800" dirty="0"/>
          </a:p>
        </p:txBody>
      </p:sp>
      <p:sp>
        <p:nvSpPr>
          <p:cNvPr id="29" name="Shape 27"/>
          <p:cNvSpPr/>
          <p:nvPr/>
        </p:nvSpPr>
        <p:spPr>
          <a:xfrm>
            <a:off x="274320" y="2377440"/>
            <a:ext cx="5577840" cy="129844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30" name="Shape 28"/>
          <p:cNvSpPr/>
          <p:nvPr/>
        </p:nvSpPr>
        <p:spPr>
          <a:xfrm>
            <a:off x="274320" y="2377440"/>
            <a:ext cx="64008" cy="1298448"/>
          </a:xfrm>
          <a:prstGeom prst="rect">
            <a:avLst/>
          </a:prstGeom>
          <a:solidFill>
            <a:srgbClr val="EF4444"/>
          </a:solidFill>
          <a:ln/>
        </p:spPr>
      </p:sp>
      <p:sp>
        <p:nvSpPr>
          <p:cNvPr id="31" name="Shape 29"/>
          <p:cNvSpPr/>
          <p:nvPr/>
        </p:nvSpPr>
        <p:spPr>
          <a:xfrm>
            <a:off x="356616" y="2377440"/>
            <a:ext cx="658368" cy="1298448"/>
          </a:xfrm>
          <a:prstGeom prst="rect">
            <a:avLst/>
          </a:prstGeom>
          <a:solidFill>
            <a:srgbClr val="0F172A"/>
          </a:solidFill>
          <a:ln/>
        </p:spPr>
      </p:sp>
      <p:sp>
        <p:nvSpPr>
          <p:cNvPr id="32" name="Text 30"/>
          <p:cNvSpPr/>
          <p:nvPr/>
        </p:nvSpPr>
        <p:spPr>
          <a:xfrm>
            <a:off x="356616" y="2377440"/>
            <a:ext cx="658368" cy="658368"/>
          </a:xfrm>
          <a:prstGeom prst="rect">
            <a:avLst/>
          </a:prstGeom>
          <a:noFill/>
          <a:ln/>
        </p:spPr>
        <p:txBody>
          <a:bodyPr wrap="square" rtlCol="0" anchor="ctr"/>
          <a:lstStyle/>
          <a:p>
            <a:pPr algn="ctr" indent="0" marL="0">
              <a:buNone/>
            </a:pPr>
            <a:r>
              <a:rPr lang="en-US" sz="2400" b="1" dirty="0">
                <a:solidFill>
                  <a:srgbClr val="EF4444"/>
                </a:solidFill>
                <a:latin typeface="Arial Black" pitchFamily="34" charset="0"/>
                <a:ea typeface="Arial Black" pitchFamily="34" charset="-122"/>
                <a:cs typeface="Arial Black" pitchFamily="34" charset="-120"/>
              </a:rPr>
              <a:t>03</a:t>
            </a:r>
            <a:endParaRPr lang="en-US" sz="2400" dirty="0"/>
          </a:p>
        </p:txBody>
      </p:sp>
      <p:sp>
        <p:nvSpPr>
          <p:cNvPr id="33" name="Text 31"/>
          <p:cNvSpPr/>
          <p:nvPr/>
        </p:nvSpPr>
        <p:spPr>
          <a:xfrm>
            <a:off x="356616" y="2999232"/>
            <a:ext cx="658368" cy="347472"/>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0–60 days</a:t>
            </a:r>
            <a:endParaRPr lang="en-US" sz="700" dirty="0"/>
          </a:p>
        </p:txBody>
      </p:sp>
      <p:sp>
        <p:nvSpPr>
          <p:cNvPr id="34" name="Text 32"/>
          <p:cNvSpPr/>
          <p:nvPr/>
        </p:nvSpPr>
        <p:spPr>
          <a:xfrm>
            <a:off x="1060704" y="2450592"/>
            <a:ext cx="4114800" cy="32004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Billing Trust &amp; Transparency Fix (Global → India)</a:t>
            </a:r>
            <a:endParaRPr lang="en-US" sz="1000" dirty="0"/>
          </a:p>
        </p:txBody>
      </p:sp>
      <p:sp>
        <p:nvSpPr>
          <p:cNvPr id="35" name="Shape 33"/>
          <p:cNvSpPr/>
          <p:nvPr/>
        </p:nvSpPr>
        <p:spPr>
          <a:xfrm>
            <a:off x="4572000" y="2450592"/>
            <a:ext cx="1188720" cy="256032"/>
          </a:xfrm>
          <a:prstGeom prst="rect">
            <a:avLst/>
          </a:prstGeom>
          <a:solidFill>
            <a:srgbClr val="EF4444"/>
          </a:solidFill>
          <a:ln/>
        </p:spPr>
      </p:sp>
      <p:sp>
        <p:nvSpPr>
          <p:cNvPr id="36" name="Text 34"/>
          <p:cNvSpPr/>
          <p:nvPr/>
        </p:nvSpPr>
        <p:spPr>
          <a:xfrm>
            <a:off x="4572000" y="2450592"/>
            <a:ext cx="1188720" cy="256032"/>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 CRITICAL</a:t>
            </a:r>
            <a:endParaRPr lang="en-US" sz="750" dirty="0"/>
          </a:p>
        </p:txBody>
      </p:sp>
      <p:sp>
        <p:nvSpPr>
          <p:cNvPr id="37" name="Text 35"/>
          <p:cNvSpPr/>
          <p:nvPr/>
        </p:nvSpPr>
        <p:spPr>
          <a:xfrm>
            <a:off x="1060704" y="2798064"/>
            <a:ext cx="4681728" cy="20116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KPI: Trustpilot score &gt;4.0 sustained  |  Owner: Product + Customer Experience  |  Budget: Internal engineering sprint</a:t>
            </a:r>
            <a:endParaRPr lang="en-US" sz="750" dirty="0"/>
          </a:p>
        </p:txBody>
      </p:sp>
      <p:sp>
        <p:nvSpPr>
          <p:cNvPr id="38" name="Text 36"/>
          <p:cNvSpPr/>
          <p:nvPr/>
        </p:nvSpPr>
        <p:spPr>
          <a:xfrm>
            <a:off x="1060704" y="3017520"/>
            <a:ext cx="4681728" cy="585216"/>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The single biggest DAZN detractor theme globally: hidden subscriptions, double billing, no easy cancellation. For India: 1-tap cancel, UPI/Paytm payment options, clear pricing page in Hindi, WhatsApp support channel. These are table-stakes for Indian consumers.</a:t>
            </a:r>
            <a:endParaRPr lang="en-US" sz="800" dirty="0"/>
          </a:p>
        </p:txBody>
      </p:sp>
      <p:sp>
        <p:nvSpPr>
          <p:cNvPr id="39" name="Shape 37"/>
          <p:cNvSpPr/>
          <p:nvPr/>
        </p:nvSpPr>
        <p:spPr>
          <a:xfrm>
            <a:off x="6126480" y="2377440"/>
            <a:ext cx="5577840" cy="129844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40" name="Shape 38"/>
          <p:cNvSpPr/>
          <p:nvPr/>
        </p:nvSpPr>
        <p:spPr>
          <a:xfrm>
            <a:off x="6126480" y="2377440"/>
            <a:ext cx="64008" cy="1298448"/>
          </a:xfrm>
          <a:prstGeom prst="rect">
            <a:avLst/>
          </a:prstGeom>
          <a:solidFill>
            <a:srgbClr val="EAB308"/>
          </a:solidFill>
          <a:ln/>
        </p:spPr>
      </p:sp>
      <p:sp>
        <p:nvSpPr>
          <p:cNvPr id="41" name="Shape 39"/>
          <p:cNvSpPr/>
          <p:nvPr/>
        </p:nvSpPr>
        <p:spPr>
          <a:xfrm>
            <a:off x="6208776" y="2377440"/>
            <a:ext cx="658368" cy="1298448"/>
          </a:xfrm>
          <a:prstGeom prst="rect">
            <a:avLst/>
          </a:prstGeom>
          <a:solidFill>
            <a:srgbClr val="0F172A"/>
          </a:solidFill>
          <a:ln/>
        </p:spPr>
      </p:sp>
      <p:sp>
        <p:nvSpPr>
          <p:cNvPr id="42" name="Text 40"/>
          <p:cNvSpPr/>
          <p:nvPr/>
        </p:nvSpPr>
        <p:spPr>
          <a:xfrm>
            <a:off x="6208776" y="2377440"/>
            <a:ext cx="658368" cy="658368"/>
          </a:xfrm>
          <a:prstGeom prst="rect">
            <a:avLst/>
          </a:prstGeom>
          <a:noFill/>
          <a:ln/>
        </p:spPr>
        <p:txBody>
          <a:bodyPr wrap="square" rtlCol="0" anchor="ctr"/>
          <a:lstStyle/>
          <a:p>
            <a:pPr algn="ctr" indent="0" marL="0">
              <a:buNone/>
            </a:pPr>
            <a:r>
              <a:rPr lang="en-US" sz="2400" b="1" dirty="0">
                <a:solidFill>
                  <a:srgbClr val="EAB308"/>
                </a:solidFill>
                <a:latin typeface="Arial Black" pitchFamily="34" charset="0"/>
                <a:ea typeface="Arial Black" pitchFamily="34" charset="-122"/>
                <a:cs typeface="Arial Black" pitchFamily="34" charset="-120"/>
              </a:rPr>
              <a:t>04</a:t>
            </a:r>
            <a:endParaRPr lang="en-US" sz="2400" dirty="0"/>
          </a:p>
        </p:txBody>
      </p:sp>
      <p:sp>
        <p:nvSpPr>
          <p:cNvPr id="43" name="Text 41"/>
          <p:cNvSpPr/>
          <p:nvPr/>
        </p:nvSpPr>
        <p:spPr>
          <a:xfrm>
            <a:off x="6208776" y="2999232"/>
            <a:ext cx="658368" cy="347472"/>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30–90 days</a:t>
            </a:r>
            <a:endParaRPr lang="en-US" sz="700" dirty="0"/>
          </a:p>
        </p:txBody>
      </p:sp>
      <p:sp>
        <p:nvSpPr>
          <p:cNvPr id="44" name="Text 42"/>
          <p:cNvSpPr/>
          <p:nvPr/>
        </p:nvSpPr>
        <p:spPr>
          <a:xfrm>
            <a:off x="6912864" y="2450592"/>
            <a:ext cx="4114800" cy="32004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Sports Influencer Partnership Programme</a:t>
            </a:r>
            <a:endParaRPr lang="en-US" sz="1000" dirty="0"/>
          </a:p>
        </p:txBody>
      </p:sp>
      <p:sp>
        <p:nvSpPr>
          <p:cNvPr id="45" name="Shape 43"/>
          <p:cNvSpPr/>
          <p:nvPr/>
        </p:nvSpPr>
        <p:spPr>
          <a:xfrm>
            <a:off x="10424160" y="2450592"/>
            <a:ext cx="1188720" cy="256032"/>
          </a:xfrm>
          <a:prstGeom prst="rect">
            <a:avLst/>
          </a:prstGeom>
          <a:solidFill>
            <a:srgbClr val="EAB308"/>
          </a:solidFill>
          <a:ln/>
        </p:spPr>
      </p:sp>
      <p:sp>
        <p:nvSpPr>
          <p:cNvPr id="46" name="Text 44"/>
          <p:cNvSpPr/>
          <p:nvPr/>
        </p:nvSpPr>
        <p:spPr>
          <a:xfrm>
            <a:off x="10424160" y="2450592"/>
            <a:ext cx="1188720" cy="256032"/>
          </a:xfrm>
          <a:prstGeom prst="rect">
            <a:avLst/>
          </a:prstGeom>
          <a:noFill/>
          <a:ln/>
        </p:spPr>
        <p:txBody>
          <a:bodyPr wrap="square" rtlCol="0" anchor="ctr"/>
          <a:lstStyle/>
          <a:p>
            <a:pPr algn="ctr" indent="0" marL="0">
              <a:buNone/>
            </a:pPr>
            <a:r>
              <a:rPr lang="en-US" sz="750" b="1" dirty="0">
                <a:solidFill>
                  <a:srgbClr val="0F172A"/>
                </a:solidFill>
                <a:latin typeface="Calibri" pitchFamily="34" charset="0"/>
                <a:ea typeface="Calibri" pitchFamily="34" charset="-122"/>
                <a:cs typeface="Calibri" pitchFamily="34" charset="-120"/>
              </a:rPr>
              <a:t>🟡 HIGH</a:t>
            </a:r>
            <a:endParaRPr lang="en-US" sz="750" dirty="0"/>
          </a:p>
        </p:txBody>
      </p:sp>
      <p:sp>
        <p:nvSpPr>
          <p:cNvPr id="47" name="Text 45"/>
          <p:cNvSpPr/>
          <p:nvPr/>
        </p:nvSpPr>
        <p:spPr>
          <a:xfrm>
            <a:off x="6912864" y="2798064"/>
            <a:ext cx="4681728" cy="20116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KPI: 20+ influencer posts/month India  |  Owner: Brand Partnerships  |  Budget: ₹5–10Cr/yr</a:t>
            </a:r>
            <a:endParaRPr lang="en-US" sz="750" dirty="0"/>
          </a:p>
        </p:txBody>
      </p:sp>
      <p:sp>
        <p:nvSpPr>
          <p:cNvPr id="48" name="Text 46"/>
          <p:cNvSpPr/>
          <p:nvPr/>
        </p:nvSpPr>
        <p:spPr>
          <a:xfrm>
            <a:off x="6912864" y="3017520"/>
            <a:ext cx="4681728" cy="585216"/>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Partner with 10 India-based sports influencers: cricket commentators (Harsha Bhogle, Aakash Chopra), boxing fans, women's football advocates. Target reach: 50M+ combined followers. Use them to explain DAZN's content proposition in India context — 'Netflix for global sports'.</a:t>
            </a:r>
            <a:endParaRPr lang="en-US" sz="800" dirty="0"/>
          </a:p>
        </p:txBody>
      </p:sp>
      <p:sp>
        <p:nvSpPr>
          <p:cNvPr id="49" name="Shape 47"/>
          <p:cNvSpPr/>
          <p:nvPr/>
        </p:nvSpPr>
        <p:spPr>
          <a:xfrm>
            <a:off x="274320" y="3749040"/>
            <a:ext cx="5577840" cy="129844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50" name="Shape 48"/>
          <p:cNvSpPr/>
          <p:nvPr/>
        </p:nvSpPr>
        <p:spPr>
          <a:xfrm>
            <a:off x="274320" y="3749040"/>
            <a:ext cx="64008" cy="1298448"/>
          </a:xfrm>
          <a:prstGeom prst="rect">
            <a:avLst/>
          </a:prstGeom>
          <a:solidFill>
            <a:srgbClr val="EAB308"/>
          </a:solidFill>
          <a:ln/>
        </p:spPr>
      </p:sp>
      <p:sp>
        <p:nvSpPr>
          <p:cNvPr id="51" name="Shape 49"/>
          <p:cNvSpPr/>
          <p:nvPr/>
        </p:nvSpPr>
        <p:spPr>
          <a:xfrm>
            <a:off x="356616" y="3749040"/>
            <a:ext cx="658368" cy="1298448"/>
          </a:xfrm>
          <a:prstGeom prst="rect">
            <a:avLst/>
          </a:prstGeom>
          <a:solidFill>
            <a:srgbClr val="0F172A"/>
          </a:solidFill>
          <a:ln/>
        </p:spPr>
      </p:sp>
      <p:sp>
        <p:nvSpPr>
          <p:cNvPr id="52" name="Text 50"/>
          <p:cNvSpPr/>
          <p:nvPr/>
        </p:nvSpPr>
        <p:spPr>
          <a:xfrm>
            <a:off x="356616" y="3749040"/>
            <a:ext cx="658368" cy="658368"/>
          </a:xfrm>
          <a:prstGeom prst="rect">
            <a:avLst/>
          </a:prstGeom>
          <a:noFill/>
          <a:ln/>
        </p:spPr>
        <p:txBody>
          <a:bodyPr wrap="square" rtlCol="0" anchor="ctr"/>
          <a:lstStyle/>
          <a:p>
            <a:pPr algn="ctr" indent="0" marL="0">
              <a:buNone/>
            </a:pPr>
            <a:r>
              <a:rPr lang="en-US" sz="2400" b="1" dirty="0">
                <a:solidFill>
                  <a:srgbClr val="EAB308"/>
                </a:solidFill>
                <a:latin typeface="Arial Black" pitchFamily="34" charset="0"/>
                <a:ea typeface="Arial Black" pitchFamily="34" charset="-122"/>
                <a:cs typeface="Arial Black" pitchFamily="34" charset="-120"/>
              </a:rPr>
              <a:t>05</a:t>
            </a:r>
            <a:endParaRPr lang="en-US" sz="2400" dirty="0"/>
          </a:p>
        </p:txBody>
      </p:sp>
      <p:sp>
        <p:nvSpPr>
          <p:cNvPr id="53" name="Text 51"/>
          <p:cNvSpPr/>
          <p:nvPr/>
        </p:nvSpPr>
        <p:spPr>
          <a:xfrm>
            <a:off x="356616" y="4370832"/>
            <a:ext cx="658368" cy="347472"/>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30–120 days</a:t>
            </a:r>
            <a:endParaRPr lang="en-US" sz="700" dirty="0"/>
          </a:p>
        </p:txBody>
      </p:sp>
      <p:sp>
        <p:nvSpPr>
          <p:cNvPr id="54" name="Text 52"/>
          <p:cNvSpPr/>
          <p:nvPr/>
        </p:nvSpPr>
        <p:spPr>
          <a:xfrm>
            <a:off x="1060704" y="3822192"/>
            <a:ext cx="4114800" cy="32004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NSS Improvement: Content Calendar &amp; Community</a:t>
            </a:r>
            <a:endParaRPr lang="en-US" sz="1000" dirty="0"/>
          </a:p>
        </p:txBody>
      </p:sp>
      <p:sp>
        <p:nvSpPr>
          <p:cNvPr id="55" name="Shape 53"/>
          <p:cNvSpPr/>
          <p:nvPr/>
        </p:nvSpPr>
        <p:spPr>
          <a:xfrm>
            <a:off x="4572000" y="3822192"/>
            <a:ext cx="1188720" cy="256032"/>
          </a:xfrm>
          <a:prstGeom prst="rect">
            <a:avLst/>
          </a:prstGeom>
          <a:solidFill>
            <a:srgbClr val="EAB308"/>
          </a:solidFill>
          <a:ln/>
        </p:spPr>
      </p:sp>
      <p:sp>
        <p:nvSpPr>
          <p:cNvPr id="56" name="Text 54"/>
          <p:cNvSpPr/>
          <p:nvPr/>
        </p:nvSpPr>
        <p:spPr>
          <a:xfrm>
            <a:off x="4572000" y="3822192"/>
            <a:ext cx="1188720" cy="256032"/>
          </a:xfrm>
          <a:prstGeom prst="rect">
            <a:avLst/>
          </a:prstGeom>
          <a:noFill/>
          <a:ln/>
        </p:spPr>
        <p:txBody>
          <a:bodyPr wrap="square" rtlCol="0" anchor="ctr"/>
          <a:lstStyle/>
          <a:p>
            <a:pPr algn="ctr" indent="0" marL="0">
              <a:buNone/>
            </a:pPr>
            <a:r>
              <a:rPr lang="en-US" sz="750" b="1" dirty="0">
                <a:solidFill>
                  <a:srgbClr val="0F172A"/>
                </a:solidFill>
                <a:latin typeface="Calibri" pitchFamily="34" charset="0"/>
                <a:ea typeface="Calibri" pitchFamily="34" charset="-122"/>
                <a:cs typeface="Calibri" pitchFamily="34" charset="-120"/>
              </a:rPr>
              <a:t>🟡 HIGH</a:t>
            </a:r>
            <a:endParaRPr lang="en-US" sz="750" dirty="0"/>
          </a:p>
        </p:txBody>
      </p:sp>
      <p:sp>
        <p:nvSpPr>
          <p:cNvPr id="57" name="Text 55"/>
          <p:cNvSpPr/>
          <p:nvPr/>
        </p:nvSpPr>
        <p:spPr>
          <a:xfrm>
            <a:off x="1060704" y="4169664"/>
            <a:ext cx="4681728" cy="20116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KPI: NSS +10 in 6 months (10→20)  |  Owner: Content + Social Team  |  Budget: ₹2Cr content creation</a:t>
            </a:r>
            <a:endParaRPr lang="en-US" sz="750" dirty="0"/>
          </a:p>
        </p:txBody>
      </p:sp>
      <p:sp>
        <p:nvSpPr>
          <p:cNvPr id="58" name="Text 56"/>
          <p:cNvSpPr/>
          <p:nvPr/>
        </p:nvSpPr>
        <p:spPr>
          <a:xfrm>
            <a:off x="1060704" y="4389120"/>
            <a:ext cx="4681728" cy="585216"/>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Weekly content calendar: Monday NFl highlight, Wednesday boxing clip, Friday women's football feature, Weekend India sports prediction. Launch DAZN Sports India Community on WhatsApp/Telegram. Target: convert low-volume NSS (+10) into active positive brand advocacy.</a:t>
            </a:r>
            <a:endParaRPr lang="en-US" sz="800" dirty="0"/>
          </a:p>
        </p:txBody>
      </p:sp>
      <p:sp>
        <p:nvSpPr>
          <p:cNvPr id="59" name="Shape 57"/>
          <p:cNvSpPr/>
          <p:nvPr/>
        </p:nvSpPr>
        <p:spPr>
          <a:xfrm>
            <a:off x="6126480" y="3749040"/>
            <a:ext cx="5577840" cy="129844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60" name="Shape 58"/>
          <p:cNvSpPr/>
          <p:nvPr/>
        </p:nvSpPr>
        <p:spPr>
          <a:xfrm>
            <a:off x="6126480" y="3749040"/>
            <a:ext cx="64008" cy="1298448"/>
          </a:xfrm>
          <a:prstGeom prst="rect">
            <a:avLst/>
          </a:prstGeom>
          <a:solidFill>
            <a:srgbClr val="EAB308"/>
          </a:solidFill>
          <a:ln/>
        </p:spPr>
      </p:sp>
      <p:sp>
        <p:nvSpPr>
          <p:cNvPr id="61" name="Shape 59"/>
          <p:cNvSpPr/>
          <p:nvPr/>
        </p:nvSpPr>
        <p:spPr>
          <a:xfrm>
            <a:off x="6208776" y="3749040"/>
            <a:ext cx="658368" cy="1298448"/>
          </a:xfrm>
          <a:prstGeom prst="rect">
            <a:avLst/>
          </a:prstGeom>
          <a:solidFill>
            <a:srgbClr val="0F172A"/>
          </a:solidFill>
          <a:ln/>
        </p:spPr>
      </p:sp>
      <p:sp>
        <p:nvSpPr>
          <p:cNvPr id="62" name="Text 60"/>
          <p:cNvSpPr/>
          <p:nvPr/>
        </p:nvSpPr>
        <p:spPr>
          <a:xfrm>
            <a:off x="6208776" y="3749040"/>
            <a:ext cx="658368" cy="658368"/>
          </a:xfrm>
          <a:prstGeom prst="rect">
            <a:avLst/>
          </a:prstGeom>
          <a:noFill/>
          <a:ln/>
        </p:spPr>
        <p:txBody>
          <a:bodyPr wrap="square" rtlCol="0" anchor="ctr"/>
          <a:lstStyle/>
          <a:p>
            <a:pPr algn="ctr" indent="0" marL="0">
              <a:buNone/>
            </a:pPr>
            <a:r>
              <a:rPr lang="en-US" sz="2400" b="1" dirty="0">
                <a:solidFill>
                  <a:srgbClr val="EAB308"/>
                </a:solidFill>
                <a:latin typeface="Arial Black" pitchFamily="34" charset="0"/>
                <a:ea typeface="Arial Black" pitchFamily="34" charset="-122"/>
                <a:cs typeface="Arial Black" pitchFamily="34" charset="-120"/>
              </a:rPr>
              <a:t>06</a:t>
            </a:r>
            <a:endParaRPr lang="en-US" sz="2400" dirty="0"/>
          </a:p>
        </p:txBody>
      </p:sp>
      <p:sp>
        <p:nvSpPr>
          <p:cNvPr id="63" name="Text 61"/>
          <p:cNvSpPr/>
          <p:nvPr/>
        </p:nvSpPr>
        <p:spPr>
          <a:xfrm>
            <a:off x="6208776" y="4370832"/>
            <a:ext cx="658368" cy="347472"/>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60–120 days</a:t>
            </a:r>
            <a:endParaRPr lang="en-US" sz="700" dirty="0"/>
          </a:p>
        </p:txBody>
      </p:sp>
      <p:sp>
        <p:nvSpPr>
          <p:cNvPr id="64" name="Text 62"/>
          <p:cNvSpPr/>
          <p:nvPr/>
        </p:nvSpPr>
        <p:spPr>
          <a:xfrm>
            <a:off x="6912864" y="3822192"/>
            <a:ext cx="4114800" cy="32004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India Pricing Strategy Redesign</a:t>
            </a:r>
            <a:endParaRPr lang="en-US" sz="1000" dirty="0"/>
          </a:p>
        </p:txBody>
      </p:sp>
      <p:sp>
        <p:nvSpPr>
          <p:cNvPr id="65" name="Shape 63"/>
          <p:cNvSpPr/>
          <p:nvPr/>
        </p:nvSpPr>
        <p:spPr>
          <a:xfrm>
            <a:off x="10424160" y="3822192"/>
            <a:ext cx="1188720" cy="256032"/>
          </a:xfrm>
          <a:prstGeom prst="rect">
            <a:avLst/>
          </a:prstGeom>
          <a:solidFill>
            <a:srgbClr val="EAB308"/>
          </a:solidFill>
          <a:ln/>
        </p:spPr>
      </p:sp>
      <p:sp>
        <p:nvSpPr>
          <p:cNvPr id="66" name="Text 64"/>
          <p:cNvSpPr/>
          <p:nvPr/>
        </p:nvSpPr>
        <p:spPr>
          <a:xfrm>
            <a:off x="10424160" y="3822192"/>
            <a:ext cx="1188720" cy="256032"/>
          </a:xfrm>
          <a:prstGeom prst="rect">
            <a:avLst/>
          </a:prstGeom>
          <a:noFill/>
          <a:ln/>
        </p:spPr>
        <p:txBody>
          <a:bodyPr wrap="square" rtlCol="0" anchor="ctr"/>
          <a:lstStyle/>
          <a:p>
            <a:pPr algn="ctr" indent="0" marL="0">
              <a:buNone/>
            </a:pPr>
            <a:r>
              <a:rPr lang="en-US" sz="750" b="1" dirty="0">
                <a:solidFill>
                  <a:srgbClr val="0F172A"/>
                </a:solidFill>
                <a:latin typeface="Calibri" pitchFamily="34" charset="0"/>
                <a:ea typeface="Calibri" pitchFamily="34" charset="-122"/>
                <a:cs typeface="Calibri" pitchFamily="34" charset="-120"/>
              </a:rPr>
              <a:t>🟡 HIGH</a:t>
            </a:r>
            <a:endParaRPr lang="en-US" sz="750" dirty="0"/>
          </a:p>
        </p:txBody>
      </p:sp>
      <p:sp>
        <p:nvSpPr>
          <p:cNvPr id="67" name="Text 65"/>
          <p:cNvSpPr/>
          <p:nvPr/>
        </p:nvSpPr>
        <p:spPr>
          <a:xfrm>
            <a:off x="6912864" y="4169664"/>
            <a:ext cx="4681728" cy="20116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KPI: Sub conversion +50%  |  Owner: Product + Commercial  |  Budget: Revenue model change</a:t>
            </a:r>
            <a:endParaRPr lang="en-US" sz="750" dirty="0"/>
          </a:p>
        </p:txBody>
      </p:sp>
      <p:sp>
        <p:nvSpPr>
          <p:cNvPr id="68" name="Text 66"/>
          <p:cNvSpPr/>
          <p:nvPr/>
        </p:nvSpPr>
        <p:spPr>
          <a:xfrm>
            <a:off x="6912864" y="4389120"/>
            <a:ext cx="4681728" cy="585216"/>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Research shows India's willingness to pay for OTT is ~₹300/month max (Van Westendorp study). Launch: DAZN Lite (₹99/mo mobile), DAZN Sports (₹299/mo), DAZN Premium (₹499/mo with exclusive PPV access). Free tier with women's football + NFL weekly game as acquisition funnel.</a:t>
            </a:r>
            <a:endParaRPr lang="en-US" sz="800" dirty="0"/>
          </a:p>
        </p:txBody>
      </p:sp>
      <p:sp>
        <p:nvSpPr>
          <p:cNvPr id="69" name="Shape 67"/>
          <p:cNvSpPr/>
          <p:nvPr/>
        </p:nvSpPr>
        <p:spPr>
          <a:xfrm>
            <a:off x="274320" y="5120640"/>
            <a:ext cx="5577840" cy="129844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70" name="Shape 68"/>
          <p:cNvSpPr/>
          <p:nvPr/>
        </p:nvSpPr>
        <p:spPr>
          <a:xfrm>
            <a:off x="274320" y="5120640"/>
            <a:ext cx="64008" cy="1298448"/>
          </a:xfrm>
          <a:prstGeom prst="rect">
            <a:avLst/>
          </a:prstGeom>
          <a:solidFill>
            <a:srgbClr val="F59E0B"/>
          </a:solidFill>
          <a:ln/>
        </p:spPr>
      </p:sp>
      <p:sp>
        <p:nvSpPr>
          <p:cNvPr id="71" name="Shape 69"/>
          <p:cNvSpPr/>
          <p:nvPr/>
        </p:nvSpPr>
        <p:spPr>
          <a:xfrm>
            <a:off x="356616" y="5120640"/>
            <a:ext cx="658368" cy="1298448"/>
          </a:xfrm>
          <a:prstGeom prst="rect">
            <a:avLst/>
          </a:prstGeom>
          <a:solidFill>
            <a:srgbClr val="0F172A"/>
          </a:solidFill>
          <a:ln/>
        </p:spPr>
      </p:sp>
      <p:sp>
        <p:nvSpPr>
          <p:cNvPr id="72" name="Text 70"/>
          <p:cNvSpPr/>
          <p:nvPr/>
        </p:nvSpPr>
        <p:spPr>
          <a:xfrm>
            <a:off x="356616" y="5120640"/>
            <a:ext cx="658368" cy="658368"/>
          </a:xfrm>
          <a:prstGeom prst="rect">
            <a:avLst/>
          </a:prstGeom>
          <a:noFill/>
          <a:ln/>
        </p:spPr>
        <p:txBody>
          <a:bodyPr wrap="square" rtlCol="0" anchor="ctr"/>
          <a:lstStyle/>
          <a:p>
            <a:pPr algn="ctr" indent="0" marL="0">
              <a:buNone/>
            </a:pPr>
            <a:r>
              <a:rPr lang="en-US" sz="2400" b="1" dirty="0">
                <a:solidFill>
                  <a:srgbClr val="F59E0B"/>
                </a:solidFill>
                <a:latin typeface="Arial Black" pitchFamily="34" charset="0"/>
                <a:ea typeface="Arial Black" pitchFamily="34" charset="-122"/>
                <a:cs typeface="Arial Black" pitchFamily="34" charset="-120"/>
              </a:rPr>
              <a:t>07</a:t>
            </a:r>
            <a:endParaRPr lang="en-US" sz="2400" dirty="0"/>
          </a:p>
        </p:txBody>
      </p:sp>
      <p:sp>
        <p:nvSpPr>
          <p:cNvPr id="73" name="Text 71"/>
          <p:cNvSpPr/>
          <p:nvPr/>
        </p:nvSpPr>
        <p:spPr>
          <a:xfrm>
            <a:off x="356616" y="5742432"/>
            <a:ext cx="658368" cy="347472"/>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90–180 days</a:t>
            </a:r>
            <a:endParaRPr lang="en-US" sz="700" dirty="0"/>
          </a:p>
        </p:txBody>
      </p:sp>
      <p:sp>
        <p:nvSpPr>
          <p:cNvPr id="74" name="Text 72"/>
          <p:cNvSpPr/>
          <p:nvPr/>
        </p:nvSpPr>
        <p:spPr>
          <a:xfrm>
            <a:off x="1060704" y="5193792"/>
            <a:ext cx="4114800" cy="32004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Cricket Adjacent Content Strategy</a:t>
            </a:r>
            <a:endParaRPr lang="en-US" sz="1000" dirty="0"/>
          </a:p>
        </p:txBody>
      </p:sp>
      <p:sp>
        <p:nvSpPr>
          <p:cNvPr id="75" name="Shape 73"/>
          <p:cNvSpPr/>
          <p:nvPr/>
        </p:nvSpPr>
        <p:spPr>
          <a:xfrm>
            <a:off x="4572000" y="5193792"/>
            <a:ext cx="1188720" cy="256032"/>
          </a:xfrm>
          <a:prstGeom prst="rect">
            <a:avLst/>
          </a:prstGeom>
          <a:solidFill>
            <a:srgbClr val="F59E0B"/>
          </a:solidFill>
          <a:ln/>
        </p:spPr>
      </p:sp>
      <p:sp>
        <p:nvSpPr>
          <p:cNvPr id="76" name="Text 74"/>
          <p:cNvSpPr/>
          <p:nvPr/>
        </p:nvSpPr>
        <p:spPr>
          <a:xfrm>
            <a:off x="4572000" y="5193792"/>
            <a:ext cx="1188720" cy="256032"/>
          </a:xfrm>
          <a:prstGeom prst="rect">
            <a:avLst/>
          </a:prstGeom>
          <a:noFill/>
          <a:ln/>
        </p:spPr>
        <p:txBody>
          <a:bodyPr wrap="square" rtlCol="0" anchor="ctr"/>
          <a:lstStyle/>
          <a:p>
            <a:pPr algn="ctr" indent="0" marL="0">
              <a:buNone/>
            </a:pPr>
            <a:r>
              <a:rPr lang="en-US" sz="750" b="1" dirty="0">
                <a:solidFill>
                  <a:srgbClr val="0F172A"/>
                </a:solidFill>
                <a:latin typeface="Calibri" pitchFamily="34" charset="0"/>
                <a:ea typeface="Calibri" pitchFamily="34" charset="-122"/>
                <a:cs typeface="Calibri" pitchFamily="34" charset="-120"/>
              </a:rPr>
              <a:t>🟠 MEDIUM</a:t>
            </a:r>
            <a:endParaRPr lang="en-US" sz="750" dirty="0"/>
          </a:p>
        </p:txBody>
      </p:sp>
      <p:sp>
        <p:nvSpPr>
          <p:cNvPr id="77" name="Text 75"/>
          <p:cNvSpPr/>
          <p:nvPr/>
        </p:nvSpPr>
        <p:spPr>
          <a:xfrm>
            <a:off x="1060704" y="5541264"/>
            <a:ext cx="4681728" cy="20116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KPI: Cricket audience acquisition  |  Owner: Content &amp; Rights Team  |  Budget: ₹10–20Cr rights acquisition</a:t>
            </a:r>
            <a:endParaRPr lang="en-US" sz="750" dirty="0"/>
          </a:p>
        </p:txBody>
      </p:sp>
      <p:sp>
        <p:nvSpPr>
          <p:cNvPr id="78" name="Text 76"/>
          <p:cNvSpPr/>
          <p:nvPr/>
        </p:nvSpPr>
        <p:spPr>
          <a:xfrm>
            <a:off x="1060704" y="5760720"/>
            <a:ext cx="4681728" cy="585216"/>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Phase 1: Produce cricket analysis shows, expert commentary, stats content — no rights needed. Phase 2: Acquire Ranji Trophy / State association streaming rights (~₹5–10Cr). Phase 3: Women's IPL rights bid. Cricket drives 70% of Indian sports viewership — some cricket presence is non-negotiable.</a:t>
            </a:r>
            <a:endParaRPr lang="en-US" sz="800" dirty="0"/>
          </a:p>
        </p:txBody>
      </p:sp>
      <p:sp>
        <p:nvSpPr>
          <p:cNvPr id="79" name="Shape 77"/>
          <p:cNvSpPr/>
          <p:nvPr/>
        </p:nvSpPr>
        <p:spPr>
          <a:xfrm>
            <a:off x="6126480" y="5120640"/>
            <a:ext cx="5577840" cy="1298448"/>
          </a:xfrm>
          <a:prstGeom prst="rect">
            <a:avLst/>
          </a:prstGeom>
          <a:solidFill>
            <a:srgbClr val="FFFFFF"/>
          </a:solidFill>
          <a:ln/>
          <a:effectLst>
            <a:outerShdw sx="100000" sy="100000" kx="0" ky="0" algn="bl" rotWithShape="0" blurRad="76200" dist="25400" dir="8100000">
              <a:srgbClr val="000000">
                <a:alpha val="14000"/>
              </a:srgbClr>
            </a:outerShdw>
          </a:effectLst>
        </p:spPr>
      </p:sp>
      <p:sp>
        <p:nvSpPr>
          <p:cNvPr id="80" name="Shape 78"/>
          <p:cNvSpPr/>
          <p:nvPr/>
        </p:nvSpPr>
        <p:spPr>
          <a:xfrm>
            <a:off x="6126480" y="5120640"/>
            <a:ext cx="64008" cy="1298448"/>
          </a:xfrm>
          <a:prstGeom prst="rect">
            <a:avLst/>
          </a:prstGeom>
          <a:solidFill>
            <a:srgbClr val="F59E0B"/>
          </a:solidFill>
          <a:ln/>
        </p:spPr>
      </p:sp>
      <p:sp>
        <p:nvSpPr>
          <p:cNvPr id="81" name="Shape 79"/>
          <p:cNvSpPr/>
          <p:nvPr/>
        </p:nvSpPr>
        <p:spPr>
          <a:xfrm>
            <a:off x="6208776" y="5120640"/>
            <a:ext cx="658368" cy="1298448"/>
          </a:xfrm>
          <a:prstGeom prst="rect">
            <a:avLst/>
          </a:prstGeom>
          <a:solidFill>
            <a:srgbClr val="0F172A"/>
          </a:solidFill>
          <a:ln/>
        </p:spPr>
      </p:sp>
      <p:sp>
        <p:nvSpPr>
          <p:cNvPr id="82" name="Text 80"/>
          <p:cNvSpPr/>
          <p:nvPr/>
        </p:nvSpPr>
        <p:spPr>
          <a:xfrm>
            <a:off x="6208776" y="5120640"/>
            <a:ext cx="658368" cy="658368"/>
          </a:xfrm>
          <a:prstGeom prst="rect">
            <a:avLst/>
          </a:prstGeom>
          <a:noFill/>
          <a:ln/>
        </p:spPr>
        <p:txBody>
          <a:bodyPr wrap="square" rtlCol="0" anchor="ctr"/>
          <a:lstStyle/>
          <a:p>
            <a:pPr algn="ctr" indent="0" marL="0">
              <a:buNone/>
            </a:pPr>
            <a:r>
              <a:rPr lang="en-US" sz="2400" b="1" dirty="0">
                <a:solidFill>
                  <a:srgbClr val="F59E0B"/>
                </a:solidFill>
                <a:latin typeface="Arial Black" pitchFamily="34" charset="0"/>
                <a:ea typeface="Arial Black" pitchFamily="34" charset="-122"/>
                <a:cs typeface="Arial Black" pitchFamily="34" charset="-120"/>
              </a:rPr>
              <a:t>08</a:t>
            </a:r>
            <a:endParaRPr lang="en-US" sz="2400" dirty="0"/>
          </a:p>
        </p:txBody>
      </p:sp>
      <p:sp>
        <p:nvSpPr>
          <p:cNvPr id="83" name="Text 81"/>
          <p:cNvSpPr/>
          <p:nvPr/>
        </p:nvSpPr>
        <p:spPr>
          <a:xfrm>
            <a:off x="6208776" y="5742432"/>
            <a:ext cx="658368" cy="347472"/>
          </a:xfrm>
          <a:prstGeom prst="rect">
            <a:avLst/>
          </a:prstGeom>
          <a:noFill/>
          <a:ln/>
        </p:spPr>
        <p:txBody>
          <a:bodyPr wrap="square" rtlCol="0" anchor="ctr"/>
          <a:lstStyle/>
          <a:p>
            <a:pPr algn="ctr" indent="0" marL="0">
              <a:buNone/>
            </a:pPr>
            <a:r>
              <a:rPr lang="en-US" sz="700" dirty="0">
                <a:solidFill>
                  <a:srgbClr val="94A3B8"/>
                </a:solidFill>
                <a:latin typeface="Calibri" pitchFamily="34" charset="0"/>
                <a:ea typeface="Calibri" pitchFamily="34" charset="-122"/>
                <a:cs typeface="Calibri" pitchFamily="34" charset="-120"/>
              </a:rPr>
              <a:t>90–180 days</a:t>
            </a:r>
            <a:endParaRPr lang="en-US" sz="700" dirty="0"/>
          </a:p>
        </p:txBody>
      </p:sp>
      <p:sp>
        <p:nvSpPr>
          <p:cNvPr id="84" name="Text 82"/>
          <p:cNvSpPr/>
          <p:nvPr/>
        </p:nvSpPr>
        <p:spPr>
          <a:xfrm>
            <a:off x="6912864" y="5193792"/>
            <a:ext cx="4114800" cy="320040"/>
          </a:xfrm>
          <a:prstGeom prst="rect">
            <a:avLst/>
          </a:prstGeom>
          <a:noFill/>
          <a:ln/>
        </p:spPr>
        <p:txBody>
          <a:bodyPr wrap="square"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Telco Bundle Negotiations</a:t>
            </a:r>
            <a:endParaRPr lang="en-US" sz="1000" dirty="0"/>
          </a:p>
        </p:txBody>
      </p:sp>
      <p:sp>
        <p:nvSpPr>
          <p:cNvPr id="85" name="Shape 83"/>
          <p:cNvSpPr/>
          <p:nvPr/>
        </p:nvSpPr>
        <p:spPr>
          <a:xfrm>
            <a:off x="10424160" y="5193792"/>
            <a:ext cx="1188720" cy="256032"/>
          </a:xfrm>
          <a:prstGeom prst="rect">
            <a:avLst/>
          </a:prstGeom>
          <a:solidFill>
            <a:srgbClr val="F59E0B"/>
          </a:solidFill>
          <a:ln/>
        </p:spPr>
      </p:sp>
      <p:sp>
        <p:nvSpPr>
          <p:cNvPr id="86" name="Text 84"/>
          <p:cNvSpPr/>
          <p:nvPr/>
        </p:nvSpPr>
        <p:spPr>
          <a:xfrm>
            <a:off x="10424160" y="5193792"/>
            <a:ext cx="1188720" cy="256032"/>
          </a:xfrm>
          <a:prstGeom prst="rect">
            <a:avLst/>
          </a:prstGeom>
          <a:noFill/>
          <a:ln/>
        </p:spPr>
        <p:txBody>
          <a:bodyPr wrap="square" rtlCol="0" anchor="ctr"/>
          <a:lstStyle/>
          <a:p>
            <a:pPr algn="ctr" indent="0" marL="0">
              <a:buNone/>
            </a:pPr>
            <a:r>
              <a:rPr lang="en-US" sz="750" b="1" dirty="0">
                <a:solidFill>
                  <a:srgbClr val="0F172A"/>
                </a:solidFill>
                <a:latin typeface="Calibri" pitchFamily="34" charset="0"/>
                <a:ea typeface="Calibri" pitchFamily="34" charset="-122"/>
                <a:cs typeface="Calibri" pitchFamily="34" charset="-120"/>
              </a:rPr>
              <a:t>🟠 MEDIUM</a:t>
            </a:r>
            <a:endParaRPr lang="en-US" sz="750" dirty="0"/>
          </a:p>
        </p:txBody>
      </p:sp>
      <p:sp>
        <p:nvSpPr>
          <p:cNvPr id="87" name="Text 85"/>
          <p:cNvSpPr/>
          <p:nvPr/>
        </p:nvSpPr>
        <p:spPr>
          <a:xfrm>
            <a:off x="6912864" y="5541264"/>
            <a:ext cx="4681728" cy="201168"/>
          </a:xfrm>
          <a:prstGeom prst="rect">
            <a:avLst/>
          </a:prstGeom>
          <a:noFill/>
          <a:ln/>
        </p:spPr>
        <p:txBody>
          <a:bodyPr wrap="square" rtlCol="0" anchor="ctr"/>
          <a:lstStyle/>
          <a:p>
            <a:pPr indent="0" marL="0">
              <a:buNone/>
            </a:pPr>
            <a:r>
              <a:rPr lang="en-US" sz="750" dirty="0">
                <a:solidFill>
                  <a:srgbClr val="64748B"/>
                </a:solidFill>
                <a:latin typeface="Calibri" pitchFamily="34" charset="0"/>
                <a:ea typeface="Calibri" pitchFamily="34" charset="-122"/>
                <a:cs typeface="Calibri" pitchFamily="34" charset="-120"/>
              </a:rPr>
              <a:t>KPI: Bundle with 1 major telco  |  Owner: Business Development  |  Budget: Revenue sharing deal</a:t>
            </a:r>
            <a:endParaRPr lang="en-US" sz="750" dirty="0"/>
          </a:p>
        </p:txBody>
      </p:sp>
      <p:sp>
        <p:nvSpPr>
          <p:cNvPr id="88" name="Text 86"/>
          <p:cNvSpPr/>
          <p:nvPr/>
        </p:nvSpPr>
        <p:spPr>
          <a:xfrm>
            <a:off x="6912864" y="5760720"/>
            <a:ext cx="4681728" cy="585216"/>
          </a:xfrm>
          <a:prstGeom prst="rect">
            <a:avLst/>
          </a:prstGeom>
          <a:noFill/>
          <a:ln/>
        </p:spPr>
        <p:txBody>
          <a:bodyPr wrap="square" rtlCol="0" anchor="ctr"/>
          <a:lstStyle/>
          <a:p>
            <a:pPr indent="0" marL="0">
              <a:buNone/>
            </a:pPr>
            <a:r>
              <a:rPr lang="en-US" sz="800" dirty="0">
                <a:solidFill>
                  <a:srgbClr val="334155"/>
                </a:solidFill>
                <a:latin typeface="Calibri" pitchFamily="34" charset="0"/>
                <a:ea typeface="Calibri" pitchFamily="34" charset="-122"/>
                <a:cs typeface="Calibri" pitchFamily="34" charset="-120"/>
              </a:rPr>
              <a:t>Replicate JioHotstar's playbook: bundle DAZN with Airtel or Vi. Free 3-month DAZN trial with prepaid recharges. Airtel has 350M+ subscribers. Even 1% conversion = 3.5M users. This is the fastest path to subscriber scale in India at lowest acquisition cost.</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61520" cy="109728"/>
          </a:xfrm>
          <a:prstGeom prst="rect">
            <a:avLst/>
          </a:prstGeom>
          <a:solidFill>
            <a:srgbClr val="F7D447"/>
          </a:solidFill>
          <a:ln/>
        </p:spPr>
      </p:sp>
      <p:sp>
        <p:nvSpPr>
          <p:cNvPr id="3" name="Shape 1"/>
          <p:cNvSpPr/>
          <p:nvPr/>
        </p:nvSpPr>
        <p:spPr>
          <a:xfrm>
            <a:off x="0" y="6748272"/>
            <a:ext cx="12161520" cy="109728"/>
          </a:xfrm>
          <a:prstGeom prst="rect">
            <a:avLst/>
          </a:prstGeom>
          <a:solidFill>
            <a:srgbClr val="F7D447"/>
          </a:solidFill>
          <a:ln/>
        </p:spPr>
      </p:sp>
      <p:sp>
        <p:nvSpPr>
          <p:cNvPr id="4" name="Text 2"/>
          <p:cNvSpPr/>
          <p:nvPr/>
        </p:nvSpPr>
        <p:spPr>
          <a:xfrm>
            <a:off x="1371600" y="457200"/>
            <a:ext cx="9418320" cy="1371600"/>
          </a:xfrm>
          <a:prstGeom prst="rect">
            <a:avLst/>
          </a:prstGeom>
          <a:noFill/>
          <a:ln/>
        </p:spPr>
        <p:txBody>
          <a:bodyPr wrap="square" rtlCol="0" anchor="ctr"/>
          <a:lstStyle/>
          <a:p>
            <a:pPr algn="ctr" indent="0" marL="0">
              <a:buNone/>
            </a:pPr>
            <a:r>
              <a:rPr lang="en-US" sz="7000" b="1" dirty="0">
                <a:solidFill>
                  <a:srgbClr val="F7D447"/>
                </a:solidFill>
                <a:latin typeface="Arial Black" pitchFamily="34" charset="0"/>
                <a:ea typeface="Arial Black" pitchFamily="34" charset="-122"/>
                <a:cs typeface="Arial Black" pitchFamily="34" charset="-120"/>
              </a:rPr>
              <a:t>DAZN INDIA</a:t>
            </a:r>
            <a:endParaRPr lang="en-US" sz="7000" dirty="0"/>
          </a:p>
        </p:txBody>
      </p:sp>
      <p:sp>
        <p:nvSpPr>
          <p:cNvPr id="5" name="Text 3"/>
          <p:cNvSpPr/>
          <p:nvPr/>
        </p:nvSpPr>
        <p:spPr>
          <a:xfrm>
            <a:off x="1371600" y="1828800"/>
            <a:ext cx="9418320" cy="566928"/>
          </a:xfrm>
          <a:prstGeom prst="rect">
            <a:avLst/>
          </a:prstGeom>
          <a:noFill/>
          <a:ln/>
        </p:spPr>
        <p:txBody>
          <a:bodyPr wrap="square" rtlCol="0" anchor="ctr"/>
          <a:lstStyle/>
          <a:p>
            <a:pPr algn="ctr" indent="0" marL="0">
              <a:buNone/>
            </a:pPr>
            <a:r>
              <a:rPr lang="en-US" sz="2200" b="1" spc="200" kern="0" dirty="0">
                <a:solidFill>
                  <a:srgbClr val="FFFFFF"/>
                </a:solidFill>
                <a:latin typeface="Calibri" pitchFamily="34" charset="0"/>
                <a:ea typeface="Calibri" pitchFamily="34" charset="-122"/>
                <a:cs typeface="Calibri" pitchFamily="34" charset="-120"/>
              </a:rPr>
              <a:t>THE BRAND REPUTATION WORK STARTS NOW.</a:t>
            </a:r>
            <a:endParaRPr lang="en-US" sz="2200" dirty="0"/>
          </a:p>
        </p:txBody>
      </p:sp>
      <p:sp>
        <p:nvSpPr>
          <p:cNvPr id="6" name="Shape 4"/>
          <p:cNvSpPr/>
          <p:nvPr/>
        </p:nvSpPr>
        <p:spPr>
          <a:xfrm>
            <a:off x="2743200" y="2542032"/>
            <a:ext cx="6675120" cy="36576"/>
          </a:xfrm>
          <a:prstGeom prst="rect">
            <a:avLst/>
          </a:prstGeom>
          <a:solidFill>
            <a:srgbClr val="F7D447"/>
          </a:solidFill>
          <a:ln/>
        </p:spPr>
      </p:sp>
      <p:sp>
        <p:nvSpPr>
          <p:cNvPr id="7" name="Shape 5"/>
          <p:cNvSpPr/>
          <p:nvPr/>
        </p:nvSpPr>
        <p:spPr>
          <a:xfrm>
            <a:off x="731520" y="2743200"/>
            <a:ext cx="2286000" cy="1371600"/>
          </a:xfrm>
          <a:prstGeom prst="rect">
            <a:avLst/>
          </a:prstGeom>
          <a:solidFill>
            <a:srgbClr val="1E293B"/>
          </a:solidFill>
          <a:ln/>
          <a:effectLst>
            <a:outerShdw sx="100000" sy="100000" kx="0" ky="0" algn="bl" rotWithShape="0" blurRad="76200" dist="25400" dir="8100000">
              <a:srgbClr val="000000">
                <a:alpha val="14000"/>
              </a:srgbClr>
            </a:outerShdw>
          </a:effectLst>
        </p:spPr>
      </p:sp>
      <p:sp>
        <p:nvSpPr>
          <p:cNvPr id="8" name="Shape 6"/>
          <p:cNvSpPr/>
          <p:nvPr/>
        </p:nvSpPr>
        <p:spPr>
          <a:xfrm>
            <a:off x="731520" y="2743200"/>
            <a:ext cx="2286000" cy="64008"/>
          </a:xfrm>
          <a:prstGeom prst="rect">
            <a:avLst/>
          </a:prstGeom>
          <a:solidFill>
            <a:srgbClr val="F7D447"/>
          </a:solidFill>
          <a:ln/>
        </p:spPr>
      </p:sp>
      <p:sp>
        <p:nvSpPr>
          <p:cNvPr id="9" name="Text 7"/>
          <p:cNvSpPr/>
          <p:nvPr/>
        </p:nvSpPr>
        <p:spPr>
          <a:xfrm>
            <a:off x="731520" y="2834640"/>
            <a:ext cx="2286000" cy="640080"/>
          </a:xfrm>
          <a:prstGeom prst="rect">
            <a:avLst/>
          </a:prstGeom>
          <a:noFill/>
          <a:ln/>
        </p:spPr>
        <p:txBody>
          <a:bodyPr wrap="square" rtlCol="0" anchor="ctr"/>
          <a:lstStyle/>
          <a:p>
            <a:pPr algn="ctr" indent="0" marL="0">
              <a:buNone/>
            </a:pPr>
            <a:r>
              <a:rPr lang="en-US" sz="2400" b="1" dirty="0">
                <a:solidFill>
                  <a:srgbClr val="F7D447"/>
                </a:solidFill>
                <a:latin typeface="Arial Black" pitchFamily="34" charset="0"/>
                <a:ea typeface="Arial Black" pitchFamily="34" charset="-122"/>
                <a:cs typeface="Arial Black" pitchFamily="34" charset="-120"/>
              </a:rPr>
              <a:t>📱 64x</a:t>
            </a:r>
            <a:endParaRPr lang="en-US" sz="2400" dirty="0"/>
          </a:p>
        </p:txBody>
      </p:sp>
      <p:sp>
        <p:nvSpPr>
          <p:cNvPr id="10" name="Text 8"/>
          <p:cNvSpPr/>
          <p:nvPr/>
        </p:nvSpPr>
        <p:spPr>
          <a:xfrm>
            <a:off x="777240" y="3456432"/>
            <a:ext cx="2194560" cy="59436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Social gap vs Netflix India</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(218K vs 14M Instagram)</a:t>
            </a:r>
            <a:endParaRPr lang="en-US" sz="950" dirty="0"/>
          </a:p>
        </p:txBody>
      </p:sp>
      <p:sp>
        <p:nvSpPr>
          <p:cNvPr id="11" name="Shape 9"/>
          <p:cNvSpPr/>
          <p:nvPr/>
        </p:nvSpPr>
        <p:spPr>
          <a:xfrm>
            <a:off x="3474720" y="2743200"/>
            <a:ext cx="2286000" cy="1371600"/>
          </a:xfrm>
          <a:prstGeom prst="rect">
            <a:avLst/>
          </a:prstGeom>
          <a:solidFill>
            <a:srgbClr val="1E293B"/>
          </a:solidFill>
          <a:ln/>
          <a:effectLst>
            <a:outerShdw sx="100000" sy="100000" kx="0" ky="0" algn="bl" rotWithShape="0" blurRad="76200" dist="25400" dir="8100000">
              <a:srgbClr val="000000">
                <a:alpha val="14000"/>
              </a:srgbClr>
            </a:outerShdw>
          </a:effectLst>
        </p:spPr>
      </p:sp>
      <p:sp>
        <p:nvSpPr>
          <p:cNvPr id="12" name="Shape 10"/>
          <p:cNvSpPr/>
          <p:nvPr/>
        </p:nvSpPr>
        <p:spPr>
          <a:xfrm>
            <a:off x="3474720" y="2743200"/>
            <a:ext cx="2286000" cy="64008"/>
          </a:xfrm>
          <a:prstGeom prst="rect">
            <a:avLst/>
          </a:prstGeom>
          <a:solidFill>
            <a:srgbClr val="F7D447"/>
          </a:solidFill>
          <a:ln/>
        </p:spPr>
      </p:sp>
      <p:sp>
        <p:nvSpPr>
          <p:cNvPr id="13" name="Text 11"/>
          <p:cNvSpPr/>
          <p:nvPr/>
        </p:nvSpPr>
        <p:spPr>
          <a:xfrm>
            <a:off x="3474720" y="2834640"/>
            <a:ext cx="2286000" cy="640080"/>
          </a:xfrm>
          <a:prstGeom prst="rect">
            <a:avLst/>
          </a:prstGeom>
          <a:noFill/>
          <a:ln/>
        </p:spPr>
        <p:txBody>
          <a:bodyPr wrap="square" rtlCol="0" anchor="ctr"/>
          <a:lstStyle/>
          <a:p>
            <a:pPr algn="ctr" indent="0" marL="0">
              <a:buNone/>
            </a:pPr>
            <a:r>
              <a:rPr lang="en-US" sz="2400" b="1" dirty="0">
                <a:solidFill>
                  <a:srgbClr val="F7D447"/>
                </a:solidFill>
                <a:latin typeface="Arial Black" pitchFamily="34" charset="0"/>
                <a:ea typeface="Arial Black" pitchFamily="34" charset="-122"/>
                <a:cs typeface="Arial Black" pitchFamily="34" charset="-120"/>
              </a:rPr>
              <a:t>📊 +10</a:t>
            </a:r>
            <a:endParaRPr lang="en-US" sz="2400" dirty="0"/>
          </a:p>
        </p:txBody>
      </p:sp>
      <p:sp>
        <p:nvSpPr>
          <p:cNvPr id="14" name="Text 12"/>
          <p:cNvSpPr/>
          <p:nvPr/>
        </p:nvSpPr>
        <p:spPr>
          <a:xfrm>
            <a:off x="3520440" y="3456432"/>
            <a:ext cx="2194560" cy="59436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DAZN Global NPS proxy</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vs Netflix India +59</a:t>
            </a:r>
            <a:endParaRPr lang="en-US" sz="950" dirty="0"/>
          </a:p>
        </p:txBody>
      </p:sp>
      <p:sp>
        <p:nvSpPr>
          <p:cNvPr id="15" name="Shape 13"/>
          <p:cNvSpPr/>
          <p:nvPr/>
        </p:nvSpPr>
        <p:spPr>
          <a:xfrm>
            <a:off x="6217920" y="2743200"/>
            <a:ext cx="2286000" cy="1371600"/>
          </a:xfrm>
          <a:prstGeom prst="rect">
            <a:avLst/>
          </a:prstGeom>
          <a:solidFill>
            <a:srgbClr val="1E293B"/>
          </a:solidFill>
          <a:ln/>
          <a:effectLst>
            <a:outerShdw sx="100000" sy="100000" kx="0" ky="0" algn="bl" rotWithShape="0" blurRad="76200" dist="25400" dir="8100000">
              <a:srgbClr val="000000">
                <a:alpha val="14000"/>
              </a:srgbClr>
            </a:outerShdw>
          </a:effectLst>
        </p:spPr>
      </p:sp>
      <p:sp>
        <p:nvSpPr>
          <p:cNvPr id="16" name="Shape 14"/>
          <p:cNvSpPr/>
          <p:nvPr/>
        </p:nvSpPr>
        <p:spPr>
          <a:xfrm>
            <a:off x="6217920" y="2743200"/>
            <a:ext cx="2286000" cy="64008"/>
          </a:xfrm>
          <a:prstGeom prst="rect">
            <a:avLst/>
          </a:prstGeom>
          <a:solidFill>
            <a:srgbClr val="F7D447"/>
          </a:solidFill>
          <a:ln/>
        </p:spPr>
      </p:sp>
      <p:sp>
        <p:nvSpPr>
          <p:cNvPr id="17" name="Text 15"/>
          <p:cNvSpPr/>
          <p:nvPr/>
        </p:nvSpPr>
        <p:spPr>
          <a:xfrm>
            <a:off x="6217920" y="2834640"/>
            <a:ext cx="2286000" cy="640080"/>
          </a:xfrm>
          <a:prstGeom prst="rect">
            <a:avLst/>
          </a:prstGeom>
          <a:noFill/>
          <a:ln/>
        </p:spPr>
        <p:txBody>
          <a:bodyPr wrap="square" rtlCol="0" anchor="ctr"/>
          <a:lstStyle/>
          <a:p>
            <a:pPr algn="ctr" indent="0" marL="0">
              <a:buNone/>
            </a:pPr>
            <a:r>
              <a:rPr lang="en-US" sz="2400" b="1" dirty="0">
                <a:solidFill>
                  <a:srgbClr val="F7D447"/>
                </a:solidFill>
                <a:latin typeface="Arial Black" pitchFamily="34" charset="0"/>
                <a:ea typeface="Arial Black" pitchFamily="34" charset="-122"/>
                <a:cs typeface="Arial Black" pitchFamily="34" charset="-120"/>
              </a:rPr>
              <a:t>🎯 3</a:t>
            </a:r>
            <a:endParaRPr lang="en-US" sz="2400" dirty="0"/>
          </a:p>
        </p:txBody>
      </p:sp>
      <p:sp>
        <p:nvSpPr>
          <p:cNvPr id="18" name="Text 16"/>
          <p:cNvSpPr/>
          <p:nvPr/>
        </p:nvSpPr>
        <p:spPr>
          <a:xfrm>
            <a:off x="6263640" y="3456432"/>
            <a:ext cx="2194560" cy="59436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Critical actions needed</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in next 30 days</a:t>
            </a:r>
            <a:endParaRPr lang="en-US" sz="950" dirty="0"/>
          </a:p>
        </p:txBody>
      </p:sp>
      <p:sp>
        <p:nvSpPr>
          <p:cNvPr id="19" name="Shape 17"/>
          <p:cNvSpPr/>
          <p:nvPr/>
        </p:nvSpPr>
        <p:spPr>
          <a:xfrm>
            <a:off x="8961120" y="2743200"/>
            <a:ext cx="2286000" cy="1371600"/>
          </a:xfrm>
          <a:prstGeom prst="rect">
            <a:avLst/>
          </a:prstGeom>
          <a:solidFill>
            <a:srgbClr val="1E293B"/>
          </a:solidFill>
          <a:ln/>
          <a:effectLst>
            <a:outerShdw sx="100000" sy="100000" kx="0" ky="0" algn="bl" rotWithShape="0" blurRad="76200" dist="25400" dir="8100000">
              <a:srgbClr val="000000">
                <a:alpha val="14000"/>
              </a:srgbClr>
            </a:outerShdw>
          </a:effectLst>
        </p:spPr>
      </p:sp>
      <p:sp>
        <p:nvSpPr>
          <p:cNvPr id="20" name="Shape 18"/>
          <p:cNvSpPr/>
          <p:nvPr/>
        </p:nvSpPr>
        <p:spPr>
          <a:xfrm>
            <a:off x="8961120" y="2743200"/>
            <a:ext cx="2286000" cy="64008"/>
          </a:xfrm>
          <a:prstGeom prst="rect">
            <a:avLst/>
          </a:prstGeom>
          <a:solidFill>
            <a:srgbClr val="F7D447"/>
          </a:solidFill>
          <a:ln/>
        </p:spPr>
      </p:sp>
      <p:sp>
        <p:nvSpPr>
          <p:cNvPr id="21" name="Text 19"/>
          <p:cNvSpPr/>
          <p:nvPr/>
        </p:nvSpPr>
        <p:spPr>
          <a:xfrm>
            <a:off x="8961120" y="2834640"/>
            <a:ext cx="2286000" cy="640080"/>
          </a:xfrm>
          <a:prstGeom prst="rect">
            <a:avLst/>
          </a:prstGeom>
          <a:noFill/>
          <a:ln/>
        </p:spPr>
        <p:txBody>
          <a:bodyPr wrap="square" rtlCol="0" anchor="ctr"/>
          <a:lstStyle/>
          <a:p>
            <a:pPr algn="ctr" indent="0" marL="0">
              <a:buNone/>
            </a:pPr>
            <a:r>
              <a:rPr lang="en-US" sz="2400" b="1" dirty="0">
                <a:solidFill>
                  <a:srgbClr val="F7D447"/>
                </a:solidFill>
                <a:latin typeface="Arial Black" pitchFamily="34" charset="0"/>
                <a:ea typeface="Arial Black" pitchFamily="34" charset="-122"/>
                <a:cs typeface="Arial Black" pitchFamily="34" charset="-120"/>
              </a:rPr>
              <a:t>🇮🇳 ₹291Cr</a:t>
            </a:r>
            <a:endParaRPr lang="en-US" sz="2400" dirty="0"/>
          </a:p>
        </p:txBody>
      </p:sp>
      <p:sp>
        <p:nvSpPr>
          <p:cNvPr id="22" name="Text 20"/>
          <p:cNvSpPr/>
          <p:nvPr/>
        </p:nvSpPr>
        <p:spPr>
          <a:xfrm>
            <a:off x="9006840" y="3456432"/>
            <a:ext cx="2194560" cy="594360"/>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DAZN India FY25 revenue</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78% CAGR — platform exists</a:t>
            </a:r>
            <a:endParaRPr lang="en-US" sz="950" dirty="0"/>
          </a:p>
        </p:txBody>
      </p:sp>
      <p:sp>
        <p:nvSpPr>
          <p:cNvPr id="23" name="Shape 21"/>
          <p:cNvSpPr/>
          <p:nvPr/>
        </p:nvSpPr>
        <p:spPr>
          <a:xfrm>
            <a:off x="731520" y="4389120"/>
            <a:ext cx="10698480" cy="914400"/>
          </a:xfrm>
          <a:prstGeom prst="rect">
            <a:avLst/>
          </a:prstGeom>
          <a:solidFill>
            <a:srgbClr val="1E293B"/>
          </a:solidFill>
          <a:ln/>
        </p:spPr>
      </p:sp>
      <p:sp>
        <p:nvSpPr>
          <p:cNvPr id="24" name="Shape 22"/>
          <p:cNvSpPr/>
          <p:nvPr/>
        </p:nvSpPr>
        <p:spPr>
          <a:xfrm>
            <a:off x="731520" y="4389120"/>
            <a:ext cx="10698480" cy="45720"/>
          </a:xfrm>
          <a:prstGeom prst="rect">
            <a:avLst/>
          </a:prstGeom>
          <a:solidFill>
            <a:srgbClr val="F7D447"/>
          </a:solidFill>
          <a:ln/>
        </p:spPr>
      </p:sp>
      <p:sp>
        <p:nvSpPr>
          <p:cNvPr id="25" name="Text 23"/>
          <p:cNvSpPr/>
          <p:nvPr/>
        </p:nvSpPr>
        <p:spPr>
          <a:xfrm>
            <a:off x="914400" y="4480560"/>
            <a:ext cx="10332720" cy="292608"/>
          </a:xfrm>
          <a:prstGeom prst="rect">
            <a:avLst/>
          </a:prstGeom>
          <a:noFill/>
          <a:ln/>
        </p:spPr>
        <p:txBody>
          <a:bodyPr wrap="square" rtlCol="0" anchor="ctr"/>
          <a:lstStyle/>
          <a:p>
            <a:pPr indent="0" marL="0">
              <a:buNone/>
            </a:pPr>
            <a:r>
              <a:rPr lang="en-US" sz="1050" b="1" dirty="0">
                <a:solidFill>
                  <a:srgbClr val="F7D447"/>
                </a:solidFill>
                <a:latin typeface="Calibri" pitchFamily="34" charset="0"/>
                <a:ea typeface="Calibri" pitchFamily="34" charset="-122"/>
                <a:cs typeface="Calibri" pitchFamily="34" charset="-120"/>
              </a:rPr>
              <a:t>THREE IMMEDIATE PRIORITIES FOR MANAGEMENT DECISION:</a:t>
            </a:r>
            <a:endParaRPr lang="en-US" sz="1050" dirty="0"/>
          </a:p>
        </p:txBody>
      </p:sp>
      <p:sp>
        <p:nvSpPr>
          <p:cNvPr id="26" name="Text 24"/>
          <p:cNvSpPr/>
          <p:nvPr/>
        </p:nvSpPr>
        <p:spPr>
          <a:xfrm>
            <a:off x="914400" y="4773168"/>
            <a:ext cx="10332720" cy="4572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 Launch @DAZNIndia social handles (Week 1)   |   2. Commission India NPS primary survey (Month 1)   |   3. Fix billing trust &amp; India pricing model (Month 2)</a:t>
            </a:r>
            <a:endParaRPr lang="en-US" sz="1000" dirty="0"/>
          </a:p>
        </p:txBody>
      </p:sp>
      <p:sp>
        <p:nvSpPr>
          <p:cNvPr id="27" name="Text 25"/>
          <p:cNvSpPr/>
          <p:nvPr/>
        </p:nvSpPr>
        <p:spPr>
          <a:xfrm>
            <a:off x="457200" y="5669280"/>
            <a:ext cx="11247120" cy="457200"/>
          </a:xfrm>
          <a:prstGeom prst="rect">
            <a:avLst/>
          </a:prstGeom>
          <a:noFill/>
          <a:ln/>
        </p:spPr>
        <p:txBody>
          <a:bodyPr wrap="square" rtlCol="0" anchor="ctr"/>
          <a:lstStyle/>
          <a:p>
            <a:pPr algn="ctr" indent="0" marL="0">
              <a:buNone/>
            </a:pPr>
            <a:r>
              <a:rPr lang="en-US" sz="750" i="1" dirty="0">
                <a:solidFill>
                  <a:srgbClr val="64748B"/>
                </a:solidFill>
                <a:latin typeface="Calibri" pitchFamily="34" charset="0"/>
                <a:ea typeface="Calibri" pitchFamily="34" charset="-122"/>
                <a:cs typeface="Calibri" pitchFamily="34" charset="-120"/>
              </a:rPr>
              <a:t>Data Sources: Instagram official handles (verified May 2025) | Trustpilot 36,765 reviews | RedSeer OTT NPS Study 2021 | Analysys Mason Consumer Survey 2024 | App Store India ratings | Media Partners Asia H1 2024 Report | Social listening secondary analysis | Tracxn DAZN Software India financials FY25</a:t>
            </a:r>
            <a:endParaRPr lang="en-US" sz="750" dirty="0"/>
          </a:p>
        </p:txBody>
      </p:sp>
      <p:sp>
        <p:nvSpPr>
          <p:cNvPr id="28" name="Text 26"/>
          <p:cNvSpPr/>
          <p:nvPr/>
        </p:nvSpPr>
        <p:spPr>
          <a:xfrm>
            <a:off x="457200" y="6217920"/>
            <a:ext cx="11247120" cy="274320"/>
          </a:xfrm>
          <a:prstGeom prst="rect">
            <a:avLst/>
          </a:prstGeom>
          <a:noFill/>
          <a:ln/>
        </p:spPr>
        <p:txBody>
          <a:bodyPr wrap="square"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Prepared by: Research Analysis Team  •  May 2025  •  CONFIDENTIAL — Internal Use Only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2026-05-31T23:51:47Z</dcterms:created>
  <dcterms:modified xsi:type="dcterms:W3CDTF">2026-05-31T23:51:47Z</dcterms:modified>
</cp:coreProperties>
</file>